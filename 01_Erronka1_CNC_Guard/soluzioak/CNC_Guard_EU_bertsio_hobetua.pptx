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d9cd527d964c3b" /><Relationship Type="http://schemas.openxmlformats.org/officeDocument/2006/relationships/extended-properties" Target="/docProps/app.xml" Id="R4b48996bf91345ed" /><Relationship Type="http://schemas.openxmlformats.org/officeDocument/2006/relationships/officeDocument" Target="/ppt/presentation.xml" Id="Rf84c639973ce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b79e0b6104fb1"/>
  </p:sldMasterIdLst>
  <p:notesMasterIdLst>
    <p:notesMasterId xmlns:r="http://schemas.openxmlformats.org/officeDocument/2006/relationships" r:id="R6cb4ae4e9f374773"/>
  </p:notesMasterIdLst>
  <p:sldIdLst>
    <p:sldId xmlns:r="http://schemas.openxmlformats.org/officeDocument/2006/relationships" id="256" r:id="Rde7d77d8172e4901"/>
    <p:sldId xmlns:r="http://schemas.openxmlformats.org/officeDocument/2006/relationships" id="257" r:id="Rf3b2aeaaa7364cee"/>
    <p:sldId xmlns:r="http://schemas.openxmlformats.org/officeDocument/2006/relationships" id="258" r:id="R6841ef80b65d45ad"/>
    <p:sldId xmlns:r="http://schemas.openxmlformats.org/officeDocument/2006/relationships" id="259" r:id="R54a19b317f494ae6"/>
    <p:sldId xmlns:r="http://schemas.openxmlformats.org/officeDocument/2006/relationships" id="260" r:id="Raa376ea224194d9d"/>
    <p:sldId xmlns:r="http://schemas.openxmlformats.org/officeDocument/2006/relationships" id="261" r:id="Ra7ffb385e13c4136"/>
    <p:sldId xmlns:r="http://schemas.openxmlformats.org/officeDocument/2006/relationships" id="262" r:id="R89fd447755534219"/>
    <p:sldId xmlns:r="http://schemas.openxmlformats.org/officeDocument/2006/relationships" id="263" r:id="Rdb7b89ba513b4aae"/>
    <p:sldId xmlns:r="http://schemas.openxmlformats.org/officeDocument/2006/relationships" id="264" r:id="Rd1006ed15dba4179"/>
    <p:sldId xmlns:r="http://schemas.openxmlformats.org/officeDocument/2006/relationships" id="265" r:id="R8769a69af69747c6"/>
    <p:sldId xmlns:r="http://schemas.openxmlformats.org/officeDocument/2006/relationships" id="266" r:id="R9054f77cb187475f"/>
    <p:sldId xmlns:r="http://schemas.openxmlformats.org/officeDocument/2006/relationships" id="267" r:id="Ra595731b75b84883"/>
    <p:sldId xmlns:r="http://schemas.openxmlformats.org/officeDocument/2006/relationships" id="268" r:id="R1238ddd1fef241b0"/>
    <p:sldId xmlns:r="http://schemas.openxmlformats.org/officeDocument/2006/relationships" id="269" r:id="R1c0e79bf567d40b2"/>
    <p:sldId xmlns:r="http://schemas.openxmlformats.org/officeDocument/2006/relationships" id="270" r:id="R5d08ad95bc1b4491"/>
    <p:sldId xmlns:r="http://schemas.openxmlformats.org/officeDocument/2006/relationships" id="271" r:id="R8ee71ec4fc594644"/>
    <p:sldId xmlns:r="http://schemas.openxmlformats.org/officeDocument/2006/relationships" id="272" r:id="Rd69ad785c1004d96"/>
    <p:sldId xmlns:r="http://schemas.openxmlformats.org/officeDocument/2006/relationships" id="273" r:id="R984766fbd48b4745"/>
    <p:sldId xmlns:r="http://schemas.openxmlformats.org/officeDocument/2006/relationships" id="274" r:id="R5e6a85b5118148ba"/>
    <p:sldId xmlns:r="http://schemas.openxmlformats.org/officeDocument/2006/relationships" id="275" r:id="R401dd249ff524188"/>
    <p:sldId xmlns:r="http://schemas.openxmlformats.org/officeDocument/2006/relationships" id="276" r:id="Ra4e615be76d34252"/>
    <p:sldId xmlns:r="http://schemas.openxmlformats.org/officeDocument/2006/relationships" id="277" r:id="Rd4a9d848da5a40e2"/>
    <p:sldId xmlns:r="http://schemas.openxmlformats.org/officeDocument/2006/relationships" id="278" r:id="Rb85d2865b3a743af"/>
    <p:sldId xmlns:r="http://schemas.openxmlformats.org/officeDocument/2006/relationships" id="279" r:id="R7df2d2b7ee424663"/>
    <p:sldId xmlns:r="http://schemas.openxmlformats.org/officeDocument/2006/relationships" id="280" r:id="Rd6aa5f287e124649"/>
    <p:sldId xmlns:r="http://schemas.openxmlformats.org/officeDocument/2006/relationships" id="281" r:id="Rc22b52aa0a60459f"/>
    <p:sldId xmlns:r="http://schemas.openxmlformats.org/officeDocument/2006/relationships" id="282" r:id="R2ca4fde221724097"/>
    <p:sldId xmlns:r="http://schemas.openxmlformats.org/officeDocument/2006/relationships" id="283" r:id="R46f9b67d97644a30"/>
    <p:sldId xmlns:r="http://schemas.openxmlformats.org/officeDocument/2006/relationships" id="284" r:id="R9b43e15070e248c5"/>
    <p:sldId xmlns:r="http://schemas.openxmlformats.org/officeDocument/2006/relationships" id="285" r:id="Ra17b792b4796433c"/>
    <p:sldId xmlns:r="http://schemas.openxmlformats.org/officeDocument/2006/relationships" id="286" r:id="Rcbe3f7d5fa4142a5"/>
    <p:sldId xmlns:r="http://schemas.openxmlformats.org/officeDocument/2006/relationships" id="287" r:id="R60c20366cb0743c2"/>
    <p:sldId xmlns:r="http://schemas.openxmlformats.org/officeDocument/2006/relationships" id="288" r:id="Rd0388641872b4df7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23bef498b4d05" /><Relationship Type="http://schemas.openxmlformats.org/officeDocument/2006/relationships/slideMaster" Target="/ppt/slideMasters/slideMaster1.xml" Id="Rad5b79e0b6104fb1" /><Relationship Type="http://schemas.openxmlformats.org/officeDocument/2006/relationships/notesMaster" Target="/ppt/notesMasters/notesMaster1.xml" Id="R6cb4ae4e9f374773" /><Relationship Type="http://schemas.openxmlformats.org/officeDocument/2006/relationships/presProps" Target="/ppt/presProps.xml" Id="R8f0e9c3412534940" /><Relationship Type="http://schemas.openxmlformats.org/officeDocument/2006/relationships/tableStyles" Target="/ppt/tableStyles.xml" Id="Rb7855253b69c423a" /><Relationship Type="http://schemas.openxmlformats.org/officeDocument/2006/relationships/slide" Target="/ppt/slides/slide1.xml" Id="Rde7d77d8172e4901" /><Relationship Type="http://schemas.openxmlformats.org/officeDocument/2006/relationships/slide" Target="/ppt/slides/slide2.xml" Id="Rf3b2aeaaa7364cee" /><Relationship Type="http://schemas.openxmlformats.org/officeDocument/2006/relationships/slide" Target="/ppt/slides/slide3.xml" Id="R6841ef80b65d45ad" /><Relationship Type="http://schemas.openxmlformats.org/officeDocument/2006/relationships/slide" Target="/ppt/slides/slide4.xml" Id="R54a19b317f494ae6" /><Relationship Type="http://schemas.openxmlformats.org/officeDocument/2006/relationships/slide" Target="/ppt/slides/slide5.xml" Id="Raa376ea224194d9d" /><Relationship Type="http://schemas.openxmlformats.org/officeDocument/2006/relationships/slide" Target="/ppt/slides/slide6.xml" Id="Ra7ffb385e13c4136" /><Relationship Type="http://schemas.openxmlformats.org/officeDocument/2006/relationships/slide" Target="/ppt/slides/slide7.xml" Id="R89fd447755534219" /><Relationship Type="http://schemas.openxmlformats.org/officeDocument/2006/relationships/slide" Target="/ppt/slides/slide8.xml" Id="Rdb7b89ba513b4aae" /><Relationship Type="http://schemas.openxmlformats.org/officeDocument/2006/relationships/slide" Target="/ppt/slides/slide9.xml" Id="Rd1006ed15dba4179" /><Relationship Type="http://schemas.openxmlformats.org/officeDocument/2006/relationships/slide" Target="/ppt/slides/slide10.xml" Id="R8769a69af69747c6" /><Relationship Type="http://schemas.openxmlformats.org/officeDocument/2006/relationships/slide" Target="/ppt/slides/slide11.xml" Id="R9054f77cb187475f" /><Relationship Type="http://schemas.openxmlformats.org/officeDocument/2006/relationships/slide" Target="/ppt/slides/slide12.xml" Id="Ra595731b75b84883" /><Relationship Type="http://schemas.openxmlformats.org/officeDocument/2006/relationships/slide" Target="/ppt/slides/slide13.xml" Id="R1238ddd1fef241b0" /><Relationship Type="http://schemas.openxmlformats.org/officeDocument/2006/relationships/slide" Target="/ppt/slides/slide14.xml" Id="R1c0e79bf567d40b2" /><Relationship Type="http://schemas.openxmlformats.org/officeDocument/2006/relationships/slide" Target="/ppt/slides/slide15.xml" Id="R5d08ad95bc1b4491" /><Relationship Type="http://schemas.openxmlformats.org/officeDocument/2006/relationships/slide" Target="/ppt/slides/slide16.xml" Id="R8ee71ec4fc594644" /><Relationship Type="http://schemas.openxmlformats.org/officeDocument/2006/relationships/slide" Target="/ppt/slides/slide17.xml" Id="Rd69ad785c1004d96" /><Relationship Type="http://schemas.openxmlformats.org/officeDocument/2006/relationships/slide" Target="/ppt/slides/slide18.xml" Id="R984766fbd48b4745" /><Relationship Type="http://schemas.openxmlformats.org/officeDocument/2006/relationships/slide" Target="/ppt/slides/slide19.xml" Id="R5e6a85b5118148ba" /><Relationship Type="http://schemas.openxmlformats.org/officeDocument/2006/relationships/slide" Target="/ppt/slides/slide20.xml" Id="R401dd249ff524188" /><Relationship Type="http://schemas.openxmlformats.org/officeDocument/2006/relationships/slide" Target="/ppt/slides/slide21.xml" Id="Ra4e615be76d34252" /><Relationship Type="http://schemas.openxmlformats.org/officeDocument/2006/relationships/slide" Target="/ppt/slides/slide22.xml" Id="Rd4a9d848da5a40e2" /><Relationship Type="http://schemas.openxmlformats.org/officeDocument/2006/relationships/slide" Target="/ppt/slides/slide23.xml" Id="Rb85d2865b3a743af" /><Relationship Type="http://schemas.openxmlformats.org/officeDocument/2006/relationships/slide" Target="/ppt/slides/slide24.xml" Id="R7df2d2b7ee424663" /><Relationship Type="http://schemas.openxmlformats.org/officeDocument/2006/relationships/slide" Target="/ppt/slides/slide25.xml" Id="Rd6aa5f287e124649" /><Relationship Type="http://schemas.openxmlformats.org/officeDocument/2006/relationships/slide" Target="/ppt/slides/slide26.xml" Id="Rc22b52aa0a60459f" /><Relationship Type="http://schemas.openxmlformats.org/officeDocument/2006/relationships/slide" Target="/ppt/slides/slide27.xml" Id="R2ca4fde221724097" /><Relationship Type="http://schemas.openxmlformats.org/officeDocument/2006/relationships/slide" Target="/ppt/slides/slide28.xml" Id="R46f9b67d97644a30" /><Relationship Type="http://schemas.openxmlformats.org/officeDocument/2006/relationships/slide" Target="/ppt/slides/slide29.xml" Id="R9b43e15070e248c5" /><Relationship Type="http://schemas.openxmlformats.org/officeDocument/2006/relationships/slide" Target="/ppt/slides/slide30.xml" Id="Ra17b792b4796433c" /><Relationship Type="http://schemas.openxmlformats.org/officeDocument/2006/relationships/slide" Target="/ppt/slides/slide31.xml" Id="Rcbe3f7d5fa4142a5" /><Relationship Type="http://schemas.openxmlformats.org/officeDocument/2006/relationships/slide" Target="/ppt/slides/slide32.xml" Id="R60c20366cb0743c2" /><Relationship Type="http://schemas.openxmlformats.org/officeDocument/2006/relationships/slide" Target="/ppt/slides/slide33.xml" Id="Rd0388641872b4d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b5b2b43077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e2215ec69a4041" /><Relationship Type="http://schemas.openxmlformats.org/officeDocument/2006/relationships/notesMaster" Target="/ppt/notesMasters/notesMaster1.xml" Id="Rdfb5a7f6bbf841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d53d02cc0b4e14" /><Relationship Type="http://schemas.openxmlformats.org/officeDocument/2006/relationships/notesMaster" Target="/ppt/notesMasters/notesMaster1.xml" Id="R846cc6434b0e40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9c2aa7ffe473d" /><Relationship Type="http://schemas.openxmlformats.org/officeDocument/2006/relationships/notesMaster" Target="/ppt/notesMasters/notesMaster1.xml" Id="R62fd08c7131645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2bffb3691d4c1d" /><Relationship Type="http://schemas.openxmlformats.org/officeDocument/2006/relationships/notesMaster" Target="/ppt/notesMasters/notesMaster1.xml" Id="Rb5ec0f73e44045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172c0ad2f54647" /><Relationship Type="http://schemas.openxmlformats.org/officeDocument/2006/relationships/notesMaster" Target="/ppt/notesMasters/notesMaster1.xml" Id="R5b268cc93728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2a0ef53bf4350" /><Relationship Type="http://schemas.openxmlformats.org/officeDocument/2006/relationships/notesMaster" Target="/ppt/notesMasters/notesMaster1.xml" Id="R41da9442273041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854c2caed4fbd" /><Relationship Type="http://schemas.openxmlformats.org/officeDocument/2006/relationships/notesMaster" Target="/ppt/notesMasters/notesMaster1.xml" Id="R30a4fe39ef1f49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3fdc47d264eb4" /><Relationship Type="http://schemas.openxmlformats.org/officeDocument/2006/relationships/notesMaster" Target="/ppt/notesMasters/notesMaster1.xml" Id="R678ece3778cb46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03a5cce8aa471e" /><Relationship Type="http://schemas.openxmlformats.org/officeDocument/2006/relationships/notesMaster" Target="/ppt/notesMasters/notesMaster1.xml" Id="R683a316a22d044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41169d907e4d7b" /><Relationship Type="http://schemas.openxmlformats.org/officeDocument/2006/relationships/notesMaster" Target="/ppt/notesMasters/notesMaster1.xml" Id="Rb562a0df3ede42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2dedc1d3854476" /><Relationship Type="http://schemas.openxmlformats.org/officeDocument/2006/relationships/notesMaster" Target="/ppt/notesMasters/notesMaster1.xml" Id="R9afe327f341f41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e565cc84634f85" /><Relationship Type="http://schemas.openxmlformats.org/officeDocument/2006/relationships/notesMaster" Target="/ppt/notesMasters/notesMaster1.xml" Id="Reb92fad6eee345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4879a9f0c1457f" /><Relationship Type="http://schemas.openxmlformats.org/officeDocument/2006/relationships/notesMaster" Target="/ppt/notesMasters/notesMaster1.xml" Id="Rd3aa2b8bff114b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2c4a21c4f4b44" /><Relationship Type="http://schemas.openxmlformats.org/officeDocument/2006/relationships/notesMaster" Target="/ppt/notesMasters/notesMaster1.xml" Id="R1ece8cd1fc1d40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59f3e668bb4a7e" /><Relationship Type="http://schemas.openxmlformats.org/officeDocument/2006/relationships/notesMaster" Target="/ppt/notesMasters/notesMaster1.xml" Id="R40100cb225e841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9e01ff67544d6e" /><Relationship Type="http://schemas.openxmlformats.org/officeDocument/2006/relationships/notesMaster" Target="/ppt/notesMasters/notesMaster1.xml" Id="R59c473a59e2349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2878e6f87243b3" /><Relationship Type="http://schemas.openxmlformats.org/officeDocument/2006/relationships/notesMaster" Target="/ppt/notesMasters/notesMaster1.xml" Id="Rc5a1130f32614e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52904ce150482d" /><Relationship Type="http://schemas.openxmlformats.org/officeDocument/2006/relationships/notesMaster" Target="/ppt/notesMasters/notesMaster1.xml" Id="Rab4a8c00ca9d44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65a9d21b4840df" /><Relationship Type="http://schemas.openxmlformats.org/officeDocument/2006/relationships/notesMaster" Target="/ppt/notesMasters/notesMaster1.xml" Id="Rd5fb403288a544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5ef15811b24f2f" /><Relationship Type="http://schemas.openxmlformats.org/officeDocument/2006/relationships/notesMaster" Target="/ppt/notesMasters/notesMaster1.xml" Id="R4052a531c4404a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9ff934fd844057" /><Relationship Type="http://schemas.openxmlformats.org/officeDocument/2006/relationships/notesMaster" Target="/ppt/notesMasters/notesMaster1.xml" Id="R5fa293cbfb5343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43a433543b4fa1" /><Relationship Type="http://schemas.openxmlformats.org/officeDocument/2006/relationships/notesMaster" Target="/ppt/notesMasters/notesMaster1.xml" Id="R55abc8e3269140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3303f47c7a4839" /><Relationship Type="http://schemas.openxmlformats.org/officeDocument/2006/relationships/notesMaster" Target="/ppt/notesMasters/notesMaster1.xml" Id="Radf6f71f9e31459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3ec23e00e954846" /><Relationship Type="http://schemas.openxmlformats.org/officeDocument/2006/relationships/notesMaster" Target="/ppt/notesMasters/notesMaster1.xml" Id="R9f2c2e4477e24e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730efafc164e68" /><Relationship Type="http://schemas.openxmlformats.org/officeDocument/2006/relationships/notesMaster" Target="/ppt/notesMasters/notesMaster1.xml" Id="Re77b5fc1c5e941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ac0c014a434fb4" /><Relationship Type="http://schemas.openxmlformats.org/officeDocument/2006/relationships/notesMaster" Target="/ppt/notesMasters/notesMaster1.xml" Id="Rb5a225558ca447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f5d684c3aa4073" /><Relationship Type="http://schemas.openxmlformats.org/officeDocument/2006/relationships/notesMaster" Target="/ppt/notesMasters/notesMaster1.xml" Id="R2166295d68054ac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7a500bb711f47fe" /><Relationship Type="http://schemas.openxmlformats.org/officeDocument/2006/relationships/notesMaster" Target="/ppt/notesMasters/notesMaster1.xml" Id="R3f19a18acbf9411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d77541121a4304" /><Relationship Type="http://schemas.openxmlformats.org/officeDocument/2006/relationships/notesMaster" Target="/ppt/notesMasters/notesMaster1.xml" Id="Rc7f50ed13ee446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e68a037e19b4386" /><Relationship Type="http://schemas.openxmlformats.org/officeDocument/2006/relationships/notesMaster" Target="/ppt/notesMasters/notesMaster1.xml" Id="R160e71681b0a474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db20467f18451c" /><Relationship Type="http://schemas.openxmlformats.org/officeDocument/2006/relationships/notesMaster" Target="/ppt/notesMasters/notesMaster1.xml" Id="Rd805e664554f49c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ffefea384dc4f3c" /><Relationship Type="http://schemas.openxmlformats.org/officeDocument/2006/relationships/notesMaster" Target="/ppt/notesMasters/notesMaster1.xml" Id="R85af590634c24b6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e4275150cc14178" /><Relationship Type="http://schemas.openxmlformats.org/officeDocument/2006/relationships/notesMaster" Target="/ppt/notesMasters/notesMaster1.xml" Id="Rcae3a0ed37fa47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orduko epea mantentze-lanak antolatzeko tartea izateko proposatu da. Lantegian erabili aurretik, mantentze-taldearekin kontrastatu behar da. Datu sintetikoek eta AI4Ik ez dute erabilgarritasun industriala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Jupyter analisia eta entrenamendua egiteko erabiliko da; Git eta Docker Compose laborategia erreproduzitzeko. Datu-baseen, panelen eta eredu nagusiaren aukeraketa eginda dago.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Aukera hauek egokitasun funtzionalean eta ikasgaien edukietan oinarritzen dira. Konparazio esperimentalik egin gabe, ez dugu Random Forest beste guztien gainetik dagoela baieztatzen.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Proposatutako erakustaldia: telemetria sintetikoa → Kafka → NiFi (baliozkotzea, historikoa eta InvokeHTTP) → FastAPI /predict → Elasticsearch/Kibana. Random Forest aurretik entrenatzen da. Integrazio osoaren proba oraindik egin gabe dago.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Laborategiko sarrerak tokiko fitxategiak dira. Mantentze-lanen CSVak eta logak sintetikoak izan daitezke integrazioa erakusteko, baina ez gaitasun industriala frogatzeko. Ez dugu MariaDB edo MongoDB hedatuko.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eta scikit-learn-ek datuak prestatu eta eredua offline entrenatzen dute. FastAPIk /health eta /predict eskaintzen ditu, eta NiFik InvokeHTTP erabiltzen du. uv bidez blokeatutako ingurunea mantentzen da. Ez dago inferentziarako Kafka kontsumitzaile independente bat.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Kafka/Record prozesadoreen izen zehatzak instalatutako NiFi bertsioaren araberakoak dira. Dokumentazio nagusia: https://nifi.apache.org/nifi-docs/user-guide.html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Laborategiak broker bakarra du; kontsumoa, berrirakurketa eta berrabiaraztea frogatu behar dira, erabilgarritasun handia aldarrikatu gabe. Dokumentazioa: https://kafka.apache.org/documentation/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egun proiektuko hipotesi bat dira, ez irakaslearen betebeharra edo lagin nahikoa izatearen froga. Laborategian ez ezabatu ebaluazio-datu multzoak atxikipen automatikoa aplikatzeagatik.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Iturri nagusia: https://duckdb.org/docs/stable/data/parquet/overview . Spark eskalatze-aukera gisa bakarrik gelditzen da, neurketek behar hori erakusten badute.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minutu eta 24 ordu hasierako diseinu-erabakiak dira. Benetako denbora-marka longitudinalik ez badago, uneko aldagaiak eta egoera-etiketa erabili; horrek ez du epe hori baliozkotzen.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Eredu-familiak bereizten ditugu aukeraketa arrazoitzeko. Random Forest ez da eredu konexionista, eta logika lausoko kidetasun-maila ez da probabilitate baten baliokidea.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Lehen prototipoan Mamdani dago; ez dugu zerbitzu berrian sartuko. Prototipo haren emaitza historikoek ez dute Random Forest-en errendimendua egiaztatzen.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predict_proba-ren irteera arrisku-score gisa interpretatzen dugu. Ez dugu kalibratutako probabilitatea dela esango baliozkotu gabe. Aurkezpen honek ez dakar errendimendu-neurketa berririk.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Iturria: https://scikit-learn.org/stable/modules/generated/sklearn.ensemble.IsolationForest.html . Erreferentzia egiaztaturik edo giza berrikuspenik gabe, bitxikeria puntuatzen duela bakarrik frogatzen da, ez matxurak identifikatzen dituela.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Aurreko prototipoaren AND araua baztertzen dugu, gainbegiratutako ereduak detektatutako matxurak ezaba ditzakeelako. Abisuak multzokatzeko politika probatu eta dokumentatu behar 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Erregresio logistikoa ebaluatzeko erreferentzia da, ez zerbitzurako hautatu gabeko beste aukera bat. F1 maximoa ez da nahitaez politika industrial onena: negozioaren onarpenerako benetako kostuak behar dira.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aukeratutako arkitekturaren parte da. NiFik Kafka kontsumitu eta InvokeHTTP bidez /predict deitzen du; ez dago Python kontsumitzaile independente bat. Latentzia, saiakera berriak, lehen daturik gabeko egoera eta 422/5xx akatsak neurtu behar dira.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egun hasierako proposamena dira; datuen tamainaren arabera neurtu behar da. Kibanak Elasticsearch kontsultatzen du, ez Kafka zuzenean. Ez dugu Streamlit/Grafana bidezko bigarren panelik jarriko.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Bilakaerarako serieak; lehentasunetarako barrak; erlazioetarako sakabanaketa; trazabilitaterako taula; erroreetarako matrizea. Grafiko bakoitza datu eta helburuen arabera justifikatzen da. Ez dago asmatutako pantaila-argazkirik.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 konektatu makineria errealera OT diseinu espezifikorik eta baimenik gabe. Sailkapen juridikoa testuinguruaren araberakoa da: txostenak arriskuak aztertzen ditu, ez du lege-betetzea ziurtatzen.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Hz, 200 byte eta 90 egun proiektuaren hipotesiak dira. Ez dituzte erreplikak, zerbitzu-logak edo jatorrizko fitxategiak barne hartzen. Karga osoa sortu aurretik, disko erabilgarria egiaztatu.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Aukera guztiak diapositiba bakarrean laburbilduta. Kanpo-iturriak: https://docs.influxdata.com/influxdb/cloud/get-started/ ; https://opcfoundation.org/about/opc-technologies/opc-ua/ ; https://reference.opcfoundation.org/specs/OPC-10000-14/7.3.4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 honek oraindik egiteko dagoen entrega definitzen du; ez du baieztatzen entrenamendua edo entrega egin denik.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Tokiko erakustaldi simulatua da, ez lantegiko ezarpena, erabilgarritasun handia edo 24 orduko aurreikuspenaren baliozkotzea.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READMEak dokumentatutako egoera da, ez gaur exekutatutako baliozkotzea. Aurkezpenak lana prestatzen du; ez du jadanik egindakoa edo falta dena nahasten.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Enuntziatuak 11 aste aurreikusten ditu. Taldeak benetako izenak eta datak jarri behar ditu; hemen agertzen diren rolak eta mugarriak proposamenak dira, ez Moodle-n egindako entregak.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Proposamenaren hautaketa amaituta dago. Eranskineko alternatibek ez dute lehen bertsiorako erabaki ireki berririk sortzen.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TRAZABILIDAD.md txostenak jatorrizko nahitaezko irizpideak, teknologien mapa eta aztertutako corpusa jasotzen ditu; hashak fuentes_manifest.json fitxategian daude. Ez dugu Moodle/Drive esteken eduki berririk deskargatu berrikuspen honetan.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9158baa754e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535b66bc441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2ac8404ad4c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1ce69d09744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7931a3d7a4f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24e727ef741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609CC9-D2B9-450F-BC02-7882B2A79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59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824B3F-05E0-49C6-80CE-82B19FB0D4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39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33BB2B-4695-4299-81BB-B3B5EB6B0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5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B804C-4F2E-4D13-831F-FCE30E22A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A6559D-07E9-4F24-B8ED-792AFCD70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39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A31091-D9B4-4534-8C11-F06332AA6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000983-50B1-41EC-B520-0D1B4F5CFD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AC129B-C33C-488B-B4FF-2BD52EF923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6999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4694D4-A020-40AC-A98C-956D1D2C0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E5B735-1832-4E1F-B70C-1DB624D25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52c0a8c55141aa" /><Relationship Type="http://schemas.openxmlformats.org/officeDocument/2006/relationships/slideLayout" Target="/ppt/slideLayouts/slideLayout1.xml" Id="R7c211869ccb14f2d" /><Relationship Type="http://schemas.openxmlformats.org/officeDocument/2006/relationships/slideLayout" Target="/ppt/slideLayouts/slideLayout2.xml" Id="Raa8c6ac97f7d4451" /><Relationship Type="http://schemas.openxmlformats.org/officeDocument/2006/relationships/slideLayout" Target="/ppt/slideLayouts/slideLayout3.xml" Id="R3818fa5e39d947e8" /><Relationship Type="http://schemas.openxmlformats.org/officeDocument/2006/relationships/slideLayout" Target="/ppt/slideLayouts/slideLayout4.xml" Id="Rcaf275ca54504fe3" /><Relationship Type="http://schemas.openxmlformats.org/officeDocument/2006/relationships/slideLayout" Target="/ppt/slideLayouts/slideLayout5.xml" Id="R816076c41c7a4d8f" /><Relationship Type="http://schemas.openxmlformats.org/officeDocument/2006/relationships/slideLayout" Target="/ppt/slideLayouts/slideLayout6.xml" Id="Rb230de0ac6be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211869ccb14f2d"/>
    <p:sldLayoutId xmlns:r="http://schemas.openxmlformats.org/officeDocument/2006/relationships" id="2147483650" r:id="Raa8c6ac97f7d4451"/>
    <p:sldLayoutId xmlns:r="http://schemas.openxmlformats.org/officeDocument/2006/relationships" id="2147483651" r:id="R3818fa5e39d947e8"/>
    <p:sldLayoutId xmlns:r="http://schemas.openxmlformats.org/officeDocument/2006/relationships" id="2147483652" r:id="Rcaf275ca54504fe3"/>
    <p:sldLayoutId xmlns:r="http://schemas.openxmlformats.org/officeDocument/2006/relationships" id="2147483653" r:id="R816076c41c7a4d8f"/>
    <p:sldLayoutId xmlns:r="http://schemas.openxmlformats.org/officeDocument/2006/relationships" id="2147483654" r:id="Rb230de0ac6be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4c16688d9442a" /><Relationship Type="http://schemas.openxmlformats.org/officeDocument/2006/relationships/notesSlide" Target="/ppt/notesSlides/notesSlide1.xml" Id="R4dffacf5402c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558682e3d4825" /><Relationship Type="http://schemas.openxmlformats.org/officeDocument/2006/relationships/notesSlide" Target="/ppt/notesSlides/notesSlide2.xml" Id="R71f43d737cf746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a42fe59bc43a6" /><Relationship Type="http://schemas.openxmlformats.org/officeDocument/2006/relationships/notesSlide" Target="/ppt/notesSlides/notesSlide3.xml" Id="Ra1aa4cf82cff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0def379554a0b" /><Relationship Type="http://schemas.openxmlformats.org/officeDocument/2006/relationships/notesSlide" Target="/ppt/notesSlides/notesSlide4.xml" Id="Re7cc42c2afba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b5d512244470d" /><Relationship Type="http://schemas.openxmlformats.org/officeDocument/2006/relationships/notesSlide" Target="/ppt/notesSlides/notesSlide5.xml" Id="R88330c0d832f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69a2d28004643" /><Relationship Type="http://schemas.openxmlformats.org/officeDocument/2006/relationships/notesSlide" Target="/ppt/notesSlides/notesSlide6.xml" Id="R97a9c06ed11544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f44ba955744ab" /><Relationship Type="http://schemas.openxmlformats.org/officeDocument/2006/relationships/notesSlide" Target="/ppt/notesSlides/notesSlide7.xml" Id="R7e905b738585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ae291d9524083" /><Relationship Type="http://schemas.openxmlformats.org/officeDocument/2006/relationships/notesSlide" Target="/ppt/notesSlides/notesSlide8.xml" Id="Rc69c89f78d10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cc1b412dd46e8" /><Relationship Type="http://schemas.openxmlformats.org/officeDocument/2006/relationships/notesSlide" Target="/ppt/notesSlides/notesSlide9.xml" Id="R51404d9cb72b4c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a0e11ee1d4096" /><Relationship Type="http://schemas.openxmlformats.org/officeDocument/2006/relationships/notesSlide" Target="/ppt/notesSlides/notesSlide10.xml" Id="R74c15c35bde04f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a6dde86d940a0" /><Relationship Type="http://schemas.openxmlformats.org/officeDocument/2006/relationships/notesSlide" Target="/ppt/notesSlides/notesSlide11.xml" Id="R8591f5cb20994e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45746f8574da3" /><Relationship Type="http://schemas.openxmlformats.org/officeDocument/2006/relationships/notesSlide" Target="/ppt/notesSlides/notesSlide12.xml" Id="Rfe4d8352cd4543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81cf249494dc9" /><Relationship Type="http://schemas.openxmlformats.org/officeDocument/2006/relationships/notesSlide" Target="/ppt/notesSlides/notesSlide13.xml" Id="Rf428f5438f3b4f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cef1075234cb7" /><Relationship Type="http://schemas.openxmlformats.org/officeDocument/2006/relationships/notesSlide" Target="/ppt/notesSlides/notesSlide14.xml" Id="R14193c9a85dd4d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1c8e7916a46eb" /><Relationship Type="http://schemas.openxmlformats.org/officeDocument/2006/relationships/notesSlide" Target="/ppt/notesSlides/notesSlide15.xml" Id="R3e957ae4055e42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40c4913de4e24" /><Relationship Type="http://schemas.openxmlformats.org/officeDocument/2006/relationships/notesSlide" Target="/ppt/notesSlides/notesSlide16.xml" Id="Rd54a8814ae0048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7d6979c1c4ff2" /><Relationship Type="http://schemas.openxmlformats.org/officeDocument/2006/relationships/notesSlide" Target="/ppt/notesSlides/notesSlide17.xml" Id="Rfec1de96428a47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ed9df13a14e23" /><Relationship Type="http://schemas.openxmlformats.org/officeDocument/2006/relationships/notesSlide" Target="/ppt/notesSlides/notesSlide18.xml" Id="R2f8429777f4644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b234677694ffa" /><Relationship Type="http://schemas.openxmlformats.org/officeDocument/2006/relationships/notesSlide" Target="/ppt/notesSlides/notesSlide19.xml" Id="Rc8b5614c445349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dc1ad5fac4df8" /><Relationship Type="http://schemas.openxmlformats.org/officeDocument/2006/relationships/notesSlide" Target="/ppt/notesSlides/notesSlide20.xml" Id="R4900afdde2f348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786f41dfd45f4" /><Relationship Type="http://schemas.openxmlformats.org/officeDocument/2006/relationships/notesSlide" Target="/ppt/notesSlides/notesSlide21.xml" Id="R0ebe380dabb84b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2b745731142b9" /><Relationship Type="http://schemas.openxmlformats.org/officeDocument/2006/relationships/notesSlide" Target="/ppt/notesSlides/notesSlide22.xml" Id="R834c5c4898b843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6e138f2a3461e" /><Relationship Type="http://schemas.openxmlformats.org/officeDocument/2006/relationships/notesSlide" Target="/ppt/notesSlides/notesSlide23.xml" Id="R52d49e11ff2642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9117248584994" /><Relationship Type="http://schemas.openxmlformats.org/officeDocument/2006/relationships/notesSlide" Target="/ppt/notesSlides/notesSlide24.xml" Id="R57b8e823ca1b4d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c37e6edf648ff" /><Relationship Type="http://schemas.openxmlformats.org/officeDocument/2006/relationships/notesSlide" Target="/ppt/notesSlides/notesSlide25.xml" Id="Rce5fe97d5f7c49a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a4f1d9bbf4b14" /><Relationship Type="http://schemas.openxmlformats.org/officeDocument/2006/relationships/notesSlide" Target="/ppt/notesSlides/notesSlide26.xml" Id="Rc96f3401897643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915f6188e408c" /><Relationship Type="http://schemas.openxmlformats.org/officeDocument/2006/relationships/notesSlide" Target="/ppt/notesSlides/notesSlide27.xml" Id="R31f97f76042148c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301bb71a24d42" /><Relationship Type="http://schemas.openxmlformats.org/officeDocument/2006/relationships/notesSlide" Target="/ppt/notesSlides/notesSlide28.xml" Id="R6e24fa9bdae645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9f122ae714767" /><Relationship Type="http://schemas.openxmlformats.org/officeDocument/2006/relationships/notesSlide" Target="/ppt/notesSlides/notesSlide29.xml" Id="Re5534d58b83f4d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f5e75c90c4d53" /><Relationship Type="http://schemas.openxmlformats.org/officeDocument/2006/relationships/notesSlide" Target="/ppt/notesSlides/notesSlide30.xml" Id="R849e97f70510422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6dfc143d84004" /><Relationship Type="http://schemas.openxmlformats.org/officeDocument/2006/relationships/notesSlide" Target="/ppt/notesSlides/notesSlide31.xml" Id="Rdf3980d5255f406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cac1a168a4dd8" /><Relationship Type="http://schemas.openxmlformats.org/officeDocument/2006/relationships/notesSlide" Target="/ppt/notesSlides/notesSlide32.xml" Id="Rc2ee7abfd3e940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87f258b99447b" /><Relationship Type="http://schemas.openxmlformats.org/officeDocument/2006/relationships/notesSlide" Target="/ppt/notesSlides/notesSlide33.xml" Id="R5203c44c22b04e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D810D00A-5F8C-4243-A183-5810707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4EA1F15D-5096-40DB-844F-8AE487C3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CNC Guard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BA2416B7-E81D-4FEA-A2A8-B8AFB1A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Industria-datuak aztertzeko eta alertak sortzeko proposamen teknologikoa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8633274-4F89-4313-AADF-2634DFDE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B6CDD4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8D1831CA-ED20-419F-894C-28340463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01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3234962-5011-4B15-B259-20DFC5CC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Hautatutako bidea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E2DAD94C-F98F-4864-B609-9BAD639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Kafkak telemetria sintetikoa jasotzen du. NiFik baliozkotu eta eraldatzen du. FastAPIk Random Forest bidez inferentzia egiten du. Elasticsearch-ek indexatzen du eta Kibanak bistaratzen du.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5ED8D6B2-A585-4503-8927-1D09FD9F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Historikoa eta anomaliak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D58314A4-BEA7-4165-87FA-EEBA3CEA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Parquet eta DuckDB datu historikoak prestatzeko; Isolation Forest anomaliak hautemateko tresna osagarri gisa.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D5EF7119-9EF3-45FA-8DBF-6CEC9EA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Gure konpromisoa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0AB544F5-803A-4A28-BCC0-4E8DBCD9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Ikastaroan landutako teknologiekin arkitektura eraiki eta baliozkotzea. Aukerak amaieran azalduko ditugu; ez dira lehen bertsioaren parte.</a:t>
            </a:r>
          </a:p>
        </p:txBody>
      </p:sp>
    </p:spTree>
    <p:extLst>
      <p:ext uri="{BB962C8B-B14F-4D97-AF65-F5344CB8AC3E}">
        <p14:creationId xmlns:p14="http://schemas.microsoft.com/office/powerpoint/2010/main" val="866711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DB3E5895-44D9-422E-BF59-D4E618C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D5527F1F-07EA-4EFC-B1EE-5D66E8BE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Helburua eta irismena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6DBC21C0-7DF9-45D5-8EBD-46809BD1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24 orduko matxura-arriskua: diseinu-hipotesia, ez frogatutako emaitza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68ED171F-BFFE-4662-B75B-6CD3E0CB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22EEFCD1-8F1B-47EB-AABA-9FAB4904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02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91814141-6866-448E-9879-B4AF5DF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Negozio-testuingurua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D08FAC45-0FA9-4CD2-87FE-05D2595E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Bilboko 50 CNC makina; enuntziatuak geldialdiaren kostua 1.200 €/ordu dela aurreikusten du. Sistemak ikuskapenak planifikatzen lagunduko luke.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ECC68A4-E03E-46F4-97C9-DE41A771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Proposatutako helburua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F7AABD13-6296-4B63-BE28-50FFC54F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eta t une bakoitzerako, hurrengo 24 orduetan matxurarik izango den estimatzea, t unera arte ezagutzen diren aldagaiekin. 24 orduko epea gure proposamena da.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AC30C563-EB66-446F-A381-1C96183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Baliozkotzeko baldintza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7CB1818B-8958-4ADF-85FE-BFA18074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Denboran zehar jasotako historikoa eta datatutako matxurak behar ditugu. AI4Irekin egoeraren sailkapena soilik erakuts daiteke; ez 24 orduko aurreikuspena.</a:t>
            </a:r>
          </a:p>
        </p:txBody>
      </p:sp>
    </p:spTree>
    <p:extLst>
      <p:ext uri="{BB962C8B-B14F-4D97-AF65-F5344CB8AC3E}">
        <p14:creationId xmlns:p14="http://schemas.microsoft.com/office/powerpoint/2010/main" val="1924933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BDAF0AC-EA83-4CE2-8C42-D92AB7B4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F85BCB0C-5A85-4A9F-BF04-56F83E07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Hartutako erabakiak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DF27F1D2-3AC2-4AC8-9E5D-4BAA70B7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Funtzio bakoitzerako teknologia jakin bat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86722E8D-300C-4A29-AD63-74E67088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5BACA97-6453-4CE2-9C04-778C083C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03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19ADE303-CBCA-433C-9DCF-F485BE9B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Datu-fluxua eta zerbitzua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45E436B0-D8AF-48F3-B002-719BEED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Kafkak gertaerak jasotzen ditu. NiFik datuak baliozkotu eta eraldatzen ditu, eta FastAPIri HTTP eskaerak egiten dizkio. Random Forest bereizitako zerbitzu batean exekutatzen da.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5CF6512-A4AE-4BA1-8590-2E3D4F3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Biltegiratzea eta kontsultak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3E91CE5-6346-4741-A82E-85FB1AE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Parquet-ek historikoa gordetzen du; DuckDBk datu multzoak kontsultatu eta prestatzen ditu; Elasticsearch-ek emaitzak indexatzen ditu; Kibana da panel operatibo bakarra.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F3E6C043-F835-495A-B24E-E816AC7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Lehen bertsiotik kanpo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0F82B60C-B499-429D-8A75-DDABA84B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Ez dugu Streamlit, MongoDB, InfluxDB, Spark, LLM edo industria-eragingailurik hedatuko. FastAPI scoring-erako erabiliko da; Isolation Forest lagungarria da, ez alerta baztertzeko iragazkia.</a:t>
            </a:r>
          </a:p>
        </p:txBody>
      </p:sp>
    </p:spTree>
    <p:extLst>
      <p:ext uri="{BB962C8B-B14F-4D97-AF65-F5344CB8AC3E}">
        <p14:creationId xmlns:p14="http://schemas.microsoft.com/office/powerpoint/2010/main" val="2143105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1DC53125-C705-4944-9C24-C1A6397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ED6F10A8-9653-4F7E-9384-9ADEF87D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Zergatik konbinazio hau?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83CD859-1EEC-4B09-811D-E4D2846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Erronkari erantzun, ikastaroan landutako tresnekin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C3D42789-4CA4-48C2-B39A-54111390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5C1EB26-1A4D-4619-9BCD-D789918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04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448FBA3-E7D4-4431-980D-FB96E19A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Integrazioa eta trazabilitatea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05EE2450-2DF2-4EB1-A069-9AAEC68B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 eta Kafka ikastaroan landu ditugu: iturriak bateratu, akatsak aztertu eta gertaerak berriz prozesatzeko aukera ematen dute.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1BA688B-AAC5-4289-B9B0-C6D55CBD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 tabularren ereduak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A3DF8610-A3BB-4DF3-AF15-1044FD6F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Forest-ek tenperatura, momentua, biraketa-abiadura eta higaduraren arteko elkarrekintzak aztertzen ditu. Isolation Forest-ek gainbegiratu gabeko ikaskuntza lantzeko balio du.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2DD74366-D3DB-4B07-A3E9-F3A92557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Historikoa eta ustiapena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889D20D9-CE65-4B2C-ADD5-932ECC9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Parquet/DuckDB entrenamenduko analisirako erabiltzen dira. Elasticsearch/Kibana, kontsultak eta bistaratzea egiteko. Biltegi bakoitzak eginkizun bereizia du.</a:t>
            </a:r>
          </a:p>
        </p:txBody>
      </p:sp>
    </p:spTree>
    <p:extLst>
      <p:ext uri="{BB962C8B-B14F-4D97-AF65-F5344CB8AC3E}">
        <p14:creationId xmlns:p14="http://schemas.microsoft.com/office/powerpoint/2010/main" val="1040029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8CFCE066-081F-4CF1-9924-827CB564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B87C33F-DFCD-4952-93A7-DEAFBD1A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Aukeratutako arkitektura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57CD347F-B74C-48D8-B69C-4E655AE4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Fluxu bera erakustaldian eta simulatutako ustiapenean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A1672E26-CB95-46F5-8B9C-CE3AB797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b,c · IE3 a,d · Big Data aplikatua IE1 b,d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3C5AD4C-DB3F-4DC8-A71F-A025CE9B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05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A2732721-EAAB-4F64-8789-390EE68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Sarrera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E20839C7-A835-4E5D-9267-B4BA9CB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CSV sintetikoa → Kafka cnc-telemetry-csv → NiFi; baliozkoak ez diren erregistroak DLQra, event_id bidez identifikatuta.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BC87560-217E-4944-8464-FAFD11EE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Inferentzia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80D23AED-E27B-402F-9D3B-A45BF460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 ConvertRecord eta baliozkotzea egiten ditu → FastAPI /predict deitzen du InvokeHTTP bidez → alertak Elasticsearch-era eta Kibanara.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430A55D1-4BFD-4276-B3EF-4EE99580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Historikoa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ACC00BBC-4B75-4640-93CB-AC6947E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 eta DuckDB historikorako; Random Forest konexiorik gabe entrenatzen da eta FastAPIk zerbitzatzen du; Isolation Forest aparteko esperimentua da.</a:t>
            </a:r>
          </a:p>
        </p:txBody>
      </p:sp>
    </p:spTree>
    <p:extLst>
      <p:ext uri="{BB962C8B-B14F-4D97-AF65-F5344CB8AC3E}">
        <p14:creationId xmlns:p14="http://schemas.microsoft.com/office/powerpoint/2010/main" val="1108275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C1BD2F2-A8EE-445E-9EA3-28EC16B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5872F9E5-6673-4E1F-8551-D35EBB97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Datu-iturriak eta kontratua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E06F661D-E661-4B28-969F-BDFFA368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Integraziorako hiru sarrera mota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EBD6BE1-1003-46B4-9983-D9421206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c · IE3 a · Big Data aplikatua IE5 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739DAF1F-591C-4645-A7E8-0AA7C0E1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06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0439920A-3CB2-410E-BC9E-D8F0450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Telemetria CSVan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34ABCA93-70BC-4370-9BC5-D1B34DE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machine_id, UTC timestamp, tenperatura, rpm, momentua, higadura eta quality_flag. Datu multzoak bibraziorik ez badu, ez dugu asmatuko.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3B4A8A42-3871-4EAC-BD96-E9B82673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Mantentze-lanen CSV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9278CCF3-005F-4C97-9CBE-AB1D78AF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machine_id, esku-hartzearen data, mota eta matxuraren data. Benetako historikoa dagoenean, testuingurua eta etorkizuneko etiketa emango ditu.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9D42C5DB-93F1-43CE-98F3-30C58C5F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Ekipamenduaren logak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2D7862BA-9439-4CBB-8588-86593739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Jatorrizko testua gorde; makina, data eta kodea atera eta denbora-testuinguruarekin lotu. Gertaera bakoitzak event_id eta schema_version ditu; datu okerrak baztertu.</a:t>
            </a:r>
          </a:p>
        </p:txBody>
      </p:sp>
    </p:spTree>
    <p:extLst>
      <p:ext uri="{BB962C8B-B14F-4D97-AF65-F5344CB8AC3E}">
        <p14:creationId xmlns:p14="http://schemas.microsoft.com/office/powerpoint/2010/main" val="526496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958F0BAD-04C8-42CF-A8DF-43DA074F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03BEFA7F-9645-4A29-81C3-2CA7E1A1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Python prozesamendu osoan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97E7FFA8-B731-40EA-81AC-AF7C59F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Prestaketa eta inferentzia kode-base berean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57C974D-D8C8-4CCB-A3CB-6702C46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Programazioa IE1 b,e · IE2 c,d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D3680B73-239A-4341-BCEC-7EA766D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07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CDCB11E-34A4-4242-B817-D504500F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Python, NumPy eta pandas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204E509-709D-458A-AE01-040794DF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erabilitako lengoaia. NumPyk kalkulu numerikoa egiten du; pandasek taulak lotu eta iraganeko neurketetatik denbora-leihoak kalkulatzen ditu.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F22C8DC-57EA-4317-9471-92E237DD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7B6F8ABA-7B07-40A9-BADD-6A6C1BE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Prestaketarako pipeline-a, RandomForestClassifier eta IsolationForest. Norberak sortutako ereduak soilik gorde, eta bertsioa, aldagaiak eta parametroak erregistratu.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FE1C05CB-A0E8-4DBB-8860-0A5BF9B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Kodearen egitura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DC3D29C0-0093-44CD-BA9A-D99DC1E2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Kontratuak, prestaketa, entrenamendua eta FastAPI zerbitzua modulu bereizietan; Jupyterren EDA. NiFik Kafka kontsumitu eta HTTP bidez scoring-a eskatzen du.</a:t>
            </a:r>
          </a:p>
        </p:txBody>
      </p:sp>
    </p:spTree>
    <p:extLst>
      <p:ext uri="{BB962C8B-B14F-4D97-AF65-F5344CB8AC3E}">
        <p14:creationId xmlns:p14="http://schemas.microsoft.com/office/powerpoint/2010/main" val="773446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1E4D8CEE-61E3-4F1C-9536-52FEE55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DD06ACF-C9EE-408A-AC3A-9CEDCA91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NiFi: eraikiko dugun fluxua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3DD850B-0D43-4A22-832E-C167977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Ereduari datuak bidali aurretik baliozkotu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F0EF4A94-80E3-485D-B5F9-AAD6BD3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IE1 b · IE5 b · Big Data sistemak IE1 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AF3B60A-5305-4EFA-9DDC-1F4E18D1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08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2AB4C23-2104-4B59-A459-CEBFBB8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Hautatutako konfigurazioa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BE51B78F-3DB1-42A7-97A5-C6D37040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ConsumeKafka → ConvertRecord (CSVReader/JSON) → ValidateRecord, laborategi-ingurunean. Ez dago CNC errealekin loturarik.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45448737-F549-4FF8-8C44-DF82881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Bideak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918CBA4-1A3C-4A82-B2A6-851ECE7C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Baliozkoak → Elasticsearch eta POST /predict; baliogabeak edo HTTP 422 → berrogeialdia; HTTP 5xx → saiakera mugatuak.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F1233620-923B-48DE-A8BB-43AB38F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Froga beharrezkoa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953171B1-7F60-4590-ADB8-095730B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 fluxu esportatua, kontagailuak, backpressure, replay eta gelditze/berrabiarazte probak; integrazio osoa frogatu gabe dago.</a:t>
            </a:r>
          </a:p>
        </p:txBody>
      </p:sp>
    </p:spTree>
    <p:extLst>
      <p:ext uri="{BB962C8B-B14F-4D97-AF65-F5344CB8AC3E}">
        <p14:creationId xmlns:p14="http://schemas.microsoft.com/office/powerpoint/2010/main" val="648541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19C4EEE-6403-48D5-8B26-DB2D074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60311BFB-8DC4-4F04-8EDF-9D46971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Kafka: topic-ak eta kontsumoa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A31B606F-C209-4500-887F-3E50CAA7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NiFik Kafka kontsumitu eta irteerak koordinatzen ditu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CFD10130-1B44-4DEC-B506-C3E7BA19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IE1 b · Big Data sistemak IE3 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F03681E-89E4-4CAD-8987-4464CAF8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09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87CA9D9E-7816-4DD3-94D4-A0C94526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Aukeratutako topic-a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244D764-22B5-4697-BF01-806D2210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cnc-telemetry-csv topic-a; machine_id gakoa, eta telemetria bakoitzerako SHA-256 bidezko event_id identifikatzailea.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E54DC90-C897-4AE4-836D-A9424E1C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Kontsumitzaile-taldea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EE5B6B4E-5F17-4FBB-B774-93E2C441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NiFiko cnc-nifi-v1 taldeak Kafka kontsumitzen du, telemetria gordetzen du eta HTTP scoring zerbitzuari deitzen dio.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5A64ABE1-F7F2-47FE-A1CC-1F4BE13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Egiaztatu beharreko bermea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4C4CEC1A-59F4-4425-9ED7-FF74ED1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Gutxienez behingo entrega (at-least-once) eta event_id bidezko deduplikazioa. Ez dugu muturretik muturrerako exactly-once bermatzen.</a:t>
            </a:r>
          </a:p>
        </p:txBody>
      </p:sp>
    </p:spTree>
    <p:extLst>
      <p:ext uri="{BB962C8B-B14F-4D97-AF65-F5344CB8AC3E}">
        <p14:creationId xmlns:p14="http://schemas.microsoft.com/office/powerpoint/2010/main" val="1812046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9E84CD0D-416B-4266-AF8E-69616935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C725626B-B6AA-4C13-8A3F-9D52CD3A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Parquet: historikorako hautua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D739DF7-9EDC-4A70-9CE3-7DF4CA6B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Entrenamendua eta emaitzak indize operatibotik kanpo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AC57EBA2-71D1-4E9E-B106-373160DB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IE3 a,d · Big Data aplikatua IE1 d · IE5 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C3AB76F2-828F-46C1-9396-BD878551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10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46CE8D49-782F-49B5-BFB5-EACE4C50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 gordeko dugu?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DB1A1126-FB27-4915-ACAC-E0BDCF7B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Baliozkotutako telemetria eta iragarpenak multzo bereizietan; egunaren araberako partizioak eta machine_id zutabea. Jatorrizko sarrerak eta bazterketak auditoretzarako.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CE78955-6262-4636-9D61-CBCF1D1E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 Parquet?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BB3F30E0-2B16-45D0-99FA-D82FD9ED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Datu-ingeniaritzan landutako formatu zutabekakoa eta konprimigarria. Zutabeak hautatu eta datu historikoak prestatzeko egokia.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342B0DE-F0E7-412E-A839-6DA69856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politika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9D20E9EF-B398-4387-8CD8-A0D2F61C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Proposamena: 90 eguneko telemetria azterketa longitudinalerako, eta ebaluatutako datu multzoen bertsio guztiak. Benetako industria-politika finkatu aurretik dimentsionatu.</a:t>
            </a:r>
          </a:p>
        </p:txBody>
      </p:sp>
    </p:spTree>
    <p:extLst>
      <p:ext uri="{BB962C8B-B14F-4D97-AF65-F5344CB8AC3E}">
        <p14:creationId xmlns:p14="http://schemas.microsoft.com/office/powerpoint/2010/main" val="180725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724A0471-DE70-4C7F-A201-DC7C667D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54C7CDB2-1102-46A1-8C80-FF51558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DuckDB: datu multzoa prestatzea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B2D525F4-4906-4A23-9C9B-1202FE1E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SQL kontsultak Parquet historikoaren gainean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AA66A778-4FF2-46C7-9BB3-29B865C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b · Big Data aplikatua IE1 d · IE3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F1B7A7C-8AF9-4253-983F-C1483B22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11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DC1B45E-786C-4069-82F6-D67401B7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Kontsulta zehatzak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9C3C3660-76FE-4453-9C4B-F0B0068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Denbora-tarteak eta makinak hautatu; mantentze-esku-hartzeak lotu; leihoak osatu eta entrenamendu, baliozkotze eta test zatiak prestatu.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8DD00E6F-7C2D-464D-93E2-E5CD580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 DuckDB?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C76EBBD-1B20-429A-B43A-3C5B791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landu eta praktikatu dugu. pandasera pasa aurretik iragazteko balio du, banatutako motor bat administratu beharrik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B20334EA-27C7-4F16-81EB-EB370A3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Onartutako muga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235698DA-85A5-467F-9B72-CE84A8C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bakarrean dabil. RAM, denbora eta diskoa neurtu; banatutako fitxategien eta errepliken arriskuak dokumentatu, tokiko diseinua sistema banatua dela esan gabe.</a:t>
            </a:r>
          </a:p>
        </p:txBody>
      </p:sp>
    </p:spTree>
    <p:extLst>
      <p:ext uri="{BB962C8B-B14F-4D97-AF65-F5344CB8AC3E}">
        <p14:creationId xmlns:p14="http://schemas.microsoft.com/office/powerpoint/2010/main" val="72250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8F49C0CD-73BE-42A7-AF8A-4F275E2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C6B33296-78EB-4864-9C68-3334FA2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Datuen prestaketa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E7533167-18F7-4A05-B06D-CCEA2167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5 minutuko leihoak eta 24 orduko etiketak: proposamena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7286888-0CEA-4F2C-9A43-A7ABF110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IE5 b · Big Data sistemak IE1 c · Programazioa IE2 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6FF3E8CB-08E0-49CA-96B4-8E8A205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12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69786E14-72FE-4804-B7B2-09A9B60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Garbiketa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D1296699-8E92-435C-B164-962C4228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Bereizi sentsore-akatsak eta muturreko balio sinesgarriak; jatorrizkoak eta kalitate-markak gorde. Ez interpolatu etorkizuneko datuetatik. Hutsuneak train zatian ikasitako medianekin bete.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C86B7380-57A2-44E2-88A0-1BE3A146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ezaugarriak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368870E-646E-42DF-BAB6-C23744E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Uneko tenperatura, rpm, momentua eta higadura; makina bakoitzeko azken 5 minutuen batezbestekoa, desbideratzea eta joera. Iturriaren unitateak egokitu.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CB0A92C-EF90-4B94-A735-DC52A9F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Etiketa eta zatiketa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E365E427-8C2F-443E-9C81-0A65D4D5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y=1 baldin t eta t+24 h artean datatutako matxura badago. Jarraipen osoa ez duten laginak baztertu, eta leihoek edo etiketek zatiketen arteko datu-ihesik ez eragitea zaindu.</a:t>
            </a:r>
          </a:p>
        </p:txBody>
      </p:sp>
    </p:spTree>
    <p:extLst>
      <p:ext uri="{BB962C8B-B14F-4D97-AF65-F5344CB8AC3E}">
        <p14:creationId xmlns:p14="http://schemas.microsoft.com/office/powerpoint/2010/main" val="1021002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5516AA8-8A12-4628-AC58-D4F4FBB3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25070060-EDEF-4EF3-95A5-1B95D76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Aukeratutako AA mota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6CA6AEF6-8EE5-4FAF-B615-08BB5938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Zeregin zehatz baterako AA ahula eta ML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D8CF1EA5-A87B-40BF-A09B-02E438C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IE1 a,c · IE2 b,g · ML IE1 a,b · IE2 b,c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212A7E81-A07C-4ADB-BB24-C819695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13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C3F55B94-F894-4577-91AB-6A83813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AA eta ML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0E81C71-F326-412F-9BCB-79EF465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Adimen artifizialak arrazoibidea eta ikaskuntza barne hartzen ditu. Gure aplikazioak ikaskuntza automatikoa erabiltzen du, neurketetatik eta historikotik ikasteko.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8366CC1E-A53D-46CA-8C49-FBB0DF93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AA ahula eta indartsua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35E2B31A-5915-4B3D-85A9-78B9582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AA ahula: CNCaren arriskua aztertzeko zeregin espezifikoa. AA indartsua: askotariko zereginak orokorki ebazteko gaitasuna; ez dugu halakorik proposatzen edo frogatzen.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68101EA3-E68B-422C-ADD4-2D6F8440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Sailkapena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BC6A4C82-2314-462B-BA30-52F515D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Forest: gainbegiratutako ML tabularra. Isolation Forest: gainbegiratu gabeko ML. Arauak eta logika lausoa AA sinbolikoan sartzen dira; sare neuronalak konexionistak dira.</a:t>
            </a:r>
          </a:p>
        </p:txBody>
      </p:sp>
    </p:spTree>
    <p:extLst>
      <p:ext uri="{BB962C8B-B14F-4D97-AF65-F5344CB8AC3E}">
        <p14:creationId xmlns:p14="http://schemas.microsoft.com/office/powerpoint/2010/main" val="15654506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3BBBF455-AB5B-479E-AC1B-4323CFC4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7A2DB65-F971-4A75-B9E0-055535D8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Kalitaterako eta berrikuspenerako arauak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DABBF4C2-A26D-4A28-8C5D-37DABDC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Arau deterministak, beste motor lauso bat gehitu gabe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B4C6E8B-D45E-4B1C-B97B-9E41C01E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IE1 c · IE2 b,g · ML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7A19390E-EC0F-4638-A7C4-54A6FD3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14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064F226D-1F6A-402C-B4D5-CB34DEF8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Erabiliko ditugun arauak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16D80DA-0FAA-46F4-8951-FEA62B4E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Timestamp baliogabea, unitate ezezaguna edo derrigorrezko eremurik eza → baztertu. Datu zaharregia → «egungo daturik ez»; ez «makina osasuntsua» lehenetsita.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5762224D-E110-47BA-9240-6431283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Zergatik?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4D39A86D-B610-4946-A018-9D32BCA5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Arauek datuen kontratua zaintzen dute. Random Forest-ek etiketen araberako erlazioak ikasten ditu; Isolation Forest-ek bitxikeriak markatzen ditu. Ez dugu hirugarren arrisku-motorrik behar.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CEC96B63-4E45-43DB-812A-2B3CAB1B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Ikasgaiarekin lotura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7DEFF641-98B4-4860-AC39-CAD7CD6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Logika lausoa teknika egokia eta azalgarri bat da, baina kidetasun-funtzioek eta arauek hautatutako nukleoak behar ez duen kalibrazio gehigarria ekarriko lukete.</a:t>
            </a:r>
          </a:p>
        </p:txBody>
      </p:sp>
    </p:spTree>
    <p:extLst>
      <p:ext uri="{BB962C8B-B14F-4D97-AF65-F5344CB8AC3E}">
        <p14:creationId xmlns:p14="http://schemas.microsoft.com/office/powerpoint/2010/main" val="15400942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74798FA-1B57-43A6-9B82-0BD906EA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0966445-42DD-491D-A158-FC0B4356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Random Forest: eredu nagusia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06E74D67-0D8B-4FFA-B517-C28480CC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Gainbegiratutako ereduak sortzen du matxura-arriskuaren alerta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80B0070-4D62-4223-A5BB-85569823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ML IE3 c,f · IE6 a,b · Programazioa IE2 c,d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6BE9F7E0-B4A0-4771-9B2C-964741C4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15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4565F224-DC50-4FB4-B31B-C7A811F4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 ikasten du?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E759D5E4-18F1-47E3-A4FC-913B3E94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Funtzionamendu-baldintzen, denbora-ezaugarrien eta hautatutako epeko matxuren arteko erlazio ez-linealak, baliozko matxura-etiketak daudenean.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5F721881-82B4-4C08-9F33-CCBBF3F5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konfigurazioa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88C98DD4-8F47-4487-8052-6B451A7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200 zuhaitz; max_depth=12, min_samples_leaf=5, class_weight=balanced eta random_state=42. Hasierako parametroak dira: baliozkotzeak doikuntzak gidatuko ditu.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08DF3AA-07FA-4DD8-B262-DC8F9EF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 aukeratu?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680F9ABE-56DA-45CC-9F0B-2309FE22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landutako eredu tabularra; elkarrekintzak hartzen ditu kontuan eta ez du KNN/SVM bezalako eskalatzerik behar. Aldagaien garrantzia ez da kausalitatea.</a:t>
            </a:r>
          </a:p>
        </p:txBody>
      </p:sp>
    </p:spTree>
    <p:extLst>
      <p:ext uri="{BB962C8B-B14F-4D97-AF65-F5344CB8AC3E}">
        <p14:creationId xmlns:p14="http://schemas.microsoft.com/office/powerpoint/2010/main" val="6204700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7225E884-F043-4E5C-8293-3F9D337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60B7D5E-F69A-415E-B8CA-5E675DC7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Isolation Forest: laguntzailea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75BB9C38-58CE-41F2-9BA6-DE45C4BF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Anomaliek berrikuspena eragiten dute, ez bigarren matxura-erabakia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253AB79-5252-46EA-92E5-BEDB9A5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ML IE4 b,c ·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C954DE9D-B6BA-4CF1-85A4-4B08172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16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7A5460A0-EC86-4853-8EB5-F9D2702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Datuak eta erabilera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1C90606E-B95D-4541-9957-E853B64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Funtzionamendu normaltzat hartutako datuekin entrenatu, halako historikoa dagoenean. Inferentzian eskuragarri dauden ezaugarri berak erabili, etorkizuneko etiketarik gabe.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959C9999-D91D-4D2F-BC8E-7D9FDCB9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konfigurazioa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31CCFDB0-7392-46F2-AAF2-75FA62D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200 zuhaitz, max_samples=256 eta random_state=42. Score-a gorde; atalasea baliozkotzean aukeratu eta berrikusitako alertak erregistratu.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7F6DB9C-1B5F-45A6-9997-CB32E0D9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Eginkizun mugatua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9F81A76F-1386-4413-B280-FD69079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Ohiz kanpoko patroiak edo erregimen berriak hautematea. Anomalia batek berrikuspen teknikoa eskatzen du; ez da berez matxura, eta ez du alerta gainbegiratua ezeztatzen.</a:t>
            </a:r>
          </a:p>
        </p:txBody>
      </p:sp>
    </p:spTree>
    <p:extLst>
      <p:ext uri="{BB962C8B-B14F-4D97-AF65-F5344CB8AC3E}">
        <p14:creationId xmlns:p14="http://schemas.microsoft.com/office/powerpoint/2010/main" val="9672577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6EA141CC-460F-4F75-90B2-D28E3CB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5ACD689A-2451-4A2E-81A8-A1844036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Alerten politika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45A6082D-D945-436D-861A-51FAD70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Bi abisu mota, AND adostasunik gabe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6C582CB-A8C1-4A02-A239-56E32D6B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IE2 g · ML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A47FF99-D6A0-4BAC-AD57-F29599FF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17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85DD3B81-3A47-45F6-829B-9C894D74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Matxura-arriskua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D172D62-CAC3-4425-8E60-FF1D467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 ≥ baliozkotutako atalasea → planifika daitekeen ikuskapen-abisua. Erakutsi makina, unea, denbora-horizontea eta bertsioa.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C811B324-A1D2-4AC4-9BE2-2DA3DBBB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Anomalia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4F17B8B1-D1D0-4D93-8A44-C25A2E9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Isolation Forest-ek bere atalasea gainditzen badu → egoera edo datua berrikusteko abisua, arrisku gainbegiratutik bereizia. Score-a eta arrazoia adierazi.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6BF4BF0-59C2-4417-BB3F-3F332E4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Ustiapena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26C62BB9-8FF6-4645-A5ED-10EC8F5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bereko abisu iraunkorrak multzokatu, lagin bakoitza intzidentzia berri bihur ez dadin. Teknikariak baieztatu, baztertu edo planifikatuko du; ez da CNCa automatikoki geldituko.</a:t>
            </a:r>
          </a:p>
        </p:txBody>
      </p:sp>
    </p:spTree>
    <p:extLst>
      <p:ext uri="{BB962C8B-B14F-4D97-AF65-F5344CB8AC3E}">
        <p14:creationId xmlns:p14="http://schemas.microsoft.com/office/powerpoint/2010/main" val="20232638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229BF530-326F-4CC1-AD49-9D6858E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D1A2B106-7EB9-4DDE-9D47-7E99801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Egin beharreko baliozkotzea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EF1C4B62-919E-469F-9DB3-98835ADF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Arazo bera, zatiketa bera eta prestaketa koherentea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13EE0C64-8EB9-4D7C-A212-CC7A4D7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ML IE3 c,f ·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AB0B174-5444-4F1C-84CA-E1360DE3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18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87EAD7E5-043B-42C2-8105-B72E9F2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Zatiketak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9C50E95-5DB9-4378-9744-DCAA166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Benetako historikoa: lehen %70 train, hurrengo %15 validation eta azken %15 test. Leihoen eta aurreikuspen-epearen artean datu-ihesa saihestu; datak eta makinak erregistratu.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09A77E5-0936-412C-A0FD-F5C0321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Atalasea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3231E9CC-0988-45A5-9474-BF7C863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Hasierako irizpide akademiko gisa, F1 maximizatzen duen atalasea validation zatian aukeratu. Recall, precision, negatibo faltsuak eta kostua jaso; ez egokitu test datuekin.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32EF69AE-AF95-46A0-95CE-1F586F85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Amaierako proba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826FE88D-C69D-480C-BB75-DECDBBBC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Test zatian behin ebaluatu: nahasmen-matrizea, F1, recall, aurreikuspen-aurrerapena eta alerta faltsuak makina/egun bakoitzeko. Alderatu «matxurarik ez» eta erregresio logistikoarekin.</a:t>
            </a:r>
          </a:p>
        </p:txBody>
      </p:sp>
    </p:spTree>
    <p:extLst>
      <p:ext uri="{BB962C8B-B14F-4D97-AF65-F5344CB8AC3E}">
        <p14:creationId xmlns:p14="http://schemas.microsoft.com/office/powerpoint/2010/main" val="9589767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B8D8FD71-913B-4B04-8AE6-FF963B2D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CF4A74A2-F520-4A0F-A38F-F8D6FDE5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FastAPI: inferentzia-zerbitzua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E8D69B59-D2DC-4007-B0B2-D447E507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Eredua behin kargatu eta NiFiren eskaerei erantzun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E9F447D4-B4CA-4BDA-85CC-46FBAD6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Programazioa IE2 c,d · ML IE3 f · Big Data sistemak IE4 e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83BCE8C9-C088-4093-ABD1-F5D547B1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19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7C9E513-EAF1-4413-953A-8432F1BA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Abioan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93E4899F-85B7-4783-9012-B1200255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FastAPIren /health endpoint-ak eredua behin kargatzen du, eskema egiaztatuta eta tokiko sarbide mugatuarekin.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4663F463-03A6-44CF-AAB4-3E4BEB60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Gertaera bakoitzean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8AA80C84-F9C0-4895-BD50-F2064966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 InvokeHTTP bidez /predict deitzen du, makina bereko sentsoreak eta iraganeko testuingurua emanez; aurreikuspena, score-a eta alerta-maila jasotzen ditu.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DBC043A-D3F9-4B78-A600-D87C193D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Erroreak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82828727-25E3-40B8-8314-6E348EAA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HTTP 422 → berrogeialdia; 5xx → saiakera mugatuak; datu historikorik gabeko hasiera esplizitua, eta makinetako eragingailuei agindurik ez.</a:t>
            </a:r>
          </a:p>
        </p:txBody>
      </p:sp>
    </p:spTree>
    <p:extLst>
      <p:ext uri="{BB962C8B-B14F-4D97-AF65-F5344CB8AC3E}">
        <p14:creationId xmlns:p14="http://schemas.microsoft.com/office/powerpoint/2010/main" val="1390314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17361412-5A0F-4D93-9581-C1BC65D1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611DE718-7E81-4124-B080-D692BE5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Elasticsearch eta Kibana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99D9CF1-B3A0-490B-9810-FC703CCC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Kontsulta-biltegi bat eta panel operatibo bakarra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84E35A1-E3E7-455B-8240-67C412C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IE2 a,b · IE4 e,f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4144D743-620C-42CE-B63F-006339E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20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6AB8A2E2-15BF-459C-91AB-CEBB2FA4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DAE4C0D-22CA-4F21-9906-2A7C03F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Iragarpen-indizea: timestamp (date), machine_id (keyword), score numerikoak, kalitatea eta model_version. event_id erabili dokumentu-ID gisa, saiakera errepikatuak idempotenteak izateko.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A424B4C3-0CEE-4C70-8D5B-E50A57D8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Kibana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A99C3083-AF03-453A-B356-DF66DDD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Iragarpenentzako data view-a; makina, data eta alerta motaren araberako iragazkiak. Denbora-serieak, abisuen sailkapena eta erregistroen ikuspegia ikerketarako.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7C9B1EB-8C49-4F5E-9B3B-C7620E6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Hautuaren arrazoia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D624B113-1D7E-4F3B-A166-E55EADF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landutako multzoak bilaketa, agregazioak eta bistaratzea batzen ditu. Hasierako proposamena: 30 egun emaitza operatiboentzat; historiko osoa Parquet-en.</a:t>
            </a:r>
          </a:p>
        </p:txBody>
      </p:sp>
    </p:spTree>
    <p:extLst>
      <p:ext uri="{BB962C8B-B14F-4D97-AF65-F5344CB8AC3E}">
        <p14:creationId xmlns:p14="http://schemas.microsoft.com/office/powerpoint/2010/main" val="18751546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650D7069-68C7-4DDA-8873-93BA2CA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BC0B644-BDA9-4C3F-BA00-6E78E05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Eraikiko dugun panela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3BA4AEA-7287-4995-AE37-C1FEEDB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Mantentze-lanerako galdera praktikoak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15943C94-A3F2-4CD1-823B-0368532E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IE2 a,b · IE4 f · ML IE6 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C9CBDB89-F130-4262-9A14-B99448A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21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FB24BAEB-FB47-4C22-9A8C-3488030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Egoera eta bilakaera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58E870C5-06FF-416D-A0C9-144DC4F5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bakoitzeko tenperatura/momentua eta arriskua denboran; esku-hartzeak eta hutsuneak markatu. Nola aldatu da makinaren egoera?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9A09629D-E3E1-4ADA-A241-0C179A3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Zain dauden abisuak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B9ECF5FB-4587-4918-8450-05FF9EF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Arriskuaren araberako makina-zerrenda eta anomalien zerrenda bereizia. Zer ikuskatu behar dugu, eta zer datu berrikusi?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87C5C6FE-34CA-4617-97EA-EEC8129C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Kalitatea eta ebaluazioa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3E9669BA-F742-4649-9864-56B2FEE8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Azken datuaren antzinatasuna, bazterketak eta atzerapena; rpm–momentu sakabanaketa. Nahasmen-matrizea eta baieztatutako alertak ebaluazioan.</a:t>
            </a:r>
          </a:p>
        </p:txBody>
      </p:sp>
    </p:spTree>
    <p:extLst>
      <p:ext uri="{BB962C8B-B14F-4D97-AF65-F5344CB8AC3E}">
        <p14:creationId xmlns:p14="http://schemas.microsoft.com/office/powerpoint/2010/main" val="13208772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46A387D-EFEC-4731-8CC0-29A784E7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936FBC9A-F197-4DB5-8EFD-2F18AD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Diseinuaren segurtasuna eta osotasuna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83764B8D-51B3-49F2-9E6B-B97FC967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OT konexiorik gabeko tokiko bertsio erreproduzigarria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727FB5A-11C6-4A19-9CFC-A0E81CE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IE6 a,b · Big Data sistemak IE3 d · Big Data aplikatua IE3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9ABBC2CC-EA8A-48D9-9CB5-54EE85A6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22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A5388D89-C88B-4BAE-832B-E592E2E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Datuen osotasuna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44CF7010-2523-4DB9-8F10-F2E9018C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Eskema eta fitxategien hashak; sarrera, artxibo eta indexazio kontagailuak; event_id bidezko idempotentzia. Bikoizketak, berreskuratzea eta ustelkeria detektagarria probatu.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5B87F208-C15D-46E4-B3B0-6B9252B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Laborategia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5DAFEE07-6A0B-4867-88E1-FEC299EF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Docker Compose lokala NiFi, Kafka, Elasticsearch eta Kibanarako. Bolumen bereiziak eta ostalarira mugatutako sarbidea. Ostalari bakarrak ez du benetako erabilgarritasun handirik.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2662E4A7-5755-42DF-9792-AFEDFBFB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Pertsonen arriskuak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788EF77C-BF2C-4893-AD69-8CBDF998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Ez gorde beharrezkoak ez diren operadore-identifikatzaileak. Sarbidea eta atxikipena zehaztu; alerta faltsuen, oharkabean igarotako matxuren eta makina-erregimenen araberako alborapena aztertu.</a:t>
            </a:r>
          </a:p>
        </p:txBody>
      </p:sp>
    </p:spTree>
    <p:extLst>
      <p:ext uri="{BB962C8B-B14F-4D97-AF65-F5344CB8AC3E}">
        <p14:creationId xmlns:p14="http://schemas.microsoft.com/office/powerpoint/2010/main" val="2556030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B7A97179-4F57-4C8B-927A-A46E8F0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E8D6684B-A67F-427B-B19E-43B2E31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Hasierako dimentsionamendua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80E0B0F-E211-4D62-B6C7-5447F4D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Neurtu beharreko hipotesi zehatzak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9A5CF70-C54E-4C05-9D98-CBE94C0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2E9DB1EC-7F37-45E1-A49C-0070D627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23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4A98CD38-BFB3-40E0-A820-69557AD1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Laborategiko karga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BADCC505-5F56-44F7-9762-8221D67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Simulazioa: 50 makina, segundo bakoitzeko erregistro bat → 4,32 milioi gertaera/egun. 200 byte/gertaera → 864 MB/egun; 90 egun → 77,76 GB, konpresiorik gabe.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DBB6F52-3073-440B-B030-47629B73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Gaitasun-probak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D32036E0-11AD-4714-9D7D-C71B4842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Throughput-a, inferentziaren latentzia, kontsumitzaileen lag-a, RAMa eta diskoa neurtu. Parquet-en konpresioa eta indizeen benetako tamaina jaso; ez estrapolatu frogatu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4C190757-DAEF-45EB-986E-740D873C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Kostua eta balioa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5BD0B805-C56F-4341-BBC1-2D2B6547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Saihestutako orduak × 1.200 € − alerta faltsuak, ikuskapenak eta azpiegitura. Simulazioari ez diogu benetako aurrezkirik edo industria-errendimendurik egotziko.</a:t>
            </a:r>
          </a:p>
        </p:txBody>
      </p:sp>
    </p:spTree>
    <p:extLst>
      <p:ext uri="{BB962C8B-B14F-4D97-AF65-F5344CB8AC3E}">
        <p14:creationId xmlns:p14="http://schemas.microsoft.com/office/powerpoint/2010/main" val="6453288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0D8F20C-056E-408C-B788-B0CA5C9D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5A633C2-8341-4420-8991-724B30C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Beste aukera batzuk, behar izanez gero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45B84251-7D14-476E-BE61-67CCDE1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Ez dira lehen bertsioan sartuko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898BD8B-E97B-4932-9182-5CAD89C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A404C8D-F355-4447-AA1A-C3B4CA2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24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B89E10DA-D71D-43C6-BA38-78F5F594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Datuak eta panela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99D4EEB3-1521-4BA3-9DF0-F759C62A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InfluxDB/TimescaleDB eta Grafana, denbora-serieen pisua nagusitzen bada; MongoDB, dokumentu heterogeneoak funtsezkoak badira. Horrek Kibana erabakia berrikustea eskatuko luke.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21E53446-E0B2-48DD-A54F-0C9C1484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Eredua eta eskalagarritasuna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D947357A-4A05-49F5-8E04-7E5AA31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Boosting, Random Forest-ekiko hobekuntza erreproduzigarria badakar; Spark, makina bakarrak baliabide edo denbora eskakizunak betetzen ez baditu. Ez gehitu frogarik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41DF1454-FA34-4B56-9624-C7149099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Industria-konexioa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AB64198A-F744-4994-A65F-BA21321E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OPC UA/MQTT, makina edo gateway bateragarrietarako. Ikastaroaren tokiko edukitik kanpoko luzapenak dira eta baimendutako probak eskatzen dituzte. Laborategiak fitxategiekin jarraitzen du.</a:t>
            </a:r>
          </a:p>
        </p:txBody>
      </p:sp>
    </p:spTree>
    <p:extLst>
      <p:ext uri="{BB962C8B-B14F-4D97-AF65-F5344CB8AC3E}">
        <p14:creationId xmlns:p14="http://schemas.microsoft.com/office/powerpoint/2010/main" val="1814810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48A42D50-CB2B-402C-9189-3ECC812A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F3C68D1-5B04-48B4-A042-12DEE7BB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Lehen entrega: datuak eta entrenamendua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5CEF1FF4-F081-482E-8F41-2677A33F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Eredu erreproduzigarri bat eraikitzea lehenetsi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8BD37204-E2DF-415C-8568-8374BAC7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54EE58C-BAA2-4575-8B3B-F4E77AF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25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61691A8-0040-4D8B-8B43-E6929BD6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Entregagaiak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1235B42-3C1F-4A47-A404-E336A8D6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JSON kontratua, jatorri ezaguneko sarrerak, Parquet datu multzoa eta DuckDB kontsulta; EDA koadernoa eta prestaketa/entrenamendu moduluak.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93E6498B-98B9-4F77-9981-48E0CFE2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Aukeratutako ereduak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BF08C317-FD40-4CB2-9216-2DA2E298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Norberak egindako Random Forest eta Isolation Forest, hash eta parametroekin. Zatiketen txostena eta oinarrizko erreferentzien konparazioa, garaile industrialik aldarrikatu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E06B3832-02C8-4974-B994-0F6FAE91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Onarpen-irizpideak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174692ED-5D8B-453A-B294-3089DF00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Kode erreproduzigarria, datu-ihesik eza frogatuta, metrikak eta erroreen azalpena. AI4I/datu sintetikoak badira, «egoera-sailkapenaren eta fluxuaren proba» dela esan.</a:t>
            </a:r>
          </a:p>
        </p:txBody>
      </p:sp>
    </p:spTree>
    <p:extLst>
      <p:ext uri="{BB962C8B-B14F-4D97-AF65-F5344CB8AC3E}">
        <p14:creationId xmlns:p14="http://schemas.microsoft.com/office/powerpoint/2010/main" val="18620836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76604387-69A5-45D5-888A-6A3397F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5195C0A5-EEF9-450D-835A-9296BC0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Bigarren entrega: fluxu osoa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B8C2E3B3-82C5-44BA-96CC-9FE634F3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Berreskuratzea eta bistaratzea erakutsi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9EEAC97-E4EC-4570-855E-B2AB6E9B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8A67C757-062F-4200-805E-A4E40840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26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7D780544-E687-4659-89BF-06774BA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Entregagaiak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CE133B95-FAC0-4256-8FCA-228A5DC1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NiFiren process group esportatua, Kafka topic-ak eta kontsumitzaile-taldea, FastAPI zerbitzua, Elasticsearch mapping-ak eta Kibana panela, modu erreproduzigarrian.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36FE2312-01C6-484B-ACD5-18EEB233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Ohiko proba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0E45CCAE-033D-4394-940A-1074646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Sarrera baliozko batek historiko-erregistroa, iragarpena eta bistaratzea sortzen ditu, event_id eta bertsio berarekin. Etapa bakoitzeko denborak neurtu.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3068EBEE-B1C6-404D-A945-D39BC738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Hutsegite-probak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FF2B2B06-0BE9-4E5C-84A7-BDF8D43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Eremu baliogabea, mezu bikoiztua, kontsumitzailearen berrabiaraztea eta helmuga aldi baterako itzalita. Egiaztatu bazterketa, idempotentzia eta berrirakurketa.</a:t>
            </a:r>
          </a:p>
        </p:txBody>
      </p:sp>
    </p:spTree>
    <p:extLst>
      <p:ext uri="{BB962C8B-B14F-4D97-AF65-F5344CB8AC3E}">
        <p14:creationId xmlns:p14="http://schemas.microsoft.com/office/powerpoint/2010/main" val="8268004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86B08723-1CC7-4D6C-9083-D7885CC2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9B5F150-E8E9-4B00-870D-583C53D1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Benetako abiapuntua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7323034A-EBD1-4FE4-92C8-82DB16AA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Analisirako azpiegitura berrerabili, erabakitzeko nukleoa aldatu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ED18BE09-D62E-4283-B7EF-6C59215B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455DDFF3-F787-4720-B88B-FCA4BEE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27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F5BB6E72-51FA-4B40-8CBE-18678429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Eskuragarri dagoena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A9CC8373-DA0A-49DD-B820-1660207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Mamdani + Isolation Forest prototipoa konparaziorako gordetzen da. Errepositorioan Random Forest eta API kodea daude, proba isolatuekin; fluxu osoa ez dago frogatuta.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EA799E2-4C80-4325-9C82-8ECC7F9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Hartutako erabakia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5BD5E0F5-F0FA-404A-9B43-B02D20F4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 eredu nagusia izango da; Isolation Forest osagarria eta bereizia. Zerbitzu berrian AND araua kendu, eta aurreko prototipoa erreferentzia historiko gisa gorde.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DFFFB12D-7028-4373-BBBE-BEFB15F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Oraindik egiteko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54BCACF6-6913-4F1B-844C-A9501F66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Datu longitudinalak ebaluatu eta Kafka → NiFi → FastAPI → Elasticsearch/Kibana integrazioa exekutatu. Ez erabili metrika zaharrak bertsio berriaren errendimendu gisa.</a:t>
            </a:r>
          </a:p>
        </p:txBody>
      </p:sp>
    </p:spTree>
    <p:extLst>
      <p:ext uri="{BB962C8B-B14F-4D97-AF65-F5344CB8AC3E}">
        <p14:creationId xmlns:p14="http://schemas.microsoft.com/office/powerpoint/2010/main" val="7036602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76D07D16-B115-4183-98E2-29EB9FFB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6D702E2-D442-4852-8CD3-B8955DF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Eraikuntza-plana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BCB11891-57B8-40CA-A1EA-002DA35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Hiru mugarri eta funtzio bakoitzerako ardura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58952AB-B5AB-4A94-B1F5-8CF02A27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827914A-9F41-4F01-A48D-9A3CF033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28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3FDDAE9-A4D5-436A-85EF-65F01555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1. mugarria: datuak eta eredua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03D2FEBF-6993-4C70-8579-880084E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Datu-ingeniaritzak kontratuak, historikoa eta kalitatea prestatuko ditu; modelatzeak etiketak, zatiketak, Random Forest eta Isolation Forest.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1952B06-5D19-44AB-9045-D9B4E903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2. mugarria: integrazioa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32550C46-5F64-4CDB-8ABC-69EA62B3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Integrazio-taldeak Kafka eta NiFi → FastAPI konfiguratuko ditu; bistaratze-taldeak indizeak eta Kibana. Kate osoan event_id bera mantendu behar da.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234ADF7-1829-48A3-9A77-989139F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3. mugarria: defentsa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94E395A0-0495-49E4-B407-0A7AE8F3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Irizpide nagusiak, metrikak, arriskuak, kostua eta mugak jasoko dituen txostena; ANEXO4n proposamena, ANEXO1en rolak, akordioak eta jarraipena.</a:t>
            </a:r>
          </a:p>
        </p:txBody>
      </p:sp>
    </p:spTree>
    <p:extLst>
      <p:ext uri="{BB962C8B-B14F-4D97-AF65-F5344CB8AC3E}">
        <p14:creationId xmlns:p14="http://schemas.microsoft.com/office/powerpoint/2010/main" val="13180840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4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57709BE6-0015-4B1C-8882-770F976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D41443E-B1BB-4B34-80FF-1999367A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Defendatuko dugun proposamena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89C935B7-AF5F-4F9C-A37E-5A76A686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Arkitektura bat, eredu nagusi bat eta panel bat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EDF55C33-5BE8-492E-8752-8183B845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B6CDD4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3B55A793-CF53-4C3B-A106-574D882F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29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31E3AA8B-1D24-4347-B9FF-4BEE7A6B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Konpromiso teknikoa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98A7666-1DC1-4D4E-BB04-5E1EA3C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Kafka → NiFi → FastAPI (Python/scikit-learn, Random Forest) → Elasticsearch/Kibana. Isolation Forest osagarri; Parquet/DuckDB analisi historikorako.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CDE9AD9-FD11-4E03-8DDF-85260B28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Espero den emaitza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900E5B3B-BD6D-499E-8CCB-93698D55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Makina, une, horizonte, kalitate eta bertsioarekin trazatu daitezkeen abisuak; historiko erreproduzigarria eta baliozkotze zein integrazio frogak.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A183BF24-BF28-4367-B493-69D189E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Defentsaren mugak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687F8BB9-14ED-4EBA-B7EC-FE1477EB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Ikasgaietako irizpideak, inplementazioa eta oraindik falta diren frogak bereizita. Matxurak aurretik antzematea aldarrikatzeko, datu longitudinalak eta baliozkotze berezia behar dira.</a:t>
            </a:r>
          </a:p>
        </p:txBody>
      </p:sp>
    </p:spTree>
    <p:extLst>
      <p:ext uri="{BB962C8B-B14F-4D97-AF65-F5344CB8AC3E}">
        <p14:creationId xmlns:p14="http://schemas.microsoft.com/office/powerpoint/2010/main" val="1328106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6C4D5AEE-2470-44CA-98EF-763FAA55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822EF0D-BAF2-4976-8792-C37D5E51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C44A2429-11F9-4BEF-BBA3-7851CD5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1/3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5B3C350-E40A-453C-9684-2D96C4C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B1D05171-C7FC-4564-BDDB-E9284CBE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30 / 33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E11EC-4DFD-4B90-909F-410259AA0A1E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05150"/>
                <a:gridCol w="7715250"/>
              </a:tblGrid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IE1 a,c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AAren printzipioak eta teknikak. 13.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IE2 b,g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Ereduen sailkapena eta egokitasuna. 13.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IE6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Arriskuak eta pribatutasuna. 22.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IE1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AA ahula/indartsua eta AA–ML lotura. 13.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IE2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ML motak, erabilerak, teknikak eta tresnak. 13.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IE3 c,f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Entrenamendua eta datu berriei buruzko iragarpenak. 15.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2837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68C3D031-95EA-49B6-989A-03A7A3A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8C4CD82-36F9-48D6-9C52-D89E6D85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2035BF7-6E33-4AC1-96A6-E430CCBB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2/3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86860B3C-DAC5-4635-A08E-71E784D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A7D58A9-D819-4CA9-BF40-507F9FCF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31 / 33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8DE3C-A5D0-4141-8489-C6943A25905E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05150"/>
                <a:gridCol w="7715250"/>
              </a:tblGrid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IE4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Gainbegiratu gabeko ikaskuntza ezaugarritzea eta aplikatzea. 16.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IE6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Egokitasuna eta ebaluazio praktikoa. 18.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Programazioa · IE1 b,e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Programazio-lengoaia eta programaren egitura. 7.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Programazioa · IE2 c,d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Aplikazioa definitu eta inplementatzea. 19.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IE1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IE1/b → 11. diapositiba; IE1/c → 6. diapositiba. Exekuzioa oraindik frogatu gabe.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IE2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Grafikoak sailkatzea eta helburuekin lotzea. 21.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2815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886B3951-6417-43A2-A68E-C5C61437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065A995E-D5DD-4956-A305-A037B22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C228DC9D-9D30-452D-8C7F-FEAD0EB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3/3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4916069-AC9C-4B3B-929F-9FEDDF4B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BEC9CB2B-B899-475F-9893-5AFC3F26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32 / 33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EC6C4-6A9F-485C-8F83-5984DBBD6DB8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05150"/>
                <a:gridCol w="7715250"/>
              </a:tblGrid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IE3 a,d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Datuen erauzketa, biltegiratzea eta segurtasuna. 10.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IE4 e,f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Prozesamendu automatikoa eta bistaratzea. 20.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IE1 b,d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IE1/b → 8. diapositiba; IE1/d → 11. diapositiba. Integrazioa egiteko dago.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IE3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Kalitatea eta osotasun-arriskuak datuak banatzean. 22.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IE5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IE5/a → 6. diapositiba; IE5/b → 12. diapositiba. Baliozkotzea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9687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E2C8A06-F80F-4336-907B-04BC788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B90F4623-15EA-492F-91F7-64985594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iturriak eta mugak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9500974-F303-4191-B474-6DCF0B5B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Proposamenaren trazabilitatea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F221B593-41E1-4DA7-848E-F703E7DB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657C0511-307F-4687-9D81-01F34F7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33 / 33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770C69AF-0B18-44F5-9F1F-7CC8F35B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Enuntziatua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F320E685-384B-4F8B-BB55-64CCC6AE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1Erronka_ikaslearen_txostena.docx.pdf: 2.–7. orrialdeak, testuingurua eta irizpideak; 8.–13. orrialdeak, taldea, ebaluazioa eta plangintza.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BEE3C8A-272C-403E-B135-9A970EB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Ikastaroko materialak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CCB6E984-EF4B-4BB0-B9DA-600FADC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AA: kontzeptuak/logika lausoa/etika. ML: sarrera, ereduak eta baliozkotzea. Programazioa: datuak, APIa eta Streamlit. Big Data: ingeniaritza/Elastic. NiFi eta Kafka: praktikak.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B339FF89-4295-47F3-B547-F4C7FDCE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Iturrien bereizketa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DB479638-D7FF-4903-874E-C9392C78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Diapositibetako oharrek tokiko fitxategiak eta kanpoko iturri nagusiak aipatzen dituzte. Prototipoaren READMEak egungo egoera azaltzen du; ez da irakasmaterialaren autoritate nagusia.</a:t>
            </a:r>
          </a:p>
        </p:txBody>
      </p:sp>
    </p:spTree>
    <p:extLst>
      <p:ext uri="{BB962C8B-B14F-4D97-AF65-F5344CB8AC3E}">
        <p14:creationId xmlns:p14="http://schemas.microsoft.com/office/powerpoint/2010/main" val="1454062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2026-10-13T18:12:05.4490000Z</dcterms:created>
  <dcterms:modified xsi:type="dcterms:W3CDTF">2026-10-13T18:12:05.4490000Z</dcterms:modified>
</coreProperties>
</file>