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horizonte se propone para disponer de un turno de planificación; debe contrastarse con mantenimiento antes de usarlo en planta. Datos sintéticos/AI4I no demuestran utilidad industrial.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Jupyter se usa para análisis y entrenamiento; Git y Docker Compose para reproducir el laboratorio. No hay una selección pendiente de bases de datos, paneles o modelos principales.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elección se apoya en adecuación funcional y materia docente; no se presenta Random Forest como ganador de una comparación todavía no ejecutada.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Demostración propuesta: telemetría sintética → Kafka → NiFi (validación, histórico e InvokeHTTP) → FastAPI /predict → Elasticsearch/Kibana. Random Forest se entrena offline. Parquet/DuckDB queda para análisis histórico. Aún no hay prueba integrada.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Entradas de laboratorio: archivos locales. CSV de mantenimiento y logs podrán ser sintéticos para demostrar integración, pero no se usarán para afirmar capacidad industrial. No se despliega MariaDB ni MongoDB.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y scikit-learn preparan y entrenan el modelo offline. FastAPI expone /health y /predict; NiFi llama por InvokeHTTP. Se mantiene el entorno uv bloqueado. No existe un consumidor Kafka independiente para inferencia.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nombres concretos de procesador Kafka/Record deben ajustarse a la versión instalada. Documentación primaria: https://nifi.apache.org/nifi-docs/user-guide.html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Laboratorio con un broker; demostrar consumo, relectura y reinicio, sin afirmar alta disponibilidad. Documentación: https://kafka.apache.org/documentation/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90 días es un supuesto de proyecto, no una obligación docente ni prueba de suficiencia estadística. No borrar datasets de evaluación para aplicar una retención automática en el laboratorio.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 primaria: https://duckdb.org/docs/stable/data/parquet/overview . Spark queda solo como alternativa de escalado si las medidas lo justifican.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 y 24 h son decisiones iniciales de la propuesta. Si no hay timestamps longitudinales reales, usar variables del instante y etiqueta de estado, declarando que la prueba no valida este horizonte.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caracterizan las familias para justificar la elección. Random Forest no es un modelo conexionista; no se confunde grado de pertenencia difusa con probabilidad.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prototipo anterior contiene Mamdani; no se incorpora al nuevo servicio. Sus resultados históricos no acreditan el rendimiento de Random Forest.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puntuación predict_proba se trata como score de riesgo: no afirmar calibración probabilística sin evaluarla. No hay rendimiento medido en esta revisión.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Fuente: https://scikit-learn.org/stable/modules/generated/sklearn.ensemble.IsolationForest.html . Sin verdad de referencia o revisión humana, solo se verifica que puntúa rareza, no que identifica averías.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AND del prototipo anterior se abandona en esta propuesta porque podría vetar fallos detectados por el modelo supervisado. Las políticas de agrupación deben probarse y documentarse.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logística es referencia de evaluación, no una alternativa pendiente para el servicio. El máximo F1 no es por sí solo una política industrial óptima; la aceptación de negocio necesita costes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FastAPI forma parte explícita de la arquitectura. NiFi consume Kafka y llama a /predict con InvokeHTTP; no hay consumidor Python separado. Medir reintentos, latencia, cold start y rechazos 422/5xx antes de declarar funcionamiento integrado.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días es una propuesta inicial a dimensionar. Kibana consulta Elasticsearch; no consume Kafka directamente. No se instala un segundo panel en Streamlit/Grafana.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Series para evolución, barras para ranking, dispersión para relaciones, tabla para trazabilidad y matriz para errores. Se justifican los gráficos según datos y objetivo; no hay capturas ficticias.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conectar a maquinaria sin un diseño OT específico y autorización. La clasificación normativa es contextual; el informe analiza riesgos, no certifica cumplimiento legal.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Hz, 200 bytes y 90 días son hipótesis del proyecto. No incluyen réplicas, logs de servicios ni archivos originales. Confirmar almacenamiento disponible antes de generar la carga completa.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Alternativas resumidas en esta única diapositiva. Fuentes externas: https://docs.influxdata.com/influxdb/cloud/get-started/ ; https://opcfoundation.org/about/opc-technologies/opc-ua/ ; https://reference.opcfoundation.org/specs/OPC-10000-14/7.3.4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diapositiva define una entrega pendiente; no afirma que ya se haya entrenado o entregado 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demostración es local/simulada. No equivale a despliegue en planta, alta disponibilidad o validación de predicción a 24 horas.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Estado documentado por el README, no validación ejecutada hoy. La presentación prepara el trabajo; no modifica ni declara completado el software existente.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enunciado da 11 semanas. El equipo debe poner nombres y fechas reales; estos roles y hitos son propuesta, no entregas Moodle realizadas.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propuesta está cerrada. Las alternativas del anexo no dejan decisiones abiertas en la primera versión.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Referencias por número de diapositiva. La correspondencia explica cobertura del diseño, no acredita todavía el cumplimiento mediante ejecución.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Referencias por número de diapositiva. La correspondencia explica cobertura del diseño, no acredita todavía el cumplimiento mediante ejecución.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Referencias por número de diapositiva. La correspondencia explica cobertura del diseño, no acredita todavía el cumplimiento mediante ejecución.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informe TRAZABILIDAD.md contiene criterios rojos originales, mapa de tecnologías, alcance del corpus; los hashes están en fuentes_manifest.json. No se descargaron contenidos nuevos de los enlaces Moodle/Drive en esta revisión.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PROPUESTA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CNC_Guard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CNC Guard: propuesta de análisis y alertas industriales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679700"/>
            <a:ext cx="3505200" cy="33528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679700"/>
            <a:ext cx="50800" cy="33528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8067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Elección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276600"/>
            <a:ext cx="3098800" cy="2552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Kafka recibe telemetría sintética → NiFi valida y transforma → FastAPI sirve Random Forest → Elasticsearch indexa → Kibana visualiza.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679700"/>
            <a:ext cx="3505200" cy="33528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679700"/>
            <a:ext cx="50800" cy="33528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8067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Histórico y anomalías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3276600"/>
            <a:ext cx="3098800" cy="2552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Parquet + DuckDB para preparar datos; Isolation Forest como detector auxiliar de anomalías.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679700"/>
            <a:ext cx="3505200" cy="33528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679700"/>
            <a:ext cx="50800" cy="33528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8067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Compromiso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3276600"/>
            <a:ext cx="3098800" cy="2552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Construir y validar esta arquitectura con el stack del curso. Las alternativas se explican al final y no forman parte del despliegue propuesto.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DISEÑO Y ALCANCE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01 / 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PROPUESTA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Objetivo y alcance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Predecir riesgo de fallo a 24 horas como hipótesis de diseño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Negocio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50 CNC en Bilbao; el enunciado estima 1.200 €/hora de parada. La salida apoya la planificación de inspecciones.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Objetivo elegido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Para cada máquina y momento t: estimar fallo en las siguientes 24 horas con variables conocidas hasta t. Las 24 horas son una propuesta, no un requisito del PDF.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Condición de validez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Necesitamos historial longitudinal y averías fechadas. Con AI4I solo demostraremos clasificación de estado; no afirmaremos anticipación de 24 horas.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DISEÑO Y ALCANCE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02 / 33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PROPUESTA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Qué hemos decidido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Una tecnología elegida para cada función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Flujo y servicio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Kafka recibe los eventos y NiFi ejecuta validación, transformación y llamadas HTTP a FastAPI. Random Forest clasifica en un servicio separado.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Datos y consulta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Parquet almacena el histórico; DuckDB consulta y prepara datasets; Elasticsearch indexa resultados; Kibana es el único panel operativo.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Fuera de la primera versión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No desplegamos Streamlit, MongoDB, InfluxDB, Spark, LLM ni actuadores industriales. FastAPI es el scoring; Isolation Forest ayuda en revisión, no veta alertas.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DISEÑO Y ALCANCE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03 / 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PROPUESTA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Por qué esta combinación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Cumplir el reto con tecnologías trabajadas en el curso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Integración y trazabilidad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NiFi y Kafka tienen prácticas del curso; permiten combinar fuentes, observar errores y reproducir eventos.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Modelos tabulares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Random Forest captura interacciones entre temperatura, torque, rpm y desgaste. Isolation Forest cubre el requisito de aprendizaje no supervisado sin exigir etiqueta en cada observación.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Histórico y operación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Parquet/DuckDB sirven al entrenamiento; Elasticsearch/Kibana sirven a consulta y visualización. Cada almacenamiento tiene una función distinta.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DISEÑO Y ALCANCE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04 / 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PROPUESTA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Arquitectura cerrada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El mismo recorrido para la demostración y la operación simulada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CSV sintético → Kafka cnc-telemetry-csv → NiFi; registros inválidos a DLQ por event_id.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Inferencia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NiFi ConvertRecord y validación → InvokeHTTP /predict FastAPI → Elasticsearch y Kibana con niveles de alerta.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Histórico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Histórico Parquet y DuckDB; Random Forest entrenado offline en FastAPI; Isolation Forest como experimento independiente.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Sistemas IE1 b,c · IE3 a,d · Aplicada IE1 b,d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05 / 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PROPUESTA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Fuentes y contrato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Tres entradas fijadas para cubrir la integración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Telemetría 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machine_id, timestamp UTC, temperatura, rpm, torque, desgaste y quality_flag. No se inventa vibración si el dataset no la contiene.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Mantenimiento 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machine_id, fecha de intervención, tipo y fecha de avería. Es la fuente de contexto y de etiqueta futura cuando exista historial válido.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Logs de equipo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Conservar texto original, extraer máquina/fecha/código y asociarlo al contexto temporal. Cada evento lleva event_id y schema_version; entradas inválidas van a rechazo.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Sistemas IE1 c · IE3 a · Aplicada IE5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06 / 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PROPUESTA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Python para todo el procesamiento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Un solo código de preparación e inferencia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Python + NumPy/pandas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Lenguaje elegido en el curso. NumPy realiza cálculo; pandas une tablas y calcula ventanas por máquina con datos del pasado.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scikit-learn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Pipeline de preparación, RandomForestClassifier e IsolationForest. Persistir solo modelos propios y registrar versión, variables y parámetros.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Estructura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Módulos de contratos, preparación, entrenamiento y servicio FastAPI; Jupyter contiene EDA. NiFi consume Kafka y solicita el scoring por HTTP.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Programación IE1 b,e · IE2 c,d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07 / 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PROPUESTA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NiFi: el flujo que construiremos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Validar antes de alimentar modelos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Configuración elegida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ConsumeKafka → ConvertRecord (CSVReader/JSON) → ValidateRecord, todo en laboratorio, nunca en CNC real.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Rutas fijas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Registros válidos → Elasticsearch y POST /predict; inválidos/422 a cuarentena; 5xx a reintentos acotados.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Evidencia requerida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Exportación NiFi, contadores, backpressure, replay y parada/reinicio; integración todavía por demostrar.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Aplicada IE1 b · IE5 b · Sistemas IE1 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08 / 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PROPUESTA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Kafka: topics y consumidores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NiFi consume Kafka y coordina las rutas de salida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Topics elegidos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Topic cnc-telemetry-csv, clave machine_id e identidad SHA-256 event_id por telemetría.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Grupos elegidos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NiFi group cnc-nifi-v1 consume Kafka, guarda telemetría y llama al scoring HTTP.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Garantía que probaremos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Entrega al menos una vez con deduplicación por event_id; sin prometer exactly-once.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Aplicada IE1 b · Sistemas IE3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09 / 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PROPUESTA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Parquet: histórico elegido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Conservar entrenamiento y resultados fuera del índice operativo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Qué guardamos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Telemetría validada y predicciones en conjuntos separados; partición diaria y machine_id como columna. Conservar entradas originales y rechazos para auditoría.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Por qué Parquet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Formato columnar y comprimido tratado en ingeniería de datos. Adecuado para seleccionar columnas y preparar datasets históricos.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Política inicial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Propuesta de retención: 90 días de telemetría para la prueba longitudinal y todas las versiones del dataset evaluado. Dimensionar antes de fijar una política industrial.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Sistemas IE3 a,d · Aplicada IE1 d · IE5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10 / 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PROPUESTA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DuckDB: preparación del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SQL sobre el histórico Parquet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Consultas concretas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Seleccionar rango temporal y máquinas; unir intervenciones; obtener ventanas y preparar las particiones de entrenamiento, validación y test.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Por qué lo elegimos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Está tratado y ejercitado en el curso. Permite filtrar antes de pasar a pandas sin administrar un motor distribuido.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Límite asumido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Ejecuta en una máquina. Medir RAM, tiempo y disco; documentar riesgos de archivos distribuidos y réplicas sin afirmar que este diseño local sea un sistema distribuido.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Sistemas IE1 b · Aplicada IE1 d · IE3 a,b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11 / 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PROPUESTA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Preparación elegida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Ventanas de 5 minutos y etiqueta a 24 horas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Limpieza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Separar errores de sensor de extremos plausibles; preservar flags y originales. Sin interpolación desde el futuro. Los faltantes se imputan con medianas aprendidas en train.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Variables iniciales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Valores actuales de temperatura, rpm, torque y desgaste; media, desviación y tendencia de los últimos 5 minutos por máquina. Ajustar unidades de la fuente.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Etiqueta y separación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y=1 si hay una avería fechada entre t y t+24 h. Excluir muestras sin seguimiento completo del horizonte; impedir que ventanas/etiquetas crucen indebidamente las particiones.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Aplicada IE5 b · Sistemas IE1 c · Programación IE2 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12 / 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PROPUESTA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Tipo de IA elegido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IA débil basada en aprendizaje de datos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IA frente a 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IA incluye razonamiento y aprendizaje. Nuestra aplicación usa ML: aprende de medidas e historial para una tarea definida.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Débil y fuerte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IA débil: tarea específica de riesgo CNC. IA fuerte: inteligencia general capaz de afrontar tareas amplias; no es la capacidad que proponemos ni demostramos.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Clasificación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Random Forest: ML supervisado tabular. Isolation Forest: ML no supervisado. Las reglas/difusa son IA simbólica y las redes neuronales son conexionistas; no se despliegan en esta propuesta.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AA IE1 a,c · IE2 b,g · ML IE1 a,b · IE2 b,c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13 / 33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PROPUESTA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Reglas para calidad y revisión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Reglas deterministas, sin motor difuso adicional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Reglas que sí usamos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Timestamp inválido, unidad desconocida o campo obligatorio ausente → rechazo. Dato demasiado antiguo → estado “sin dato actual”, nunca máquina sana por defecto.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Razón de la elección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Las reglas controlan el contrato del dato. Random Forest aprende relaciones con la etiqueta; Isolation Forest señala rareza. No necesitamos un tercer motor de riesgo para cubrir la propuesta.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Relación con la clase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La lógica difusa es una técnica pertinente y explicable, pero sus reglas y pertenencias añadirían una calibración que no requiere el núcleo elegido.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AA IE1 c · IE2 b,g · ML IE6 a,b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14 / 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PROPUESTA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Random Forest: modelo principal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La alerta de riesgo sale de un único modelo supervisado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Qué aprende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Relación no lineal entre condiciones de funcionamiento, variables temporales y fallo dentro del horizonte. Usa etiquetas de avería cuando sean válidas.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Configuración inicial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200 árboles, max_depth=12, min_samples_leaf=5, class_weight=balanced y random_state=42. Son parámetros iniciales; la validación decide ajustes acotados.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Por qué lo elegimos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Modelo tabular desarrollado en el curso; maneja interacciones y no exige escalado como KNN/SVM. Registrar importancia de variables sin interpretarla como causalidad.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ML IE3 c,f · IE6 a,b · Programación IE2 c,d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15 / 33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PROPUESTA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Isolation Forest: detector auxiliar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Las anomalías generan revisión, no una segunda decisión de fallo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Datos y ejecución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Entrenar con funcionamiento considerado normal cuando ese historial exista; aplicar a las mismas variables disponibles en inferencia, sin usar etiquetas futuras.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Configuración inicial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200 árboles, max_samples=256 y random_state=42. Guardar score; seleccionar umbral en validación y registrar alertas revisadas.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Función delimitada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Detectar patrones raros o regímenes nuevos. Una anomalía abre revisión técnica; no equivale a avería y no cancela la alerta supervisada.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ML IE4 b,c · IE6 a,b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16 / 33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PROPUESTA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Política de alertas elegida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Dos clases de aviso, sin consenso 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Riesgo de fallo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Random Forest ≥ umbral validado → aviso de inspección planificable. Mostrar máquina, instante, horizonte y versión.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Anomalía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Isolation Forest supera su umbral → aviso de revisión de condición/dato, separado del riesgo supervisado. Mostrar score y motivo disponible.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Operación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Agrupar avisos persistentes por máquina para evitar repetir muestras como incidentes. El técnico confirma, descarta o programa; ninguna salida detiene físicamente una CNC.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AA IE2 g · ML IE6 a,b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17 / 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PROPUESTA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Validación que aplicaremos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Mismo problema, particiones y preparación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Particiones elegidas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Historial real: 70% inicial train, 15% siguiente validation y 15% final test, con separación que evite fuga entre ventanas y horizonte. Registrar fechas y máquinas.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Umbral elegido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Elegir en validation el umbral que maximice F1 como criterio académico inicial. Informar recall, precision, falsos negativos y coste; no usar test para reajustar.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Prueba final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Evaluar una vez en test: matriz de confusión, F1, recall, antelación y falsas alarmas por máquina/día. Comparar con “sin fallo” y referencia logística, sin cambiar el modelo desplegado.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ML IE3 c,f · IE6 a,b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18 / 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PROPUESTA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FastAPI: servicio de inferencia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Un modelo cargado una vez y consultado por NiFi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Al iniciar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FastAPI /health carga una sola vez el modelo propio con schema verificado y acceso local.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Por cada evento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NiFi InvokeHTTP /predict con sensores e historia causal de cada máquina; devuelve fallo, probabilidad y nivel.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Errores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422 a cuarentena, 5xx con reintentos limitados, cold start explícito y sin actuar sobre maquinaria.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Programación IE2 c,d · ML IE3 f · Sistemas IE4 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19 / 33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PROPUESTA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Elasticsearch y Kibana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Una base de consulta y un único panel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Elasticsearch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Índice de predicciones con timestamp date, machine_id keyword, scores numéricos, calidad y model_version. Usar event_id como identificador para reintentos idempotentes.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Kibana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Data view sobre predicciones; filtros por máquina, fecha y tipo de aviso. Series temporales, ranking de avisos y vista de registros para investigar.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Por qué esta elección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Stack desarrollado en el curso: integra búsqueda, agregaciones y visualización. Retener inicialmente 30 días de resultados operativos; el histórico completo va a Parquet.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Sistemas IE2 a,b · IE4 e,f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20 / 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PROPUESTA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Panel que construiremos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Preguntas operativas para mantenimiento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Estado y evolución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Serie de temperatura/torque y riesgo por máquina; marcar intervenciones y huecos. ¿Cómo ha cambiado la condición?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Avisos pendientes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Ranking de máquinas por aviso de riesgo; lista separada de anomalías. ¿Qué inspeccionamos y qué dato necesitamos revisar?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Calidad y evaluación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Edad del último dato, rechazados y retraso; dispersión rpm–torque para contexto. Mostrar matriz de confusión y alertas confirmadas en la vista de evaluación.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Sistemas IE2 a,b · IE4 f · ML IE6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21 / 33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PROPUESTA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Seguridad e integridad del diseño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Una versión local reproducible antes de cualquier conexión OT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Datos íntegros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Esquema y hashes de archivos; recuentos de ingesta/archivo/indexación; idempotencia por event_id. Probar duplicados, recuperación y corrupción detectable.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Laboratorio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Docker Compose local para NiFi, Kafka, Elasticsearch y Kibana. Volúmenes separados; acceso limitado al host. Un host único no aporta alta disponibilidad real.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Riesgos humanos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No incluir identificadores de operarios innecesarios; acceso y retención definidos. Analizar daño de falsas alarmas y fallos omitidos y sesgos por régimen/tipo de máquina.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AA IE6 a,b · Sistemas IE3 d · Aplicada IE3 a,b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22 / 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PROPUESTA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Dimensionamiento inicial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Supuestos concretos para medir la propuesta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Carga de laboratorio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Simular 50 máquinas a 1 registro/s: 4,32 millones de eventos/día. A 200 bytes/evento son 864 MB/día sin overhead; 90 días: 77,76 GB sin compresión.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Pruebas de capacidad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Medir throughput, latencia de inferencia, lag de consumidores, RAM y disco. Registrar compresión de Parquet y tamaño real de índices; no extrapolar desde una muestra sin medir.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Coste y valor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Horas evitadas × 1.200 € menos falsas alarmas, inspecciones e infraestructura. La presentación no atribuye ahorro real ni rendimiento industrial a la simulación.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DISEÑO Y ALCANCE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23 / 33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PROPUESTA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2800" b="1">
                <a:solidFill>
                  <a:srgbClr val="F5F8FC"/>
                </a:solidFill>
                <a:latin typeface="DejaVu Sans"/>
              </a:defRPr>
            </a:pPr>
            <a:r>
              <a:t>Alternativas viables: solo si cambia la necesidad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No forman parte de la primera versión elegida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Datos y panel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InfluxDB/TimescaleDB + Grafana si predomina telemetría temporal; MongoDB si el documento heterogéneo es central. Ambos casos implican revisar el panel Kibana elegido.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Modelo y escala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Boosting si aporta mejora reproducible frente a Random Forest; Spark si una máquina incumple capacidad/tiempo. No se introducen sin esa evidencia.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Conexión industrial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OPC UA/MQTT para una CNC/gateway compatible: extensiones externas no encontradas en el curso local. Requieren pruebas autorizadas; el laboratorio continúa con archivos.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DISEÑO Y ALCANCE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24 / 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PROPUESTA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Primera entrega: datos y entrenamiento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Construir primero un modelo reproducible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Artefactos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Contrato JSON, entradas con procedencia, dataset Parquet y consulta DuckDB; notebook EDA y módulos de preparación/entrenamiento.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Modelos elegidos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Random Forest e Isolation Forest propios, artefactos con hash y parámetros. Informe de particiones y comparación con referencias, sin declarar un ganador industrial.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Aceptación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Código reproducible, sin fuga demostrada, métricas y errores explicados. Si solo hay AI4I/sintéticos, etiquetar expresamente la entrega como prueba de estado y pipeline.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DISEÑO Y ALCANCE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25 / 33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PROPUESTA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Segunda entrega: recorrido completo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Demostrar recuperación y visualización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Artefactos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Process group NiFi exportado, topics y grupo consumidor Kafka, servicio FastAPI, mappings Elasticsearch y dashboard Kibana reproducibles.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Prueba normal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Una entrada válida produce registro histórico, predicción y visualización con el mismo event_id y versión. Medir tiempos en cada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Prueba de fallo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Campo inválido, mensaje duplicado, reinicio de consumidor y destino temporalmente caído. Comprobar rechazo, idempotencia, relectura y ausencia de pérdida explicada.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DISEÑO Y ALCANCE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26 / 33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PROPUESTA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Punto de partida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Reutilizar infraestructura de análisis, cambiar el núcleo de decisión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Disponible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El prototipo Mamdani + Isolation Forest sigue como comparación. En el PR hay código Random Forest y API con tests aislados; el recorrido completo todavía no está probado.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Cambio decidido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Random Forest será el modelo principal; Isolation Forest será auxiliar y separado. Eliminar AND del servicio nuevo; conservar el prototipo anterior como referencia histórica.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Pendiente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Falta evaluar datos longitudinales y ejecutar Kafka → NiFi → FastAPI → Elasticsearch/Kibana. No reutilizar métricas antiguas como rendimiento de la nueva versión.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DISEÑO Y ALCANCE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27 / 33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PROPUESTA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Plan de construcción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Tres hitos y responsables por función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Hito 1: dato y modelo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Ingeniería prepara contratos, histórico y calidad; modelado prepara etiquetas, particiones, Random Forest e Isolation Forest.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Hito 2: integración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Integración configura Kafka y NiFi → FastAPI; visualización prepara índices y Kibana. Toda la cadena debe conservar event_id para auditoría.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Hito 3: defensa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Informe con criterios rojos, métricas, riesgos, coste y límites; ANEXO4 con esta propuesta y ANEXO1 con roles, acuerdos y seguimiento.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DISEÑO Y ALCANCE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28 / 33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PROPUESTA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Propuesta que defenderemos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Una arquitectura, un modelo principal y un panel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Compromiso técnico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Kafka → NiFi → FastAPI (Python/scikit-learn, Random Forest) → Elasticsearch/Kibana. Isolation Forest queda auxiliar y Parquet/DuckDB para análisis.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Resultado esperado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Avisos trazables por máquina con instante, horizonte, calidad y versión; histórico reproducible y evidencia de evaluación e integración.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Límite de la defensa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Cobertura docente por diapositiva, implementación y evidencias separadas. La anticipación de averías necesita datos longitudinales y validación propia.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DISEÑO Y ALCANCE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29 / 33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PROPUESTA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Anexo · cobertura de criterios rojos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Correspondencia exacta: bloque 1 de 3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5359400" cy="1130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1130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7400" y="2362200"/>
            <a:ext cx="5054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150" b="1">
                <a:solidFill>
                  <a:srgbClr val="55E3C5"/>
                </a:solidFill>
                <a:latin typeface="DejaVu Sans"/>
              </a:defRPr>
            </a:pPr>
            <a:r>
              <a:t>AA · IE1 a,c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400" y="2603500"/>
            <a:ext cx="5054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250" b="0">
                <a:solidFill>
                  <a:srgbClr val="F5F8FC"/>
                </a:solidFill>
                <a:latin typeface="DejaVu Sans"/>
              </a:defRPr>
            </a:pPr>
            <a:r>
              <a:t>Principios y técnicas de IA. Diapositiva 13. Evidencia de ejecución pendiente cuando corresponda.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7600" y="2235200"/>
            <a:ext cx="5359400" cy="1130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7600" y="2235200"/>
            <a:ext cx="50800" cy="1130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0" y="2362200"/>
            <a:ext cx="5054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150" b="1">
                <a:solidFill>
                  <a:srgbClr val="59BDF2"/>
                </a:solidFill>
                <a:latin typeface="DejaVu Sans"/>
              </a:defRPr>
            </a:pPr>
            <a:r>
              <a:t>AA · IE2 b,g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0" y="2603500"/>
            <a:ext cx="5054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250" b="0">
                <a:solidFill>
                  <a:srgbClr val="F5F8FC"/>
                </a:solidFill>
                <a:latin typeface="DejaVu Sans"/>
              </a:defRPr>
            </a:pPr>
            <a:r>
              <a:t>Clasificación y adecuación de modelos. Diapositiva 13. Evidencia de ejecución pendiente cuando corresponda.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" y="3568700"/>
            <a:ext cx="5359400" cy="1130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568700"/>
            <a:ext cx="50800" cy="1130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400" y="3695700"/>
            <a:ext cx="5054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150" b="1">
                <a:solidFill>
                  <a:srgbClr val="EABD66"/>
                </a:solidFill>
                <a:latin typeface="DejaVu Sans"/>
              </a:defRPr>
            </a:pPr>
            <a:r>
              <a:t>AA · IE6 a,b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400" y="3937000"/>
            <a:ext cx="5054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250" b="0">
                <a:solidFill>
                  <a:srgbClr val="F5F8FC"/>
                </a:solidFill>
                <a:latin typeface="DejaVu Sans"/>
              </a:defRPr>
            </a:pPr>
            <a:r>
              <a:t>Riesgos y privacidad. Diapositiva 22. Evidencia de ejecución pendiente cuando corresponda.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7600" y="3568700"/>
            <a:ext cx="5359400" cy="1130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7600" y="3568700"/>
            <a:ext cx="50800" cy="1130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0" y="3695700"/>
            <a:ext cx="5054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150" b="1">
                <a:solidFill>
                  <a:srgbClr val="55E3C5"/>
                </a:solidFill>
                <a:latin typeface="DejaVu Sans"/>
              </a:defRPr>
            </a:pPr>
            <a:r>
              <a:t>ML · IE1 a,b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0" y="3937000"/>
            <a:ext cx="5054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250" b="0">
                <a:solidFill>
                  <a:srgbClr val="F5F8FC"/>
                </a:solidFill>
                <a:latin typeface="DejaVu Sans"/>
              </a:defRPr>
            </a:pPr>
            <a:r>
              <a:t>IA débil/fuerte y relación IA–ML. Diapositiva 13. Evidencia de ejecución pendiente cuando corresponda.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000" y="4902200"/>
            <a:ext cx="5359400" cy="1130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902200"/>
            <a:ext cx="50800" cy="1130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400" y="5029200"/>
            <a:ext cx="5054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150" b="1">
                <a:solidFill>
                  <a:srgbClr val="59BDF2"/>
                </a:solidFill>
                <a:latin typeface="DejaVu Sans"/>
              </a:defRPr>
            </a:pPr>
            <a:r>
              <a:t>ML · IE2 b,c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7400" y="5270500"/>
            <a:ext cx="5054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250" b="0">
                <a:solidFill>
                  <a:srgbClr val="F5F8FC"/>
                </a:solidFill>
                <a:latin typeface="DejaVu Sans"/>
              </a:defRPr>
            </a:pPr>
            <a:r>
              <a:t>Tipos, usos, técnicas y herramientas ML. Diapositiva 13. Evidencia de ejecución pendiente cuando corresponda.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4902200"/>
            <a:ext cx="5359400" cy="1130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7600" y="4902200"/>
            <a:ext cx="50800" cy="1130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0000" y="5029200"/>
            <a:ext cx="5054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150" b="1">
                <a:solidFill>
                  <a:srgbClr val="EABD66"/>
                </a:solidFill>
                <a:latin typeface="DejaVu Sans"/>
              </a:defRPr>
            </a:pPr>
            <a:r>
              <a:t>ML · IE3 c,f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0000" y="5270500"/>
            <a:ext cx="5054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250" b="0">
                <a:solidFill>
                  <a:srgbClr val="F5F8FC"/>
                </a:solidFill>
                <a:latin typeface="DejaVu Sans"/>
              </a:defRPr>
            </a:pPr>
            <a:r>
              <a:t>Entrenamiento y predicción nueva. Diapositiva 15. Evidencia de ejecución pendiente cuando corresponda.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Todos los criterios de este anexo son obligatorios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30 / 33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PROPUESTA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Anexo · cobertura de criterios rojos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Correspondencia exacta: bloque 2 de 3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5359400" cy="1130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1130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7400" y="2362200"/>
            <a:ext cx="5054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150" b="1">
                <a:solidFill>
                  <a:srgbClr val="55E3C5"/>
                </a:solidFill>
                <a:latin typeface="DejaVu Sans"/>
              </a:defRPr>
            </a:pPr>
            <a:r>
              <a:t>ML · IE4 b,c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400" y="2603500"/>
            <a:ext cx="5054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250" b="0">
                <a:solidFill>
                  <a:srgbClr val="F5F8FC"/>
                </a:solidFill>
                <a:latin typeface="DejaVu Sans"/>
              </a:defRPr>
            </a:pPr>
            <a:r>
              <a:t>Caracterización y aplicación no supervisada. Diapositiva 16. Evidencia de ejecución pendiente cuando corresponda.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7600" y="2235200"/>
            <a:ext cx="5359400" cy="1130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7600" y="2235200"/>
            <a:ext cx="50800" cy="1130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0" y="2362200"/>
            <a:ext cx="5054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150" b="1">
                <a:solidFill>
                  <a:srgbClr val="59BDF2"/>
                </a:solidFill>
                <a:latin typeface="DejaVu Sans"/>
              </a:defRPr>
            </a:pPr>
            <a:r>
              <a:t>ML · IE6 a,b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0" y="2603500"/>
            <a:ext cx="5054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250" b="0">
                <a:solidFill>
                  <a:srgbClr val="F5F8FC"/>
                </a:solidFill>
                <a:latin typeface="DejaVu Sans"/>
              </a:defRPr>
            </a:pPr>
            <a:r>
              <a:t>Idoneidad y evaluación práctica. Diapositiva 18. Evidencia de ejecución pendiente cuando corresponda.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" y="3568700"/>
            <a:ext cx="5359400" cy="1130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568700"/>
            <a:ext cx="50800" cy="1130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400" y="3695700"/>
            <a:ext cx="5054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150" b="1">
                <a:solidFill>
                  <a:srgbClr val="EABD66"/>
                </a:solidFill>
                <a:latin typeface="DejaVu Sans"/>
              </a:defRPr>
            </a:pPr>
            <a:r>
              <a:t>Programación · IE1 b,e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400" y="3937000"/>
            <a:ext cx="5054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250" b="0">
                <a:solidFill>
                  <a:srgbClr val="F5F8FC"/>
                </a:solidFill>
                <a:latin typeface="DejaVu Sans"/>
              </a:defRPr>
            </a:pPr>
            <a:r>
              <a:t>Lenguaje y estructura del programa. Diapositiva 7. Evidencia de ejecución pendiente cuando corresponda.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7600" y="3568700"/>
            <a:ext cx="5359400" cy="1130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7600" y="3568700"/>
            <a:ext cx="50800" cy="1130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0" y="3695700"/>
            <a:ext cx="5054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150" b="1">
                <a:solidFill>
                  <a:srgbClr val="55E3C5"/>
                </a:solidFill>
                <a:latin typeface="DejaVu Sans"/>
              </a:defRPr>
            </a:pPr>
            <a:r>
              <a:t>Programación · IE2 c,d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0" y="3937000"/>
            <a:ext cx="5054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250" b="0">
                <a:solidFill>
                  <a:srgbClr val="F5F8FC"/>
                </a:solidFill>
                <a:latin typeface="DejaVu Sans"/>
              </a:defRPr>
            </a:pPr>
            <a:r>
              <a:t>Definición e implementación de la aplicación. Diapositiva 19. Evidencia de ejecución pendiente cuando corresponda.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000" y="4902200"/>
            <a:ext cx="5359400" cy="1130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902200"/>
            <a:ext cx="50800" cy="1130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400" y="5029200"/>
            <a:ext cx="5054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150" b="1">
                <a:solidFill>
                  <a:srgbClr val="59BDF2"/>
                </a:solidFill>
                <a:latin typeface="DejaVu Sans"/>
              </a:defRPr>
            </a:pPr>
            <a:r>
              <a:t>Sistemas Big Data · IE1 b,c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7400" y="5270500"/>
            <a:ext cx="5054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250" b="0">
                <a:solidFill>
                  <a:srgbClr val="F5F8FC"/>
                </a:solidFill>
                <a:latin typeface="DejaVu Sans"/>
              </a:defRPr>
            </a:pPr>
            <a:r>
              <a:t>IE1/b → diapositiva 11; IE1/c → diapositiva 6. La ejecución sigue pendiente.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4902200"/>
            <a:ext cx="5359400" cy="1130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7600" y="4902200"/>
            <a:ext cx="50800" cy="1130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0000" y="5029200"/>
            <a:ext cx="5054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150" b="1">
                <a:solidFill>
                  <a:srgbClr val="EABD66"/>
                </a:solidFill>
                <a:latin typeface="DejaVu Sans"/>
              </a:defRPr>
            </a:pPr>
            <a:r>
              <a:t>Sistemas Big Data · IE2 a,b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0000" y="5270500"/>
            <a:ext cx="5054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250" b="0">
                <a:solidFill>
                  <a:srgbClr val="F5F8FC"/>
                </a:solidFill>
                <a:latin typeface="DejaVu Sans"/>
              </a:defRPr>
            </a:pPr>
            <a:r>
              <a:t>Clasificar gráficos y relacionarlos con objetivo/datos. Diapositiva 21. Evidencia de ejecución pendiente cuando corresponda.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Todos los criterios de este anexo son obligatorios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31 / 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PROPUESTA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Anexo · cobertura de criterios rojos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Correspondencia exacta: bloque 3 de 3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5359400" cy="1130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1130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7400" y="2362200"/>
            <a:ext cx="5054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150" b="1">
                <a:solidFill>
                  <a:srgbClr val="55E3C5"/>
                </a:solidFill>
                <a:latin typeface="DejaVu Sans"/>
              </a:defRPr>
            </a:pPr>
            <a:r>
              <a:t>Sistemas Big Data · IE3 a,d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400" y="2603500"/>
            <a:ext cx="5054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250" b="0">
                <a:solidFill>
                  <a:srgbClr val="F5F8FC"/>
                </a:solidFill>
                <a:latin typeface="DejaVu Sans"/>
              </a:defRPr>
            </a:pPr>
            <a:r>
              <a:t>Extracción, almacenamiento y seguridad. Diapositiva 10. Evidencia de ejecución pendiente cuando corresponda.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7600" y="2235200"/>
            <a:ext cx="5359400" cy="1130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7600" y="2235200"/>
            <a:ext cx="50800" cy="1130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0" y="2362200"/>
            <a:ext cx="5054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150" b="1">
                <a:solidFill>
                  <a:srgbClr val="59BDF2"/>
                </a:solidFill>
                <a:latin typeface="DejaVu Sans"/>
              </a:defRPr>
            </a:pPr>
            <a:r>
              <a:t>Sistemas Big Data · IE4 e,f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0" y="2603500"/>
            <a:ext cx="5054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250" b="0">
                <a:solidFill>
                  <a:srgbClr val="F5F8FC"/>
                </a:solidFill>
                <a:latin typeface="DejaVu Sans"/>
              </a:defRPr>
            </a:pPr>
            <a:r>
              <a:t>Procesamiento automático y visualización. Diapositiva 20. Evidencia de ejecución pendiente cuando corresponda.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" y="3568700"/>
            <a:ext cx="5359400" cy="1130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568700"/>
            <a:ext cx="50800" cy="1130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400" y="3695700"/>
            <a:ext cx="5054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150" b="1">
                <a:solidFill>
                  <a:srgbClr val="EABD66"/>
                </a:solidFill>
                <a:latin typeface="DejaVu Sans"/>
              </a:defRPr>
            </a:pPr>
            <a:r>
              <a:t>Big Data aplicada · IE1 b,d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400" y="3937000"/>
            <a:ext cx="5054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250" b="0">
                <a:solidFill>
                  <a:srgbClr val="F5F8FC"/>
                </a:solidFill>
                <a:latin typeface="DejaVu Sans"/>
              </a:defRPr>
            </a:pPr>
            <a:r>
              <a:t>IE1/b → diapositiva 8; IE1/d → diapositiva 11. Integración pendiente.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7600" y="3568700"/>
            <a:ext cx="5359400" cy="1130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7600" y="3568700"/>
            <a:ext cx="50800" cy="1130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0" y="3695700"/>
            <a:ext cx="5054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150" b="1">
                <a:solidFill>
                  <a:srgbClr val="55E3C5"/>
                </a:solidFill>
                <a:latin typeface="DejaVu Sans"/>
              </a:defRPr>
            </a:pPr>
            <a:r>
              <a:t>Big Data aplicada · IE3 a,b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0" y="3937000"/>
            <a:ext cx="5054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250" b="0">
                <a:solidFill>
                  <a:srgbClr val="F5F8FC"/>
                </a:solidFill>
                <a:latin typeface="DejaVu Sans"/>
              </a:defRPr>
            </a:pPr>
            <a:r>
              <a:t>Calidad y riesgos de integridad al distribuir. Diapositiva 22. Evidencia de ejecución pendiente cuando corresponda.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000" y="4902200"/>
            <a:ext cx="5359400" cy="1130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902200"/>
            <a:ext cx="50800" cy="1130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400" y="5029200"/>
            <a:ext cx="50546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150" b="1">
                <a:solidFill>
                  <a:srgbClr val="59BDF2"/>
                </a:solidFill>
                <a:latin typeface="DejaVu Sans"/>
              </a:defRPr>
            </a:pPr>
            <a:r>
              <a:t>Big Data aplicada · IE5 a,b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7400" y="5270500"/>
            <a:ext cx="50546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250" b="0">
                <a:solidFill>
                  <a:srgbClr val="F5F8FC"/>
                </a:solidFill>
                <a:latin typeface="DejaVu Sans"/>
              </a:defRPr>
            </a:pPr>
            <a:r>
              <a:t>IE5/a → diapositiva 6; IE5/b → diapositiva 12. Validación pendiente.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Todos los criterios de este anexo son obligatorios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32 / 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2540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55E3C5"/>
                </a:solidFill>
                <a:latin typeface="DejaVu Sans"/>
              </a:defRPr>
            </a:pPr>
            <a:r>
              <a:t>CNC GUARD / PROPUESTA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985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3300" b="1">
                <a:solidFill>
                  <a:srgbClr val="F5F8FC"/>
                </a:solidFill>
                <a:latin typeface="DejaVu Sans"/>
              </a:defRPr>
            </a:pPr>
            <a:r>
              <a:t>Anexo · fuentes y límites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447800"/>
            <a:ext cx="108585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B5C8DB"/>
                </a:solidFill>
                <a:latin typeface="DejaVu Sans"/>
              </a:defRPr>
            </a:pPr>
            <a:r>
              <a:t>Trazabilidad de la propuesta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06600"/>
            <a:ext cx="10922000" cy="3175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0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2235200"/>
            <a:ext cx="50800" cy="3797300"/>
          </a:xfrm>
          <a:prstGeom prst="rect">
            <a:avLst/>
          </a:prstGeom>
          <a:solidFill>
            <a:srgbClr val="55E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5E3C5"/>
                </a:solidFill>
                <a:latin typeface="DejaVu Sans"/>
              </a:defRPr>
            </a:pPr>
            <a:r>
              <a:t>Enunciado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1Erronka_ikaslearen_txostena.docx.pdf, pp. 2–7: contexto y criterios; pp. 8–13: equipo, evaluación y planificación.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35200"/>
            <a:ext cx="50800" cy="3797300"/>
          </a:xfrm>
          <a:prstGeom prst="rect">
            <a:avLst/>
          </a:prstGeom>
          <a:solidFill>
            <a:srgbClr val="59B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66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59BDF2"/>
                </a:solidFill>
                <a:latin typeface="DejaVu Sans"/>
              </a:defRPr>
            </a:pPr>
            <a:r>
              <a:t>Curso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AA: conceptos/difusa/ética. ML: introducción, modelos, validación. Programación: datos, API y Streamlit. Big Data: ingeniería/Elastic. NiFi: prácticas/series. Kafka: básico/avanzado.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800" y="2235200"/>
            <a:ext cx="3505200" cy="3797300"/>
          </a:xfrm>
          <a:prstGeom prst="roundRect">
            <a:avLst/>
          </a:prstGeom>
          <a:solidFill>
            <a:srgbClr val="16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00" y="2235200"/>
            <a:ext cx="50800" cy="3797300"/>
          </a:xfrm>
          <a:prstGeom prst="rect">
            <a:avLst/>
          </a:prstGeom>
          <a:solidFill>
            <a:srgbClr val="EAB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0" y="23622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450" b="1">
                <a:solidFill>
                  <a:srgbClr val="EABD66"/>
                </a:solidFill>
                <a:latin typeface="DejaVu Sans"/>
              </a:defRPr>
            </a:pPr>
            <a:r>
              <a:t>Distinción de fuentes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832100"/>
            <a:ext cx="3098800" cy="299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5F8FC"/>
                </a:solidFill>
                <a:latin typeface="DejaVu Sans"/>
              </a:defRPr>
            </a:pPr>
            <a:r>
              <a:t>Las notas de cada diapositiva citan rutas locales y fuentes primarias externas. README del prototipo se usa para el estado existente, no como autoridad del temario.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6184900"/>
            <a:ext cx="10922000" cy="12700"/>
          </a:xfrm>
          <a:prstGeom prst="rect">
            <a:avLst/>
          </a:prstGeom>
          <a:solidFill>
            <a:srgbClr val="294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11900"/>
            <a:ext cx="9842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B5C8DB"/>
                </a:solidFill>
                <a:latin typeface="DejaVu Sans"/>
              </a:defRPr>
            </a:pPr>
            <a:r>
              <a:t>DISEÑO Y ALCANCE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8800" y="6311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defRPr sz="800" b="1">
                <a:solidFill>
                  <a:srgbClr val="55E3C5"/>
                </a:solidFill>
                <a:latin typeface="DejaVu Sans"/>
              </a:defRPr>
            </a:pPr>
            <a:r>
              <a:t>33 / 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