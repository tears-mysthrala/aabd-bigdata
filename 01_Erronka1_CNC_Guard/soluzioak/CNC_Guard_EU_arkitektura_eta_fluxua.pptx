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3a9089f42c4f3d" /><Relationship Type="http://schemas.openxmlformats.org/officeDocument/2006/relationships/extended-properties" Target="/docProps/app.xml" Id="R4701034103634d80" /><Relationship Type="http://schemas.openxmlformats.org/officeDocument/2006/relationships/officeDocument" Target="/ppt/presentation.xml" Id="Radbf3d3f53b543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12f55b9f8d42af"/>
  </p:sldMasterIdLst>
  <p:notesMasterIdLst>
    <p:notesMasterId xmlns:r="http://schemas.openxmlformats.org/officeDocument/2006/relationships" r:id="Rb1c0bc0171de4214"/>
  </p:notesMasterIdLst>
  <p:sldIdLst>
    <p:sldId xmlns:r="http://schemas.openxmlformats.org/officeDocument/2006/relationships" id="256" r:id="R5c4456f4d1384b49"/>
    <p:sldId xmlns:r="http://schemas.openxmlformats.org/officeDocument/2006/relationships" id="257" r:id="R9cacf59a848e4318"/>
    <p:sldId xmlns:r="http://schemas.openxmlformats.org/officeDocument/2006/relationships" id="258" r:id="Rb5b398cf120b4d4a"/>
    <p:sldId xmlns:r="http://schemas.openxmlformats.org/officeDocument/2006/relationships" id="259" r:id="Rd24bf351b8db474e"/>
    <p:sldId xmlns:r="http://schemas.openxmlformats.org/officeDocument/2006/relationships" id="260" r:id="R4398cf0cb4e14c8e"/>
    <p:sldId xmlns:r="http://schemas.openxmlformats.org/officeDocument/2006/relationships" id="261" r:id="R273dbdfad8f54fa3"/>
    <p:sldId xmlns:r="http://schemas.openxmlformats.org/officeDocument/2006/relationships" id="262" r:id="R9bd42d32ca6541bb"/>
    <p:sldId xmlns:r="http://schemas.openxmlformats.org/officeDocument/2006/relationships" id="263" r:id="Rd51db9918c0f4667"/>
    <p:sldId xmlns:r="http://schemas.openxmlformats.org/officeDocument/2006/relationships" id="264" r:id="Rd39e4c6bbeab4e69"/>
    <p:sldId xmlns:r="http://schemas.openxmlformats.org/officeDocument/2006/relationships" id="265" r:id="R3530b56fa9c44f1e"/>
    <p:sldId xmlns:r="http://schemas.openxmlformats.org/officeDocument/2006/relationships" id="266" r:id="Rf41732901eb44f21"/>
    <p:sldId xmlns:r="http://schemas.openxmlformats.org/officeDocument/2006/relationships" id="267" r:id="Rcedbbad5175e4b70"/>
    <p:sldId xmlns:r="http://schemas.openxmlformats.org/officeDocument/2006/relationships" id="268" r:id="Rdab1280fa73b4749"/>
    <p:sldId xmlns:r="http://schemas.openxmlformats.org/officeDocument/2006/relationships" id="269" r:id="R760473fdfad747c7"/>
    <p:sldId xmlns:r="http://schemas.openxmlformats.org/officeDocument/2006/relationships" id="270" r:id="Rcf68f4dbaa984ced"/>
    <p:sldId xmlns:r="http://schemas.openxmlformats.org/officeDocument/2006/relationships" id="271" r:id="Rf52aebcf713749a1"/>
    <p:sldId xmlns:r="http://schemas.openxmlformats.org/officeDocument/2006/relationships" id="272" r:id="Rb9b6332f6fd641a0"/>
    <p:sldId xmlns:r="http://schemas.openxmlformats.org/officeDocument/2006/relationships" id="273" r:id="R1753ba32473f4712"/>
    <p:sldId xmlns:r="http://schemas.openxmlformats.org/officeDocument/2006/relationships" id="274" r:id="R459760afa8f642d2"/>
    <p:sldId xmlns:r="http://schemas.openxmlformats.org/officeDocument/2006/relationships" id="275" r:id="Rb44ecbbeb0894f8d"/>
    <p:sldId xmlns:r="http://schemas.openxmlformats.org/officeDocument/2006/relationships" id="276" r:id="R89bd7085e5f94ffa"/>
    <p:sldId xmlns:r="http://schemas.openxmlformats.org/officeDocument/2006/relationships" id="277" r:id="R9a05857d37da42b7"/>
    <p:sldId xmlns:r="http://schemas.openxmlformats.org/officeDocument/2006/relationships" id="278" r:id="Rc2d3e47237d64501"/>
    <p:sldId xmlns:r="http://schemas.openxmlformats.org/officeDocument/2006/relationships" id="279" r:id="Rfdb420d848c04563"/>
    <p:sldId xmlns:r="http://schemas.openxmlformats.org/officeDocument/2006/relationships" id="280" r:id="R7dd1a67ad4f54f5c"/>
    <p:sldId xmlns:r="http://schemas.openxmlformats.org/officeDocument/2006/relationships" id="281" r:id="R8638b2d06f65408d"/>
    <p:sldId xmlns:r="http://schemas.openxmlformats.org/officeDocument/2006/relationships" id="282" r:id="R1f635bc388cc4f4a"/>
    <p:sldId xmlns:r="http://schemas.openxmlformats.org/officeDocument/2006/relationships" id="283" r:id="Rac107393f4ed47b3"/>
    <p:sldId xmlns:r="http://schemas.openxmlformats.org/officeDocument/2006/relationships" id="284" r:id="R8a381572be534dfd"/>
    <p:sldId xmlns:r="http://schemas.openxmlformats.org/officeDocument/2006/relationships" id="285" r:id="Rc7783f1e642d432a"/>
    <p:sldId xmlns:r="http://schemas.openxmlformats.org/officeDocument/2006/relationships" id="286" r:id="Re86ceb306b9c4ca4"/>
    <p:sldId xmlns:r="http://schemas.openxmlformats.org/officeDocument/2006/relationships" id="287" r:id="Ra9ac77acdf104e4c"/>
    <p:sldId xmlns:r="http://schemas.openxmlformats.org/officeDocument/2006/relationships" id="288" r:id="R32f56fc76d0e4f8c"/>
    <p:sldId xmlns:r="http://schemas.openxmlformats.org/officeDocument/2006/relationships" id="289" r:id="R9a81ac117a5c418a"/>
    <p:sldId xmlns:r="http://schemas.openxmlformats.org/officeDocument/2006/relationships" id="290" r:id="Ra7b8b18981554be2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feec30ecc14454" /><Relationship Type="http://schemas.openxmlformats.org/officeDocument/2006/relationships/slideMaster" Target="/ppt/slideMasters/slideMaster1.xml" Id="Rb712f55b9f8d42af" /><Relationship Type="http://schemas.openxmlformats.org/officeDocument/2006/relationships/notesMaster" Target="/ppt/notesMasters/notesMaster1.xml" Id="Rb1c0bc0171de4214" /><Relationship Type="http://schemas.openxmlformats.org/officeDocument/2006/relationships/presProps" Target="/ppt/presProps.xml" Id="Rf3bd4e2db95143b4" /><Relationship Type="http://schemas.openxmlformats.org/officeDocument/2006/relationships/tableStyles" Target="/ppt/tableStyles.xml" Id="R1079f673c5b5410c" /><Relationship Type="http://schemas.openxmlformats.org/officeDocument/2006/relationships/slide" Target="/ppt/slides/slide1.xml" Id="R5c4456f4d1384b49" /><Relationship Type="http://schemas.openxmlformats.org/officeDocument/2006/relationships/slide" Target="/ppt/slides/slide2.xml" Id="R9cacf59a848e4318" /><Relationship Type="http://schemas.openxmlformats.org/officeDocument/2006/relationships/slide" Target="/ppt/slides/slide3.xml" Id="Rb5b398cf120b4d4a" /><Relationship Type="http://schemas.openxmlformats.org/officeDocument/2006/relationships/slide" Target="/ppt/slides/slide4.xml" Id="Rd24bf351b8db474e" /><Relationship Type="http://schemas.openxmlformats.org/officeDocument/2006/relationships/slide" Target="/ppt/slides/slide5.xml" Id="R4398cf0cb4e14c8e" /><Relationship Type="http://schemas.openxmlformats.org/officeDocument/2006/relationships/slide" Target="/ppt/slides/slide6.xml" Id="R273dbdfad8f54fa3" /><Relationship Type="http://schemas.openxmlformats.org/officeDocument/2006/relationships/slide" Target="/ppt/slides/slide7.xml" Id="R9bd42d32ca6541bb" /><Relationship Type="http://schemas.openxmlformats.org/officeDocument/2006/relationships/slide" Target="/ppt/slides/slide8.xml" Id="Rd51db9918c0f4667" /><Relationship Type="http://schemas.openxmlformats.org/officeDocument/2006/relationships/slide" Target="/ppt/slides/slide9.xml" Id="Rd39e4c6bbeab4e69" /><Relationship Type="http://schemas.openxmlformats.org/officeDocument/2006/relationships/slide" Target="/ppt/slides/slide10.xml" Id="R3530b56fa9c44f1e" /><Relationship Type="http://schemas.openxmlformats.org/officeDocument/2006/relationships/slide" Target="/ppt/slides/slide11.xml" Id="Rf41732901eb44f21" /><Relationship Type="http://schemas.openxmlformats.org/officeDocument/2006/relationships/slide" Target="/ppt/slides/slide12.xml" Id="Rcedbbad5175e4b70" /><Relationship Type="http://schemas.openxmlformats.org/officeDocument/2006/relationships/slide" Target="/ppt/slides/slide13.xml" Id="Rdab1280fa73b4749" /><Relationship Type="http://schemas.openxmlformats.org/officeDocument/2006/relationships/slide" Target="/ppt/slides/slide14.xml" Id="R760473fdfad747c7" /><Relationship Type="http://schemas.openxmlformats.org/officeDocument/2006/relationships/slide" Target="/ppt/slides/slide15.xml" Id="Rcf68f4dbaa984ced" /><Relationship Type="http://schemas.openxmlformats.org/officeDocument/2006/relationships/slide" Target="/ppt/slides/slide16.xml" Id="Rf52aebcf713749a1" /><Relationship Type="http://schemas.openxmlformats.org/officeDocument/2006/relationships/slide" Target="/ppt/slides/slide17.xml" Id="Rb9b6332f6fd641a0" /><Relationship Type="http://schemas.openxmlformats.org/officeDocument/2006/relationships/slide" Target="/ppt/slides/slide18.xml" Id="R1753ba32473f4712" /><Relationship Type="http://schemas.openxmlformats.org/officeDocument/2006/relationships/slide" Target="/ppt/slides/slide19.xml" Id="R459760afa8f642d2" /><Relationship Type="http://schemas.openxmlformats.org/officeDocument/2006/relationships/slide" Target="/ppt/slides/slide20.xml" Id="Rb44ecbbeb0894f8d" /><Relationship Type="http://schemas.openxmlformats.org/officeDocument/2006/relationships/slide" Target="/ppt/slides/slide21.xml" Id="R89bd7085e5f94ffa" /><Relationship Type="http://schemas.openxmlformats.org/officeDocument/2006/relationships/slide" Target="/ppt/slides/slide22.xml" Id="R9a05857d37da42b7" /><Relationship Type="http://schemas.openxmlformats.org/officeDocument/2006/relationships/slide" Target="/ppt/slides/slide23.xml" Id="Rc2d3e47237d64501" /><Relationship Type="http://schemas.openxmlformats.org/officeDocument/2006/relationships/slide" Target="/ppt/slides/slide24.xml" Id="Rfdb420d848c04563" /><Relationship Type="http://schemas.openxmlformats.org/officeDocument/2006/relationships/slide" Target="/ppt/slides/slide25.xml" Id="R7dd1a67ad4f54f5c" /><Relationship Type="http://schemas.openxmlformats.org/officeDocument/2006/relationships/slide" Target="/ppt/slides/slide26.xml" Id="R8638b2d06f65408d" /><Relationship Type="http://schemas.openxmlformats.org/officeDocument/2006/relationships/slide" Target="/ppt/slides/slide27.xml" Id="R1f635bc388cc4f4a" /><Relationship Type="http://schemas.openxmlformats.org/officeDocument/2006/relationships/slide" Target="/ppt/slides/slide28.xml" Id="Rac107393f4ed47b3" /><Relationship Type="http://schemas.openxmlformats.org/officeDocument/2006/relationships/slide" Target="/ppt/slides/slide29.xml" Id="R8a381572be534dfd" /><Relationship Type="http://schemas.openxmlformats.org/officeDocument/2006/relationships/slide" Target="/ppt/slides/slide30.xml" Id="Rc7783f1e642d432a" /><Relationship Type="http://schemas.openxmlformats.org/officeDocument/2006/relationships/slide" Target="/ppt/slides/slide31.xml" Id="Re86ceb306b9c4ca4" /><Relationship Type="http://schemas.openxmlformats.org/officeDocument/2006/relationships/slide" Target="/ppt/slides/slide32.xml" Id="Ra9ac77acdf104e4c" /><Relationship Type="http://schemas.openxmlformats.org/officeDocument/2006/relationships/slide" Target="/ppt/slides/slide33.xml" Id="R32f56fc76d0e4f8c" /><Relationship Type="http://schemas.openxmlformats.org/officeDocument/2006/relationships/slide" Target="/ppt/slides/slide34.xml" Id="R9a81ac117a5c418a" /><Relationship Type="http://schemas.openxmlformats.org/officeDocument/2006/relationships/slide" Target="/ppt/slides/slide35.xml" Id="Ra7b8b18981554b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37f37e24a5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c2369a1b9240d2" /><Relationship Type="http://schemas.openxmlformats.org/officeDocument/2006/relationships/notesMaster" Target="/ppt/notesMasters/notesMaster1.xml" Id="R20d580cb2c2040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9418f62da64f9d" /><Relationship Type="http://schemas.openxmlformats.org/officeDocument/2006/relationships/notesMaster" Target="/ppt/notesMasters/notesMaster1.xml" Id="Raacaf09f8d5b4f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c2e3b0d45e440e" /><Relationship Type="http://schemas.openxmlformats.org/officeDocument/2006/relationships/notesMaster" Target="/ppt/notesMasters/notesMaster1.xml" Id="R5cebc1d9fe0b4b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4294313a941f0" /><Relationship Type="http://schemas.openxmlformats.org/officeDocument/2006/relationships/notesMaster" Target="/ppt/notesMasters/notesMaster1.xml" Id="Red41f7fe5dd243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323d6e78ac4621" /><Relationship Type="http://schemas.openxmlformats.org/officeDocument/2006/relationships/notesMaster" Target="/ppt/notesMasters/notesMaster1.xml" Id="Rde2786f54c9146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4d3c5c40014dea" /><Relationship Type="http://schemas.openxmlformats.org/officeDocument/2006/relationships/notesMaster" Target="/ppt/notesMasters/notesMaster1.xml" Id="Re1cb5a673b4846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994ed6138e4099" /><Relationship Type="http://schemas.openxmlformats.org/officeDocument/2006/relationships/notesMaster" Target="/ppt/notesMasters/notesMaster1.xml" Id="R2aab007110864e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0cbf559ae94c66" /><Relationship Type="http://schemas.openxmlformats.org/officeDocument/2006/relationships/notesMaster" Target="/ppt/notesMasters/notesMaster1.xml" Id="R6b319e895f1a4d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e12b23b11f4c82" /><Relationship Type="http://schemas.openxmlformats.org/officeDocument/2006/relationships/notesMaster" Target="/ppt/notesMasters/notesMaster1.xml" Id="Rafe713cfcc924d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b3aea672b44d59" /><Relationship Type="http://schemas.openxmlformats.org/officeDocument/2006/relationships/notesMaster" Target="/ppt/notesMasters/notesMaster1.xml" Id="R57c8d16712b146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3273eed628462b" /><Relationship Type="http://schemas.openxmlformats.org/officeDocument/2006/relationships/notesMaster" Target="/ppt/notesMasters/notesMaster1.xml" Id="Rdc3263ccc11f4d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3a22e3d3cc4436" /><Relationship Type="http://schemas.openxmlformats.org/officeDocument/2006/relationships/notesMaster" Target="/ppt/notesMasters/notesMaster1.xml" Id="R268ec49b48104b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570ee660df4c75" /><Relationship Type="http://schemas.openxmlformats.org/officeDocument/2006/relationships/notesMaster" Target="/ppt/notesMasters/notesMaster1.xml" Id="R14ccedc1218147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227c9e262e4a3a" /><Relationship Type="http://schemas.openxmlformats.org/officeDocument/2006/relationships/notesMaster" Target="/ppt/notesMasters/notesMaster1.xml" Id="R00279731261d49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c79c37b19940da" /><Relationship Type="http://schemas.openxmlformats.org/officeDocument/2006/relationships/notesMaster" Target="/ppt/notesMasters/notesMaster1.xml" Id="Rd18eb48acf4e4d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4041cc9f084c9e" /><Relationship Type="http://schemas.openxmlformats.org/officeDocument/2006/relationships/notesMaster" Target="/ppt/notesMasters/notesMaster1.xml" Id="Ra2d9599a7e1849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cc3a23867c436b" /><Relationship Type="http://schemas.openxmlformats.org/officeDocument/2006/relationships/notesMaster" Target="/ppt/notesMasters/notesMaster1.xml" Id="R4ef4e3052f304b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b6b315ca214fd3" /><Relationship Type="http://schemas.openxmlformats.org/officeDocument/2006/relationships/notesMaster" Target="/ppt/notesMasters/notesMaster1.xml" Id="Raf7f409d5b2b49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5f3e68aed34467" /><Relationship Type="http://schemas.openxmlformats.org/officeDocument/2006/relationships/notesMaster" Target="/ppt/notesMasters/notesMaster1.xml" Id="Rc1c6c32ab62c4c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e6bb91a19a640e3" /><Relationship Type="http://schemas.openxmlformats.org/officeDocument/2006/relationships/notesMaster" Target="/ppt/notesMasters/notesMaster1.xml" Id="R16bbc6546ff64a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2a34eabbcd47dc" /><Relationship Type="http://schemas.openxmlformats.org/officeDocument/2006/relationships/notesMaster" Target="/ppt/notesMasters/notesMaster1.xml" Id="R4737086a1d8d482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00e990399a4fb8" /><Relationship Type="http://schemas.openxmlformats.org/officeDocument/2006/relationships/notesMaster" Target="/ppt/notesMasters/notesMaster1.xml" Id="R7ef8e7c4bb8146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8e3c7460ec949da" /><Relationship Type="http://schemas.openxmlformats.org/officeDocument/2006/relationships/notesMaster" Target="/ppt/notesMasters/notesMaster1.xml" Id="R185f6dfee2ab456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b0de0c6fce84acd" /><Relationship Type="http://schemas.openxmlformats.org/officeDocument/2006/relationships/notesMaster" Target="/ppt/notesMasters/notesMaster1.xml" Id="R3cc366b5151e4f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468c5d2e45d4d08" /><Relationship Type="http://schemas.openxmlformats.org/officeDocument/2006/relationships/notesMaster" Target="/ppt/notesMasters/notesMaster1.xml" Id="R2ccb001c16b04c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59fe1302224b54" /><Relationship Type="http://schemas.openxmlformats.org/officeDocument/2006/relationships/notesMaster" Target="/ppt/notesMasters/notesMaster1.xml" Id="R894f62a10a77418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17a650f77d43bc" /><Relationship Type="http://schemas.openxmlformats.org/officeDocument/2006/relationships/notesMaster" Target="/ppt/notesMasters/notesMaster1.xml" Id="Rde3c781f96ea40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ec6a1bb6a134063" /><Relationship Type="http://schemas.openxmlformats.org/officeDocument/2006/relationships/notesMaster" Target="/ppt/notesMasters/notesMaster1.xml" Id="R8165b60e72af466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8bd06f6d957469e" /><Relationship Type="http://schemas.openxmlformats.org/officeDocument/2006/relationships/notesMaster" Target="/ppt/notesMasters/notesMaster1.xml" Id="Rbd1fe674c37f4e4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25a589055594c4c" /><Relationship Type="http://schemas.openxmlformats.org/officeDocument/2006/relationships/notesMaster" Target="/ppt/notesMasters/notesMaster1.xml" Id="R2f254061381141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12089bdec2b4dfb" /><Relationship Type="http://schemas.openxmlformats.org/officeDocument/2006/relationships/notesMaster" Target="/ppt/notesMasters/notesMaster1.xml" Id="Rcb74014c3fdb45d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6569e46b1ea47ec" /><Relationship Type="http://schemas.openxmlformats.org/officeDocument/2006/relationships/notesMaster" Target="/ppt/notesMasters/notesMaster1.xml" Id="R1c334010b65442d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3b167f918594faf" /><Relationship Type="http://schemas.openxmlformats.org/officeDocument/2006/relationships/notesMaster" Target="/ppt/notesMasters/notesMaster1.xml" Id="R8e421b1284c24bd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2e2bffd2bfd404c" /><Relationship Type="http://schemas.openxmlformats.org/officeDocument/2006/relationships/notesMaster" Target="/ppt/notesMasters/notesMaster1.xml" Id="R1eb65474adef46c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dd8ce9c7a9d47f1" /><Relationship Type="http://schemas.openxmlformats.org/officeDocument/2006/relationships/notesMaster" Target="/ppt/notesMasters/notesMaster1.xml" Id="R934e583410b040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 orduko epea mantentze-lanak antolatzeko tartea izateko proposatu da. Lantegian erabili aurretik, mantentze-taldearekin kontrastatu behar da. Datu sintetikoek eta AI4Ik ez dute erabilgarritasun industriala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Jupyter analisia eta entrenamendua egiteko erabiliko da; Git eta Docker Compose laborategia erreproduzitzeko. Datu-baseen, panelen eta eredu nagusiaren aukeraketa eginda dago.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Aukera hauek egokitasun funtzionalean eta ikasgaien edukietan oinarritzen dira. Konparazio esperimentalik egin gabe, ez dugu Random Forest beste guztien gainetik dagoela baieztatzen.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Proposatutako erakustaldia: telemetria sintetikoa → Kafka → NiFi (baliozkotzea, historikoa eta InvokeHTTP) → FastAPI /predict → Elasticsearch/Kibana. Random Forest aurretik entrenatzen da. Integrazio osoaren proba oraindik egin gabe dago.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Proposatutako erakustaldia: telemetria sintetikoa → Kafka → NiFi (baliozkotzea, historikoa eta InvokeHTTP) → FastAPI /predict → Elasticsearch/Kibana. Random Forest aurretik entrenatzen da. Integrazio osoaren proba oraindik egin gabe dago.</a:t>
            </a:r>
          </a:p>
          <a:p xmlns:a="http://schemas.openxmlformats.org/drawingml/2006/main">
            <a:r>
              <a:t>Sarrera</a:t>
            </a:r>
          </a:p>
          <a:p xmlns:a="http://schemas.openxmlformats.org/drawingml/2006/main">
            <a:r>
              <a:t>CSV sintetikoa → Kafka cnc-telemetry-csv → NiFi; baliozkoak ez diren erregistroak DLQra, event_id bidez identifikatuta.</a:t>
            </a:r>
          </a:p>
          <a:p xmlns:a="http://schemas.openxmlformats.org/drawingml/2006/main">
            <a:r>
              <a:t>Inferentzia</a:t>
            </a:r>
          </a:p>
          <a:p xmlns:a="http://schemas.openxmlformats.org/drawingml/2006/main">
            <a:r>
              <a:t>NiFik ConvertRecord eta baliozkotzea egiten ditu → FastAPI /predict deitzen du InvokeHTTP bidez → alertak Elasticsearch-era eta Kibanara.</a:t>
            </a:r>
          </a:p>
          <a:p xmlns:a="http://schemas.openxmlformats.org/drawingml/2006/main">
            <a:r>
              <a:t>Historikoa</a:t>
            </a:r>
          </a:p>
          <a:p xmlns:a="http://schemas.openxmlformats.org/drawingml/2006/main">
            <a:r>
              <a:t>Parquet eta DuckDB historikorako; Random Forest konexiorik gabe entrenatzen da eta FastAPIk zerbitzatzen du; Isolation Forest aparteko esperimentua da.</a:t>
            </a:r>
          </a:p>
          <a:p xmlns:a="http://schemas.openxmlformats.org/drawingml/2006/main">
            <a:r>
              <a:t>Ez dugu Streamlit, MongoDB, InfluxDB, Spark, LLM edo industria-eragingailurik hedatuko. FastAPI scoring-erako erabiliko da; Isolation Forest lagungarria da, ez alerta baztertzeko iragazkia.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Laborategiko sarrerak tokiko fitxategiak dira. Mantentze-lanen CSVak eta logak sintetikoak izan daitezke integrazioa erakusteko, baina ez gaitasun industriala frogatzeko. Ez dugu MariaDB edo MongoDB hedatuko.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eta scikit-learn-ek datuak prestatu eta eredua offline entrenatzen dute. FastAPIk /health eta /predict eskaintzen ditu, eta NiFik InvokeHTTP erabiltzen du. uv bidez blokeatutako ingurunea mantentzen da. Ez dago inferentziarako Kafka kontsumitzaile independente bat.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Kafka/Record prozesadoreen izen zehatzak instalatutako NiFi bertsioaren araberakoak dira. Dokumentazio nagusia: https://nifi.apache.org/nifi-docs/user-guide.html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Kafka/Record prozesadoreen izen zehatzak instalatutako NiFi bertsioaren araberakoak dira. Dokumentazio nagusia: https://nifi.apache.org/nifi-docs/user-guide.html .</a:t>
            </a:r>
          </a:p>
          <a:p xmlns:a="http://schemas.openxmlformats.org/drawingml/2006/main">
            <a:r>
              <a:t>Hautatutako konfigurazioa</a:t>
            </a:r>
          </a:p>
          <a:p xmlns:a="http://schemas.openxmlformats.org/drawingml/2006/main">
            <a:r>
              <a:t>ConsumeKafka → ConvertRecord (CSVReader/JSON) → ValidateRecord, laborategi-ingurunean. Ez dago CNC errealekin loturarik.</a:t>
            </a:r>
          </a:p>
          <a:p xmlns:a="http://schemas.openxmlformats.org/drawingml/2006/main">
            <a:r>
              <a:t>Bideak</a:t>
            </a:r>
          </a:p>
          <a:p xmlns:a="http://schemas.openxmlformats.org/drawingml/2006/main">
            <a:r>
              <a:t>Baliozkoak → Elasticsearch eta POST /predict; baliogabeak edo HTTP 422 → berrogeialdia; HTTP 5xx → saiakera mugatuak.</a:t>
            </a:r>
          </a:p>
          <a:p xmlns:a="http://schemas.openxmlformats.org/drawingml/2006/main">
            <a:r>
              <a:t>Froga beharrezkoa</a:t>
            </a:r>
          </a:p>
          <a:p xmlns:a="http://schemas.openxmlformats.org/drawingml/2006/main">
            <a:r>
              <a:t>NiFi fluxu esportatua, kontagailuak, backpressure, replay eta gelditze/berrabiarazte probak; integrazio osoa frogatu gabe dago.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Laborategiak broker bakarra du; kontsumoa, berrirakurketa eta berrabiaraztea frogatu behar dira, erabilgarritasun handia aldarrikatu gabe. Dokumentazioa: https://kafka.apache.org/documentation/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 egun proiektuko hipotesi bat dira, ez irakaslearen betebeharra edo lagin nahikoa izatearen froga. Laborategian ez ezabatu ebaluazio-datu multzoak atxikipen automatikoa aplikatzeagatik.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Iturri nagusia: https://duckdb.org/docs/stable/data/parquet/overview . Spark eskalatze-aukera gisa bakarrik gelditzen da, neurketek behar hori erakusten badute.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minutu eta 24 ordu hasierako diseinu-erabakiak dira. Benetako denbora-marka longitudinalik ez badago, uneko aldagaiak eta egoera-etiketa erabili; horrek ez du epe hori baliozkotzen.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Eredu-familiak bereizten ditugu aukeraketa arrazoitzeko. Random Forest ez da eredu konexionista, eta logika lausoko kidetasun-maila ez da probabilitate baten baliokidea.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Lehen prototipoan Mamdani dago; ez dugu zerbitzu berrian sartuko. Prototipo haren emaitza historikoek ez dute Random Forest-en errendimendua egiaztatzen.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predict_proba-ren irteera arrisku-score gisa interpretatzen dugu. Ez dugu kalibratutako probabilitatea dela esango baliozkotu gabe. Aurkezpen honek ez dakar errendimendu-neurketa berririk.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Iturria: https://scikit-learn.org/stable/modules/generated/sklearn.ensemble.IsolationForest.html . Erreferentzia egiaztaturik edo giza berrikuspenik gabe, bitxikeria puntuatzen duela bakarrik frogatzen da, ez matxurak identifikatzen dituela.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Aurreko prototipoaren AND araua baztertzen dugu, gainbegiratutako ereduak detektatutako matxurak ezaba ditzakeelako. Abisuak multzokatzeko politika probatu eta dokumentatu behar 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Erregresio logistikoa ebaluatzeko erreferentzia da, ez zerbitzurako hautatu gabeko beste aukera bat. F1 maximoa ez da nahitaez politika industrial onena: negozioaren onarpenerako benetako kostuak behar dira.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 aukeratutako arkitekturaren parte da. NiFik Kafka kontsumitu eta InvokeHTTP bidez /predict deitzen du; ez dago Python kontsumitzaile independente bat. Latentzia, saiakera berriak, lehen daturik gabeko egoera eta 422/5xx akatsak neurtu behar dira.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egun hasierako proposamena dira; datuen tamainaren arabera neurtu behar da. Kibanak Elasticsearch kontsultatzen du, ez Kafka zuzenean. Ez dugu Streamlit/Grafana bidezko bigarren panelik jarriko.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Bilakaerarako serieak; lehentasunetarako barrak; erlazioetarako sakabanaketa; trazabilitaterako taula; erroreetarako matrizea. Grafiko bakoitza datu eta helburuen arabera justifikatzen da. Ez dago asmatutako pantaila-argazkirik.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Ez konektatu makineria errealera OT diseinu espezifikorik eta baimenik gabe. Sailkapen juridikoa testuinguruaren araberakoa da: txostenak arriskuak aztertzen ditu, ez du lege-betetzea ziurtatzen.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Hz, 200 byte eta 90 egun proiektuaren hipotesiak dira. Ez dituzte erreplikak, zerbitzu-logak edo jatorrizko fitxategiak barne hartzen. Karga osoa sortu aurretik, disko erabilgarria egiaztatu.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Aukera guztiak diapositiba bakarrean laburbilduta. Kanpo-iturriak: https://docs.influxdata.com/influxdb/cloud/get-started/ ; https://opcfoundation.org/about/opc-technologies/opc-ua/ ; https://reference.opcfoundation.org/specs/OPC-10000-14/7.3.4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Diapositiba honek oraindik egiteko dagoen entrega definitzen du; ez du baieztatzen entrenamendua edo entrega egin denik.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Tokiko erakustaldi simulatua da, ez lantegiko ezarpena, erabilgarritasun handia edo 24 orduko aurreikuspenaren baliozkotzea.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READMEak dokumentatutako egoera da, ez gaur exekutatutako baliozkotzea. Aurkezpenak lana prestatzen du; ez du jadanik egindakoa edo falta dena nahasten.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Enuntziatuak 11 aste aurreikusten ditu. Taldeak benetako izenak eta datak jarri behar ditu; hemen agertzen diren rolak eta mugarriak proposamenak dira, ez Moodle-n egindako entregak.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Proposamenaren hautaketa amaituta dago. Eranskineko alternatibek ez dute lehen bertsiorako erabaki ireki berririk sortzen.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TRAZABILIDAD.md txostenak jatorrizko nahitaezko irizpideak, teknologien mapa eta aztertutako corpusa jasotzen ditu; hashak fuentes_manifest.json fitxategian daude. Ez dugu Moodle/Drive esteken eduki berririk deskargatu berrikuspen honetan.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780b7d38d4c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ee22d8e734e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9007dfafd45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cb2224add4c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9cf5940d447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2620615f548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186CE6-55C8-4107-989B-7AB4BCFD5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59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376D6C-7789-4E3B-B67D-DD0097D6F5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39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E032B3-393D-4A10-BDC4-378D882071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599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AB654B-D9A3-4D47-936F-C5E0E7604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156442-B255-40C3-9AEA-BBD704675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399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CBE8E3-D5D8-4C46-9E5E-94B162CEF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33D290-2D89-442A-90C6-7EC9B247B8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59D551-B51B-439B-8E5A-23C5216303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6999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D3DF3E-CC7E-4E55-A3B7-C6D4045B4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6B3ABF-D46A-40D1-8EB4-DACDC01CB9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174193272b4503" /><Relationship Type="http://schemas.openxmlformats.org/officeDocument/2006/relationships/slideLayout" Target="/ppt/slideLayouts/slideLayout1.xml" Id="R1261e24aa36443d6" /><Relationship Type="http://schemas.openxmlformats.org/officeDocument/2006/relationships/slideLayout" Target="/ppt/slideLayouts/slideLayout2.xml" Id="R8336f1c661304f22" /><Relationship Type="http://schemas.openxmlformats.org/officeDocument/2006/relationships/slideLayout" Target="/ppt/slideLayouts/slideLayout3.xml" Id="Rc193da520c264f7a" /><Relationship Type="http://schemas.openxmlformats.org/officeDocument/2006/relationships/slideLayout" Target="/ppt/slideLayouts/slideLayout4.xml" Id="R624ec5c752c84dd4" /><Relationship Type="http://schemas.openxmlformats.org/officeDocument/2006/relationships/slideLayout" Target="/ppt/slideLayouts/slideLayout5.xml" Id="R1e6e505767cc4c17" /><Relationship Type="http://schemas.openxmlformats.org/officeDocument/2006/relationships/slideLayout" Target="/ppt/slideLayouts/slideLayout6.xml" Id="R4a6651e45b6544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1e24aa36443d6"/>
    <p:sldLayoutId xmlns:r="http://schemas.openxmlformats.org/officeDocument/2006/relationships" id="2147483650" r:id="R8336f1c661304f22"/>
    <p:sldLayoutId xmlns:r="http://schemas.openxmlformats.org/officeDocument/2006/relationships" id="2147483651" r:id="Rc193da520c264f7a"/>
    <p:sldLayoutId xmlns:r="http://schemas.openxmlformats.org/officeDocument/2006/relationships" id="2147483652" r:id="R624ec5c752c84dd4"/>
    <p:sldLayoutId xmlns:r="http://schemas.openxmlformats.org/officeDocument/2006/relationships" id="2147483653" r:id="R1e6e505767cc4c17"/>
    <p:sldLayoutId xmlns:r="http://schemas.openxmlformats.org/officeDocument/2006/relationships" id="2147483654" r:id="R4a6651e45b6544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3eaea1c9d4ac1" /><Relationship Type="http://schemas.openxmlformats.org/officeDocument/2006/relationships/notesSlide" Target="/ppt/notesSlides/notesSlide1.xml" Id="R4feac9f782184c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ca5c60d5649c1" /><Relationship Type="http://schemas.openxmlformats.org/officeDocument/2006/relationships/notesSlide" Target="/ppt/notesSlides/notesSlide2.xml" Id="R57cd1cd024474b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688fe66344091" /><Relationship Type="http://schemas.openxmlformats.org/officeDocument/2006/relationships/notesSlide" Target="/ppt/notesSlides/notesSlide3.xml" Id="R9c8c57cfb41043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2996525f644e0" /><Relationship Type="http://schemas.openxmlformats.org/officeDocument/2006/relationships/notesSlide" Target="/ppt/notesSlides/notesSlide4.xml" Id="R471e9a5a635344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46660a7ae433a" /><Relationship Type="http://schemas.openxmlformats.org/officeDocument/2006/relationships/notesSlide" Target="/ppt/notesSlides/notesSlide5.xml" Id="R16f95b6a13b84f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c9cd00ab44f81" /><Relationship Type="http://schemas.openxmlformats.org/officeDocument/2006/relationships/notesSlide" Target="/ppt/notesSlides/notesSlide6.xml" Id="Rb97dbb1be0244e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d5f29da2543d3" /><Relationship Type="http://schemas.openxmlformats.org/officeDocument/2006/relationships/notesSlide" Target="/ppt/notesSlides/notesSlide7.xml" Id="Rf587ba3ef77247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4708e5a7d4102" /><Relationship Type="http://schemas.openxmlformats.org/officeDocument/2006/relationships/notesSlide" Target="/ppt/notesSlides/notesSlide8.xml" Id="R9c62e9bb62394f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64dc2d8d7b4f0c" /><Relationship Type="http://schemas.openxmlformats.org/officeDocument/2006/relationships/notesSlide" Target="/ppt/notesSlides/notesSlide9.xml" Id="Rd3e47c2610404d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1d910921f4cd9" /><Relationship Type="http://schemas.openxmlformats.org/officeDocument/2006/relationships/notesSlide" Target="/ppt/notesSlides/notesSlide10.xml" Id="Rc2701efc3c5140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ee3ea36ce47a1" /><Relationship Type="http://schemas.openxmlformats.org/officeDocument/2006/relationships/notesSlide" Target="/ppt/notesSlides/notesSlide11.xml" Id="Rd4caedb00ca349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25703e86d49af" /><Relationship Type="http://schemas.openxmlformats.org/officeDocument/2006/relationships/notesSlide" Target="/ppt/notesSlides/notesSlide12.xml" Id="R84b4c15a6b0542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8028ae75942a6" /><Relationship Type="http://schemas.openxmlformats.org/officeDocument/2006/relationships/notesSlide" Target="/ppt/notesSlides/notesSlide13.xml" Id="Rbd741d52249843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3bd548e09a4314" /><Relationship Type="http://schemas.openxmlformats.org/officeDocument/2006/relationships/notesSlide" Target="/ppt/notesSlides/notesSlide14.xml" Id="R75431d88c04945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cd8641ef141d7" /><Relationship Type="http://schemas.openxmlformats.org/officeDocument/2006/relationships/notesSlide" Target="/ppt/notesSlides/notesSlide15.xml" Id="R69ff04b1d4444d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b7f4ef2c9542a2" /><Relationship Type="http://schemas.openxmlformats.org/officeDocument/2006/relationships/notesSlide" Target="/ppt/notesSlides/notesSlide16.xml" Id="R03d1171f1f764c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5626b72924528" /><Relationship Type="http://schemas.openxmlformats.org/officeDocument/2006/relationships/notesSlide" Target="/ppt/notesSlides/notesSlide17.xml" Id="R4c4ae2de9d3542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634765e8c4423" /><Relationship Type="http://schemas.openxmlformats.org/officeDocument/2006/relationships/notesSlide" Target="/ppt/notesSlides/notesSlide18.xml" Id="R8b0874127dd744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6a60f09b94bcf" /><Relationship Type="http://schemas.openxmlformats.org/officeDocument/2006/relationships/notesSlide" Target="/ppt/notesSlides/notesSlide19.xml" Id="R1556c32c94df4d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5162a6d714c75" /><Relationship Type="http://schemas.openxmlformats.org/officeDocument/2006/relationships/notesSlide" Target="/ppt/notesSlides/notesSlide20.xml" Id="R1c68f71837e74ea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eb7aae45e4871" /><Relationship Type="http://schemas.openxmlformats.org/officeDocument/2006/relationships/notesSlide" Target="/ppt/notesSlides/notesSlide21.xml" Id="R03f7fcd6da864c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17d3637f94e13" /><Relationship Type="http://schemas.openxmlformats.org/officeDocument/2006/relationships/notesSlide" Target="/ppt/notesSlides/notesSlide22.xml" Id="Rf51b8cd23178448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c5fce07c3d40d6" /><Relationship Type="http://schemas.openxmlformats.org/officeDocument/2006/relationships/notesSlide" Target="/ppt/notesSlides/notesSlide23.xml" Id="R9d54ca2de42b442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a15eacb5040a1" /><Relationship Type="http://schemas.openxmlformats.org/officeDocument/2006/relationships/notesSlide" Target="/ppt/notesSlides/notesSlide24.xml" Id="Rb4249dd1909b487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8a705c09f430d" /><Relationship Type="http://schemas.openxmlformats.org/officeDocument/2006/relationships/notesSlide" Target="/ppt/notesSlides/notesSlide25.xml" Id="R7bfe704793d24a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a59e44eb04dde" /><Relationship Type="http://schemas.openxmlformats.org/officeDocument/2006/relationships/notesSlide" Target="/ppt/notesSlides/notesSlide26.xml" Id="Rd9a6232ce2f94b3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1dcb7cde34757" /><Relationship Type="http://schemas.openxmlformats.org/officeDocument/2006/relationships/notesSlide" Target="/ppt/notesSlides/notesSlide27.xml" Id="R1a29162cf23047c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ac19b2b2d4d37" /><Relationship Type="http://schemas.openxmlformats.org/officeDocument/2006/relationships/notesSlide" Target="/ppt/notesSlides/notesSlide28.xml" Id="Rfcfd1a85cc414e9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ee77eb6fa4b88" /><Relationship Type="http://schemas.openxmlformats.org/officeDocument/2006/relationships/notesSlide" Target="/ppt/notesSlides/notesSlide29.xml" Id="Rf96b62b7812345d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a6297e792432f" /><Relationship Type="http://schemas.openxmlformats.org/officeDocument/2006/relationships/notesSlide" Target="/ppt/notesSlides/notesSlide30.xml" Id="R61c9cb0c92b447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e9fcdd38ea49f8" /><Relationship Type="http://schemas.openxmlformats.org/officeDocument/2006/relationships/notesSlide" Target="/ppt/notesSlides/notesSlide31.xml" Id="R5b7c88b50dc14ba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2091058754e8a" /><Relationship Type="http://schemas.openxmlformats.org/officeDocument/2006/relationships/notesSlide" Target="/ppt/notesSlides/notesSlide32.xml" Id="R85609571a873490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ae3ce1cb04965" /><Relationship Type="http://schemas.openxmlformats.org/officeDocument/2006/relationships/notesSlide" Target="/ppt/notesSlides/notesSlide33.xml" Id="Rd70fcf7dc4bd496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cb152817e42c7" /><Relationship Type="http://schemas.openxmlformats.org/officeDocument/2006/relationships/notesSlide" Target="/ppt/notesSlides/notesSlide34.xml" Id="Rfff20edb79864c4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bef1178cb4512" /><Relationship Type="http://schemas.openxmlformats.org/officeDocument/2006/relationships/notesSlide" Target="/ppt/notesSlides/notesSlide35.xml" Id="R531a4931c8144a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4DF34E28-46E7-48CC-9472-E82CA25F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7408202-3AF2-48D0-BA6A-8F5F26AD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CNC Guard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A5CBE87F-0A0A-4BA9-9898-765D9004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FD0D7"/>
                </a:solidFill>
                <a:latin typeface="Arial"/>
                <a:ea typeface="Arial"/>
                <a:cs typeface="Arial"/>
              </a:rPr>
              <a:t>Industria-datuak aztertzeko eta alertak sortzeko proposamen teknologikoa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555E6805-7D3E-4E25-8714-6715CBE5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B6CD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B6CDD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B6CDD4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63735FCB-2786-4B35-8EDC-C902383D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01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52947A80-8C80-4F70-8429-472EE633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Hautatutako bidea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8658BDC4-A2F4-4624-88AB-3543E877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Kafkak telemetria sintetikoa jasotzen du. NiFik baliozkotu eta eraldatzen du. FastAPIk Random Forest bidez inferentzia egiten du. Elasticsearch-ek indexatzen du eta Kibanak bistaratzen du.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2816F90D-B280-489D-B22C-6B0B5125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Historikoa eta anomaliak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8A867754-E1CA-46E4-9342-7409A77B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Parquet eta DuckDB datu historikoak prestatzeko; Isolation Forest anomaliak hautemateko tresna osagarri gisa.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3C7362F7-4C31-413D-BC0F-2F150F7D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Gure konpromisoa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1D2A44E9-3677-4FF5-8368-997383AE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Ikastaroan landutako teknologiekin arkitektura eraiki eta baliozkotzea. Aukerak amaieran azalduko ditugu; ez dira lehen bertsioaren parte.</a:t>
            </a:r>
          </a:p>
        </p:txBody>
      </p:sp>
    </p:spTree>
    <p:extLst>
      <p:ext uri="{BB962C8B-B14F-4D97-AF65-F5344CB8AC3E}">
        <p14:creationId xmlns:p14="http://schemas.microsoft.com/office/powerpoint/2010/main" val="179268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7D948823-879A-4B6F-A6A8-E4C5EE32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E7BD7D35-BA08-4A65-B8AC-AB90EA1E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Helburua eta irismena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306A5A9C-F72E-4AAB-A6CE-D6CA50E2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24 orduko matxura-arriskua: diseinu-hipotesia, ez frogatutako emaitza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0AF62C21-7FB1-4607-83C0-9A12F7DA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356D432E-CA3C-4D98-A850-92E060F9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02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1D5C1941-63F7-4B32-844C-35BCEFC2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Negozio-testuingurua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D2493C95-0DD8-42AF-B102-EBEB36C6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Bilboko 50 CNC makina; enuntziatuak geldialdiaren kostua 1.200 €/ordu dela aurreikusten du. Sistemak ikuskapenak planifikatzen lagunduko luke.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0BBED93E-02DD-4F66-AD68-0999264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Proposatutako helburua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9B62F87F-19F8-4A56-A2E3-9313412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Makina eta t une bakoitzerako, hurrengo 24 orduetan matxurarik izango den estimatzea, t unera arte ezagutzen diren aldagaiekin. 24 orduko epea gure proposamena da.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64E0EE18-A425-43C6-891D-74B1EC42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Baliozkotzeko baldintza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B6C0C6AB-A15D-44DF-940E-12928073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Denboran zehar jasotako historikoa eta datatutako matxurak behar ditugu. AI4Irekin egoeraren sailkapena soilik erakuts daiteke; ez 24 orduko aurreikuspena.</a:t>
            </a:r>
          </a:p>
        </p:txBody>
      </p:sp>
    </p:spTree>
    <p:extLst>
      <p:ext uri="{BB962C8B-B14F-4D97-AF65-F5344CB8AC3E}">
        <p14:creationId xmlns:p14="http://schemas.microsoft.com/office/powerpoint/2010/main" val="794563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E599E249-917D-48CD-995A-9D83FC3D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3416A1A1-4D13-46AA-A190-EC2E5FAC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Hartutako erabakiak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D263C9FB-F7AC-47A0-92CA-BD5AAB6F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Funtzio bakoitzerako teknologia jakin bat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4663EB03-AB47-4A06-A6C8-E576B48C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5A499190-1E5F-4DA7-905A-CEE665E8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03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DC8DD4EA-6961-4AB7-A170-9E093D7B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Datu-fluxua eta zerbitzua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D4CBA1B8-366C-4E7B-9CD6-47E8967D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Kafkak gertaerak jasotzen ditu. NiFik datuak baliozkotu eta eraldatzen ditu, eta FastAPIri HTTP eskaerak egiten dizkio. Random Forest bereizitako zerbitzu batean exekutatzen da.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2FF7B6DF-26EE-435F-BD56-71D219F7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Biltegiratzea eta kontsultak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6208B702-B5FF-4933-8080-AEA519C4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Parquet-ek historikoa gordetzen du; DuckDBk datu multzoak kontsultatu eta prestatzen ditu; Elasticsearch-ek emaitzak indexatzen ditu; Kibana da panel operatibo bakarra.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AAF9A839-7F39-4A4B-8CAE-C711030F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Lehen bertsiotik kanpo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9DD7972D-D270-42BD-A366-4310FAAA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Ez dugu Streamlit, MongoDB, InfluxDB, Spark, LLM edo industria-eragingailurik hedatuko. FastAPI scoring-erako erabiliko da; Isolation Forest lagungarria da, ez alerta baztertzeko iragazkia.</a:t>
            </a:r>
          </a:p>
        </p:txBody>
      </p:sp>
    </p:spTree>
    <p:extLst>
      <p:ext uri="{BB962C8B-B14F-4D97-AF65-F5344CB8AC3E}">
        <p14:creationId xmlns:p14="http://schemas.microsoft.com/office/powerpoint/2010/main" val="247518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9C41C7F0-0413-46D7-B0C3-D6D9269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F3686CB1-4135-4113-BD8A-000EDD0C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Zergatik konbinazio hau?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B1A95373-EC18-48B7-89AB-C2773DCE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Erronkari erantzun, ikastaroan landutako tresnekin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DE1A4645-37C5-4FEB-9047-2AF874D2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E9FD50BB-CD6F-41E0-B621-8E514F0D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04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16AADB22-A585-4884-8BAA-ADFB53E9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Integrazioa eta trazabilitatea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97605929-AC90-458D-B458-F75FB783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 eta Kafka ikastaroan landu ditugu: iturriak bateratu, akatsak aztertu eta gertaerak berriz prozesatzeko aukera ematen dute.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C4233FE3-D237-4599-86F2-51B5AF6E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 tabularren ereduak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29E4B6A5-5680-48A9-B21F-CC586821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Forest-ek tenperatura, momentua, biraketa-abiadura eta higaduraren arteko elkarrekintzak aztertzen ditu. Isolation Forest-ek gainbegiratu gabeko ikaskuntza lantzeko balio du.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020E31FC-9BEE-4878-9CB9-2E99460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Historikoa eta ustiapena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5147F382-6879-4203-A72F-1D09A62D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Parquet/DuckDB entrenamenduko analisirako erabiltzen dira. Elasticsearch/Kibana, kontsultak eta bistaratzea egiteko. Biltegi bakoitzak eginkizun bereizia du.</a:t>
            </a:r>
          </a:p>
        </p:txBody>
      </p:sp>
    </p:spTree>
    <p:extLst>
      <p:ext uri="{BB962C8B-B14F-4D97-AF65-F5344CB8AC3E}">
        <p14:creationId xmlns:p14="http://schemas.microsoft.com/office/powerpoint/2010/main" val="1958057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F0534CC0-8563-4BA6-9CAD-51C1537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CD1531A1-6650-4CB8-AD6A-9A162153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Aukeratutako arkitektura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4C40F063-E006-4844-913F-FB8F6706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Fluxu bera erakustaldian eta simulatutako ustiapenean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0D622C8A-7A2D-435E-ABBD-C41AEECB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IE1 b,c · IE3 a,d · Big Data aplikatua IE1 b,d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0795731F-1ABE-4A9E-8BE0-7D5A9E0D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05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570193F2-A899-4212-8554-A841C142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Sarrera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CBEAC85E-D5FB-4315-B4DF-7A1C6F42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CSV sintetikoa → Kafka cnc-telemetry-csv → NiFi; baliozkoak ez diren erregistroak DLQra, event_id bidez identifikatuta.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68DA3461-1595-4FAC-9270-CCFFFD94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Inferentzia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B5915AD4-3FD9-4715-8BF3-5940DC5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NiFik ConvertRecord eta baliozkotzea egiten ditu → FastAPI /predict deitzen du InvokeHTTP bidez → alertak Elasticsearch-era eta Kibanara.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018D9FCF-79DB-4B35-A8A3-0C6FAC7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Historikoa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CEF88BB5-6345-48C7-AA08-1CED58F4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Parquet eta DuckDB historikorako; Random Forest konexiorik gabe entrenatzen da eta FastAPIk zerbitzatzen du; Isolation Forest aparteko esperimentua da.</a:t>
            </a:r>
          </a:p>
        </p:txBody>
      </p:sp>
    </p:spTree>
    <p:extLst>
      <p:ext uri="{BB962C8B-B14F-4D97-AF65-F5344CB8AC3E}">
        <p14:creationId xmlns:p14="http://schemas.microsoft.com/office/powerpoint/2010/main" val="1396622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B80484-0FE6-4963-8170-1E66B94F925C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400550" y="51577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prstDash val="dash"/>
            <a:tail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6CB8D3-5DD8-4C6C-9499-B936302453C6}"/>
              </a:ext>
            </a:extLst>
          </p:cNvPr>
          <p:cNvCxnSpPr>
            <a:stCxn xmlns:a="http://schemas.openxmlformats.org/drawingml/2006/main" id="45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8591550" y="4348163"/>
            <a:ext cx="1" cy="328612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F2C25C-05A9-4A84-9CE1-CEB948D9FB05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5" idx="0"/>
          </p:cNvCxnSpPr>
          <p:nvPr/>
        </p:nvCxnSpPr>
        <p:spPr>
          <a:xfrm xmlns:a="http://schemas.openxmlformats.org/drawingml/2006/main" flipV="1">
            <a:off x="6215063" y="4338638"/>
            <a:ext cx="2376488" cy="476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tailEnd type="non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2F3904-AF6F-44E9-B199-A7DB7EA9FA79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6210300" y="3733800"/>
            <a:ext cx="1" cy="604838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tailEnd type="none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6C9867-C878-4213-97EF-11AA1000768E}"/>
              </a:ext>
            </a:extLst>
          </p:cNvPr>
          <p:cNvCxnSpPr>
            <a:stCxn xmlns:a="http://schemas.openxmlformats.org/drawingml/2006/main" id="4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2543175" y="4138613"/>
            <a:ext cx="0" cy="538162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1BF759-8932-4B45-8348-9DC188E5EE16}"/>
              </a:ext>
            </a:extLst>
          </p:cNvPr>
          <p:cNvCxnSpPr>
            <a:stCxn xmlns:a="http://schemas.openxmlformats.org/drawingml/2006/main" id="38" idx="1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 flipV="1">
            <a:off x="2543176" y="4129088"/>
            <a:ext cx="3662363" cy="476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tailEnd type="non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290204-676A-4518-A0C4-D31DF2E7F934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210300" y="3733800"/>
            <a:ext cx="1" cy="395288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tailEnd type="non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F7B0C4-8E56-437E-A103-2F9A22B0C52A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6210300" y="3733800"/>
            <a:ext cx="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10D63-D803-4F99-9E60-51A31C3CAD59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448800" y="3200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25047-5E8B-4DCD-8075-3B834F88D64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62800" y="3200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47E4F-5719-409E-B8E5-642208DFA25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86300" y="3200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B0F6A-309E-48F1-9BC2-5F1A29FF9C7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00300" y="3200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sp>
        <p:nvSpPr>
          <p:cNvPr id="54" name="Goiburua">
            <a:extLst xmlns:a="http://schemas.openxmlformats.org/drawingml/2006/main">
              <a:ext uri="{FF2B5EF4-FFF2-40B4-BE49-F238E27FC236}">
                <a16:creationId xmlns:a16="http://schemas.microsoft.com/office/drawing/2014/main" id="{51F76167-5356-4F8E-B350-A9BE69D9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487B89E9-13D5-40F2-903E-3C22E9C7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Arkitekturaren eskema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AA5366A4-2F64-437F-850E-C14940AF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Zerbitzuak, historikoa eta inferentzia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9167D358-F7EB-4572-93FE-E9317A7A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IE1 b,c · IE3 a,d · Big Data aplikatua IE1 b,d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F1AC3CE1-DA5B-42FA-B009-FBBB0223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06 / 35</a:t>
            </a:r>
          </a:p>
        </p:txBody>
      </p:sp>
      <p:sp>
        <p:nvSpPr>
          <p:cNvPr id="6" name="CSV">
            <a:extLst xmlns:a="http://schemas.openxmlformats.org/drawingml/2006/main">
              <a:ext uri="{FF2B5EF4-FFF2-40B4-BE49-F238E27FC236}">
                <a16:creationId xmlns:a16="http://schemas.microsoft.com/office/drawing/2014/main" id="{8BEA1DDA-C314-4C35-BD6E-0F0B3C17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7" name="CSV izenburua">
            <a:extLst xmlns:a="http://schemas.openxmlformats.org/drawingml/2006/main">
              <a:ext uri="{FF2B5EF4-FFF2-40B4-BE49-F238E27FC236}">
                <a16:creationId xmlns:a16="http://schemas.microsoft.com/office/drawing/2014/main" id="{19D76A14-974E-4164-9D57-A4CCF36A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8" name="CSV azalpena">
            <a:extLst xmlns:a="http://schemas.openxmlformats.org/drawingml/2006/main">
              <a:ext uri="{FF2B5EF4-FFF2-40B4-BE49-F238E27FC236}">
                <a16:creationId xmlns:a16="http://schemas.microsoft.com/office/drawing/2014/main" id="{0D6CC9D9-5F7E-4CC5-8967-7BB3B85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1524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Telemetria sintetikoa</a:t>
            </a:r>
          </a:p>
        </p:txBody>
      </p:sp>
      <p:sp>
        <p:nvSpPr>
          <p:cNvPr id="9" name="Kafka">
            <a:extLst xmlns:a="http://schemas.openxmlformats.org/drawingml/2006/main">
              <a:ext uri="{FF2B5EF4-FFF2-40B4-BE49-F238E27FC236}">
                <a16:creationId xmlns:a16="http://schemas.microsoft.com/office/drawing/2014/main" id="{EB139343-9BB2-441A-AA1E-F25A2B0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70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0" name="Kafka izenburua">
            <a:extLst xmlns:a="http://schemas.openxmlformats.org/drawingml/2006/main">
              <a:ext uri="{FF2B5EF4-FFF2-40B4-BE49-F238E27FC236}">
                <a16:creationId xmlns:a16="http://schemas.microsoft.com/office/drawing/2014/main" id="{B0C9AFA1-3BB6-4499-8520-2D817DC7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11" name="Kafka azalpena">
            <a:extLst xmlns:a="http://schemas.openxmlformats.org/drawingml/2006/main">
              <a:ext uri="{FF2B5EF4-FFF2-40B4-BE49-F238E27FC236}">
                <a16:creationId xmlns:a16="http://schemas.microsoft.com/office/drawing/2014/main" id="{3E85F839-B7FF-454D-9B5A-990BE2F7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33725"/>
            <a:ext cx="1524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cnc-telemetry-csv</a:t>
            </a:r>
          </a:p>
        </p:txBody>
      </p:sp>
      <p:sp>
        <p:nvSpPr>
          <p:cNvPr id="12" name="NiFi">
            <a:extLst xmlns:a="http://schemas.openxmlformats.org/drawingml/2006/main">
              <a:ext uri="{FF2B5EF4-FFF2-40B4-BE49-F238E27FC236}">
                <a16:creationId xmlns:a16="http://schemas.microsoft.com/office/drawing/2014/main" id="{BEC315E6-D665-4E94-8091-DF18A5E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190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3" name="NiFi izenburua">
            <a:extLst xmlns:a="http://schemas.openxmlformats.org/drawingml/2006/main">
              <a:ext uri="{FF2B5EF4-FFF2-40B4-BE49-F238E27FC236}">
                <a16:creationId xmlns:a16="http://schemas.microsoft.com/office/drawing/2014/main" id="{88AC12F3-D75A-411B-971A-F3B51796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NiFi</a:t>
            </a:r>
          </a:p>
        </p:txBody>
      </p:sp>
      <p:sp>
        <p:nvSpPr>
          <p:cNvPr id="14" name="NiFi azalpena">
            <a:extLst xmlns:a="http://schemas.openxmlformats.org/drawingml/2006/main">
              <a:ext uri="{FF2B5EF4-FFF2-40B4-BE49-F238E27FC236}">
                <a16:creationId xmlns:a16="http://schemas.microsoft.com/office/drawing/2014/main" id="{53EBE25D-FE7B-420F-92E9-08CCD147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33725"/>
            <a:ext cx="171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Baliozkotzea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Eraldaketa</a:t>
            </a:r>
          </a:p>
        </p:txBody>
      </p:sp>
      <p:sp>
        <p:nvSpPr>
          <p:cNvPr id="15" name="Elasticsearch">
            <a:extLst xmlns:a="http://schemas.openxmlformats.org/drawingml/2006/main">
              <a:ext uri="{FF2B5EF4-FFF2-40B4-BE49-F238E27FC236}">
                <a16:creationId xmlns:a16="http://schemas.microsoft.com/office/drawing/2014/main" id="{88AC081A-E1D5-4F5A-B827-C4647378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6" name="Elasticsearch izenburua">
            <a:extLst xmlns:a="http://schemas.openxmlformats.org/drawingml/2006/main">
              <a:ext uri="{FF2B5EF4-FFF2-40B4-BE49-F238E27FC236}">
                <a16:creationId xmlns:a16="http://schemas.microsoft.com/office/drawing/2014/main" id="{820F6AB1-EB85-46ED-82F8-E6642817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Elasticsearch</a:t>
            </a:r>
          </a:p>
        </p:txBody>
      </p:sp>
      <p:sp>
        <p:nvSpPr>
          <p:cNvPr id="17" name="Elasticsearch azalpena">
            <a:extLst xmlns:a="http://schemas.openxmlformats.org/drawingml/2006/main">
              <a:ext uri="{FF2B5EF4-FFF2-40B4-BE49-F238E27FC236}">
                <a16:creationId xmlns:a16="http://schemas.microsoft.com/office/drawing/2014/main" id="{C305D13D-AD46-4346-ABDB-1F190F18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33725"/>
            <a:ext cx="1524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Indexazioa</a:t>
            </a:r>
          </a:p>
        </p:txBody>
      </p:sp>
      <p:sp>
        <p:nvSpPr>
          <p:cNvPr id="18" name="Kibana">
            <a:extLst xmlns:a="http://schemas.openxmlformats.org/drawingml/2006/main">
              <a:ext uri="{FF2B5EF4-FFF2-40B4-BE49-F238E27FC236}">
                <a16:creationId xmlns:a16="http://schemas.microsoft.com/office/drawing/2014/main" id="{4F19E3B1-8EC9-4D2C-BAEC-DC4597A0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670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9" name="Kibana izenburua">
            <a:extLst xmlns:a="http://schemas.openxmlformats.org/drawingml/2006/main">
              <a:ext uri="{FF2B5EF4-FFF2-40B4-BE49-F238E27FC236}">
                <a16:creationId xmlns:a16="http://schemas.microsoft.com/office/drawing/2014/main" id="{4107A732-26A8-41C5-933D-D1A8143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Kibana</a:t>
            </a:r>
          </a:p>
        </p:txBody>
      </p:sp>
      <p:sp>
        <p:nvSpPr>
          <p:cNvPr id="20" name="Kibana azalpena">
            <a:extLst xmlns:a="http://schemas.openxmlformats.org/drawingml/2006/main">
              <a:ext uri="{FF2B5EF4-FFF2-40B4-BE49-F238E27FC236}">
                <a16:creationId xmlns:a16="http://schemas.microsoft.com/office/drawing/2014/main" id="{3EC54AFA-1E76-4A0F-9ED6-FCA7C42E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33725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Bistaratzea</a:t>
            </a:r>
          </a:p>
        </p:txBody>
      </p:sp>
      <p:sp>
        <p:nvSpPr>
          <p:cNvPr id="25" name="Historikoa">
            <a:extLst xmlns:a="http://schemas.openxmlformats.org/drawingml/2006/main">
              <a:ext uri="{FF2B5EF4-FFF2-40B4-BE49-F238E27FC236}">
                <a16:creationId xmlns:a16="http://schemas.microsoft.com/office/drawing/2014/main" id="{0C82785C-FC60-4196-9F0D-9F71C785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37147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4"/>
          </a:solidFill>
          <a:ln xmlns:a="http://schemas.openxmlformats.org/drawingml/2006/main" w="13335">
            <a:solidFill>
              <a:srgbClr val="536F80"/>
            </a:solidFill>
          </a:ln>
        </p:spPr>
      </p:sp>
      <p:sp>
        <p:nvSpPr>
          <p:cNvPr id="26" name="Historikoa izenburua">
            <a:extLst xmlns:a="http://schemas.openxmlformats.org/drawingml/2006/main">
              <a:ext uri="{FF2B5EF4-FFF2-40B4-BE49-F238E27FC236}">
                <a16:creationId xmlns:a16="http://schemas.microsoft.com/office/drawing/2014/main" id="{5C319975-E0C8-43DC-BE40-CF096233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575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C48"/>
                </a:solidFill>
                <a:latin typeface="Arial"/>
                <a:ea typeface="Arial"/>
                <a:cs typeface="Arial"/>
              </a:rPr>
              <a:t>Parquet eta DuckDB</a:t>
            </a:r>
          </a:p>
        </p:txBody>
      </p:sp>
      <p:sp>
        <p:nvSpPr>
          <p:cNvPr id="27" name="Historikoa azalpena">
            <a:extLst xmlns:a="http://schemas.openxmlformats.org/drawingml/2006/main">
              <a:ext uri="{FF2B5EF4-FFF2-40B4-BE49-F238E27FC236}">
                <a16:creationId xmlns:a16="http://schemas.microsoft.com/office/drawing/2014/main" id="{690DC00A-4157-4C45-9C5B-683BE6E4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Historikoa eta datuen prestaketa</a:t>
            </a:r>
          </a:p>
        </p:txBody>
      </p:sp>
      <p:sp>
        <p:nvSpPr>
          <p:cNvPr id="28" name="Inferentzia">
            <a:extLst xmlns:a="http://schemas.openxmlformats.org/drawingml/2006/main">
              <a:ext uri="{FF2B5EF4-FFF2-40B4-BE49-F238E27FC236}">
                <a16:creationId xmlns:a16="http://schemas.microsoft.com/office/drawing/2014/main" id="{8B5A5678-6FA8-420B-871B-BF523F0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76775"/>
            <a:ext cx="20955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29" name="Inferentzia izenburua">
            <a:extLst xmlns:a="http://schemas.openxmlformats.org/drawingml/2006/main">
              <a:ext uri="{FF2B5EF4-FFF2-40B4-BE49-F238E27FC236}">
                <a16:creationId xmlns:a16="http://schemas.microsoft.com/office/drawing/2014/main" id="{013B2C9C-337C-4444-BBE2-6BD2A65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910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FastAPI /predict</a:t>
            </a:r>
          </a:p>
        </p:txBody>
      </p:sp>
      <p:sp>
        <p:nvSpPr>
          <p:cNvPr id="30" name="Inferentzia azalpena">
            <a:extLst xmlns:a="http://schemas.openxmlformats.org/drawingml/2006/main">
              <a:ext uri="{FF2B5EF4-FFF2-40B4-BE49-F238E27FC236}">
                <a16:creationId xmlns:a16="http://schemas.microsoft.com/office/drawing/2014/main" id="{7BE08F9C-6BEB-420F-B202-6E0F0C13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31" name="DLQ">
            <a:extLst xmlns:a="http://schemas.openxmlformats.org/drawingml/2006/main">
              <a:ext uri="{FF2B5EF4-FFF2-40B4-BE49-F238E27FC236}">
                <a16:creationId xmlns:a16="http://schemas.microsoft.com/office/drawing/2014/main" id="{EE3C9FB3-40A8-4281-9335-3248887A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76775"/>
            <a:ext cx="17145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13335">
            <a:solidFill>
              <a:srgbClr val="9D6619"/>
            </a:solidFill>
          </a:ln>
        </p:spPr>
      </p:sp>
      <p:sp>
        <p:nvSpPr>
          <p:cNvPr id="32" name="DLQ izenburua">
            <a:extLst xmlns:a="http://schemas.openxmlformats.org/drawingml/2006/main">
              <a:ext uri="{FF2B5EF4-FFF2-40B4-BE49-F238E27FC236}">
                <a16:creationId xmlns:a16="http://schemas.microsoft.com/office/drawing/2014/main" id="{5FAB13AE-EF5D-4B8E-A7C2-DF29A1B1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91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7B4C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7B4C0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4C09"/>
                </a:solidFill>
                <a:latin typeface="Arial"/>
                <a:ea typeface="Arial"/>
                <a:cs typeface="Arial"/>
              </a:rPr>
              <a:t>DLQ</a:t>
            </a:r>
          </a:p>
        </p:txBody>
      </p:sp>
      <p:sp>
        <p:nvSpPr>
          <p:cNvPr id="33" name="DLQ azalpena">
            <a:extLst xmlns:a="http://schemas.openxmlformats.org/drawingml/2006/main">
              <a:ext uri="{FF2B5EF4-FFF2-40B4-BE49-F238E27FC236}">
                <a16:creationId xmlns:a16="http://schemas.microsoft.com/office/drawing/2014/main" id="{9C93FE4E-2B57-44E3-84ED-DE96E178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Baliogabeak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event_id</a:t>
            </a:r>
          </a:p>
        </p:txBody>
      </p:sp>
      <p:sp>
        <p:nvSpPr>
          <p:cNvPr id="34" name="Isolation Forest">
            <a:extLst xmlns:a="http://schemas.openxmlformats.org/drawingml/2006/main">
              <a:ext uri="{FF2B5EF4-FFF2-40B4-BE49-F238E27FC236}">
                <a16:creationId xmlns:a16="http://schemas.microsoft.com/office/drawing/2014/main" id="{DF6320AF-032E-4DAD-96F8-37F6CFD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76775"/>
            <a:ext cx="16764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4"/>
          </a:solidFill>
          <a:ln xmlns:a="http://schemas.openxmlformats.org/drawingml/2006/main" w="13335">
            <a:solidFill>
              <a:srgbClr val="536F80"/>
            </a:solidFill>
          </a:ln>
        </p:spPr>
      </p:sp>
      <p:sp>
        <p:nvSpPr>
          <p:cNvPr id="35" name="Isolation Forest izenburua">
            <a:extLst xmlns:a="http://schemas.openxmlformats.org/drawingml/2006/main">
              <a:ext uri="{FF2B5EF4-FFF2-40B4-BE49-F238E27FC236}">
                <a16:creationId xmlns:a16="http://schemas.microsoft.com/office/drawing/2014/main" id="{E4AABD9A-5C41-4762-A90C-4F62790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910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500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C48"/>
                </a:solidFill>
                <a:latin typeface="Arial"/>
                <a:ea typeface="Arial"/>
                <a:cs typeface="Arial"/>
              </a:rPr>
              <a:t>Isolation Forest</a:t>
            </a:r>
          </a:p>
        </p:txBody>
      </p:sp>
      <p:sp>
        <p:nvSpPr>
          <p:cNvPr id="36" name="Isolation Forest azalpena">
            <a:extLst xmlns:a="http://schemas.openxmlformats.org/drawingml/2006/main">
              <a:ext uri="{FF2B5EF4-FFF2-40B4-BE49-F238E27FC236}">
                <a16:creationId xmlns:a16="http://schemas.microsoft.com/office/drawing/2014/main" id="{01E58112-1D20-4D4A-A6E3-57CEC11D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Aparteko esperimentua</a:t>
            </a:r>
          </a:p>
        </p:txBody>
      </p:sp>
      <p:sp>
        <p:nvSpPr>
          <p:cNvPr id="38" name="Historikorako bidea bide-puntua 0">
            <a:extLst xmlns:a="http://schemas.openxmlformats.org/drawingml/2006/main">
              <a:ext uri="{FF2B5EF4-FFF2-40B4-BE49-F238E27FC236}">
                <a16:creationId xmlns:a16="http://schemas.microsoft.com/office/drawing/2014/main" id="{AFEE8D33-BBC8-4CA2-A5CC-0EF2D0FA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41290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Historikorako bidea bide-puntua 1">
            <a:extLst xmlns:a="http://schemas.openxmlformats.org/drawingml/2006/main">
              <a:ext uri="{FF2B5EF4-FFF2-40B4-BE49-F238E27FC236}">
                <a16:creationId xmlns:a16="http://schemas.microsoft.com/office/drawing/2014/main" id="{E97ED9F3-438E-42D8-AF82-215B15C8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41290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Bazterketen bidea bide-puntua 0">
            <a:extLst xmlns:a="http://schemas.openxmlformats.org/drawingml/2006/main">
              <a:ext uri="{FF2B5EF4-FFF2-40B4-BE49-F238E27FC236}">
                <a16:creationId xmlns:a16="http://schemas.microsoft.com/office/drawing/2014/main" id="{10FC512A-ABDA-4217-9E14-1420053B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43386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Bazterketen bidea bide-puntua 1">
            <a:extLst xmlns:a="http://schemas.openxmlformats.org/drawingml/2006/main">
              <a:ext uri="{FF2B5EF4-FFF2-40B4-BE49-F238E27FC236}">
                <a16:creationId xmlns:a16="http://schemas.microsoft.com/office/drawing/2014/main" id="{2CDD7A62-4580-4DFB-8A3D-F7B85CCC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788" y="43386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HTTP eskaera eta erantzuna">
            <a:extLst xmlns:a="http://schemas.openxmlformats.org/drawingml/2006/main">
              <a:ext uri="{FF2B5EF4-FFF2-40B4-BE49-F238E27FC236}">
                <a16:creationId xmlns:a16="http://schemas.microsoft.com/office/drawing/2014/main" id="{71CD76D4-F51C-442B-8A28-10F9DB55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138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HTTP eskaera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eta erantzuna</a:t>
            </a:r>
          </a:p>
        </p:txBody>
      </p:sp>
      <p:sp>
        <p:nvSpPr>
          <p:cNvPr id="50" name="Historikoaren bidea">
            <a:extLst xmlns:a="http://schemas.openxmlformats.org/drawingml/2006/main">
              <a:ext uri="{FF2B5EF4-FFF2-40B4-BE49-F238E27FC236}">
                <a16:creationId xmlns:a16="http://schemas.microsoft.com/office/drawing/2014/main" id="{7F21737A-3B0E-4BD3-9E5D-5588E88B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Baliozko telemetria</a:t>
            </a:r>
          </a:p>
        </p:txBody>
      </p:sp>
      <p:sp>
        <p:nvSpPr>
          <p:cNvPr id="51" name="DLQ bidearen etiketa">
            <a:extLst xmlns:a="http://schemas.openxmlformats.org/drawingml/2006/main">
              <a:ext uri="{FF2B5EF4-FFF2-40B4-BE49-F238E27FC236}">
                <a16:creationId xmlns:a16="http://schemas.microsoft.com/office/drawing/2014/main" id="{16E47089-693B-49E8-809D-4F854B07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4C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B4C0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4C09"/>
                </a:solidFill>
                <a:latin typeface="Arial"/>
                <a:ea typeface="Arial"/>
                <a:cs typeface="Arial"/>
              </a:rPr>
              <a:t>Baliogabeak</a:t>
            </a:r>
          </a:p>
        </p:txBody>
      </p:sp>
      <p:sp>
        <p:nvSpPr>
          <p:cNvPr id="52" name="Entrenamenduaren azalpena">
            <a:extLst xmlns:a="http://schemas.openxmlformats.org/drawingml/2006/main">
              <a:ext uri="{FF2B5EF4-FFF2-40B4-BE49-F238E27FC236}">
                <a16:creationId xmlns:a16="http://schemas.microsoft.com/office/drawing/2014/main" id="{17474962-2DAE-42B0-A559-A0527AE8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 konexiorik gabe entrenatu eta FastAPIk zerbitzatzen du.</a:t>
            </a:r>
          </a:p>
        </p:txBody>
      </p:sp>
      <p:sp>
        <p:nvSpPr>
          <p:cNvPr id="53" name="Integrazioaren muga">
            <a:extLst xmlns:a="http://schemas.openxmlformats.org/drawingml/2006/main">
              <a:ext uri="{FF2B5EF4-FFF2-40B4-BE49-F238E27FC236}">
                <a16:creationId xmlns:a16="http://schemas.microsoft.com/office/drawing/2014/main" id="{28375274-D22F-479C-8A57-CED48BE3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Integrazio osoa frogatu gabe dago.</a:t>
            </a:r>
          </a:p>
        </p:txBody>
      </p:sp>
    </p:spTree>
    <p:extLst>
      <p:ext uri="{BB962C8B-B14F-4D97-AF65-F5344CB8AC3E}">
        <p14:creationId xmlns:p14="http://schemas.microsoft.com/office/powerpoint/2010/main" val="954854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62C729D4-86C5-4415-9E5D-A53AE162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64EA6BDA-6FC9-4539-A38C-2A408C5E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Datu-iturriak eta kontratua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1D589263-FB4A-46AF-B55A-D407AC98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Integraziorako hiru sarrera mota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B7381145-F33D-4461-A43C-93C18293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IE1 c · IE3 a · Big Data aplikatua IE5 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1802E062-F862-4196-9ABE-09C08C54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07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3627F714-5652-4CA6-B8B8-954D31B7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Telemetria CSVan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612EB8A3-7CD2-4C56-835C-98FC637B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machine_id, UTC timestamp, tenperatura, rpm, momentua, higadura eta quality_flag. Datu multzoak bibraziorik ez badu, ez dugu asmatuko.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B59F88F5-6791-4D25-A60C-72B103F7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Mantentze-lanen CSV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75A5616B-D213-4ADD-B6B3-5FF3B143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machine_id, esku-hartzearen data, mota eta matxuraren data. Benetako historikoa dagoenean, testuingurua eta etorkizuneko etiketa emango ditu.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9140CEAE-CAB4-4C76-B397-B9B459CF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Ekipamenduaren logak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DC35F37C-7C3A-4F09-99C2-7C189F01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Jatorrizko testua gorde; makina, data eta kodea atera eta denbora-testuinguruarekin lotu. Gertaera bakoitzak event_id eta schema_version ditu; datu okerrak baztertu.</a:t>
            </a:r>
          </a:p>
        </p:txBody>
      </p:sp>
    </p:spTree>
    <p:extLst>
      <p:ext uri="{BB962C8B-B14F-4D97-AF65-F5344CB8AC3E}">
        <p14:creationId xmlns:p14="http://schemas.microsoft.com/office/powerpoint/2010/main" val="1058379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FA219E46-6CC0-446F-8388-F80ACFA0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6EA36610-15A8-499D-B7C0-67EB66B1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Python prozesamendu osoan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72FD8F12-07E5-4CFC-B60D-A77AF1CC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Prestaketa eta inferentzia kode-base berean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E4DBCA2C-FFCF-4F9A-98BF-7B8F5273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Programazioa IE1 b,e · IE2 c,d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F61DF957-523C-487E-9C78-E69803CF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08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5899299B-60D2-4BED-B9A5-A49724B0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Python, NumPy eta pandas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6290D5EF-028B-45F5-A850-891B50B3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Ikastaroan erabilitako lengoaia. NumPyk kalkulu numerikoa egiten du; pandasek taulak lotu eta iraganeko neurketetatik denbora-leihoak kalkulatzen ditu.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5EE5C71E-41D3-4CB6-B792-C86D9A81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scikit-learn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D1113634-6884-4AB8-8F89-2E011567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Prestaketarako pipeline-a, RandomForestClassifier eta IsolationForest. Norberak sortutako ereduak soilik gorde, eta bertsioa, aldagaiak eta parametroak erregistratu.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7AEB0E7C-1DF2-4D5F-9811-7BF7D3C6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Kodearen egitura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31DFDBB8-03AC-4075-A062-7DA74331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Kontratuak, prestaketa, entrenamendua eta FastAPI zerbitzua modulu bereizietan; Jupyterren EDA. NiFik Kafka kontsumitu eta HTTP bidez scoring-a eskatzen du.</a:t>
            </a:r>
          </a:p>
        </p:txBody>
      </p:sp>
    </p:spTree>
    <p:extLst>
      <p:ext uri="{BB962C8B-B14F-4D97-AF65-F5344CB8AC3E}">
        <p14:creationId xmlns:p14="http://schemas.microsoft.com/office/powerpoint/2010/main" val="580761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AD49BB92-64FC-4983-A70B-8BB1864E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FA37EA01-7057-4C21-8766-23199428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NiFi: eraikiko dugun fluxua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2B3645BD-298C-4400-9188-5A4B8F98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Ereduari datuak bidali aurretik baliozkotu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7FD4119A-55A1-4EC2-A9DF-893537B2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aplikatua IE1 b · IE5 b · Big Data sistemak IE1 c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A43B07EF-C54A-40AC-B722-FD61ADB2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09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332D51C1-CD3A-4DD2-A1F6-6E4986E7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Hautatutako konfigurazioa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2E063902-EC82-4CBC-AE7C-DDAD96C8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ConsumeKafka → ConvertRecord (CSVReader/JSON) → ValidateRecord, laborategi-ingurunean. Ez dago CNC errealekin loturarik.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CE057370-7829-460A-8342-4B5BFFDD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Bideak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C34D4C66-B323-4D9B-B756-EFBA9858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Baliozkoak → Elasticsearch eta POST /predict; baliogabeak edo HTTP 422 → berrogeialdia; HTTP 5xx → saiakera mugatuak.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201BE407-171A-4DCC-8850-39EB8816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Froga beharrezkoa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BA2DA746-559E-4115-9D73-BBD91E5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 fluxu esportatua, kontagailuak, backpressure, replay eta gelditze/berrabiarazte probak; integrazio osoa frogatu gabe dago.</a:t>
            </a:r>
          </a:p>
        </p:txBody>
      </p:sp>
    </p:spTree>
    <p:extLst>
      <p:ext uri="{BB962C8B-B14F-4D97-AF65-F5344CB8AC3E}">
        <p14:creationId xmlns:p14="http://schemas.microsoft.com/office/powerpoint/2010/main" val="373158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797E73-D930-4BB1-9673-8E4356821F38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077450" y="3543300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1ABCE9-A1D3-4CED-A058-76747B2AB0FF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6096000" y="4376738"/>
            <a:ext cx="1" cy="338137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67236-42B6-4D4A-AF1C-47B24104E4D0}"/>
              </a:ext>
            </a:extLst>
          </p:cNvPr>
          <p:cNvCxnSpPr>
            <a:stCxn xmlns:a="http://schemas.openxmlformats.org/drawingml/2006/main" id="31" idx="1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 flipV="1">
            <a:off x="6096001" y="4367213"/>
            <a:ext cx="3976687" cy="476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tailEnd type="non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9605E-C4D8-4B8B-A96B-3D90A309C9AE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0077450" y="3543300"/>
            <a:ext cx="0" cy="82391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tailEnd type="non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713AE6-1F33-4952-9B2C-5DF5D32A835F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2114550" y="4014788"/>
            <a:ext cx="0" cy="700087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50AC34-79E7-4F3C-A1E1-DDFD70F7C159}"/>
              </a:ext>
            </a:extLst>
          </p:cNvPr>
          <p:cNvCxnSpPr>
            <a:stCxn xmlns:a="http://schemas.openxmlformats.org/drawingml/2006/main" id="26" idx="1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 flipV="1">
            <a:off x="2114551" y="4005263"/>
            <a:ext cx="7958138" cy="476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tailEnd type="non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E3F02-F0A2-48CD-A882-EB0AC8110D38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0077450" y="3543300"/>
            <a:ext cx="0" cy="46196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tailEnd type="non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E1AF6-2F3F-4E60-81CF-41467C7C531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524750" y="30289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B2318-7337-4DEE-84B2-F7B792A8351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43300" y="30289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sp>
        <p:nvSpPr>
          <p:cNvPr id="41" name="Goiburua">
            <a:extLst xmlns:a="http://schemas.openxmlformats.org/drawingml/2006/main">
              <a:ext uri="{FF2B5EF4-FFF2-40B4-BE49-F238E27FC236}">
                <a16:creationId xmlns:a16="http://schemas.microsoft.com/office/drawing/2014/main" id="{17DF60A7-AA31-4CDF-A79B-253A0F37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61FFC5F-A3E1-4909-A1F5-3871BF01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Datu-fluxuaren eskema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F38E6FD2-FB3A-4714-81A0-0284DBFC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NiFiren prozesadoreak eta erregistroen bideak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947BE2BB-8ABD-4B04-9267-77B860E1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aplikatua IE1 b · IE5 b · Big Data sistemak IE1 c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100AA4BD-9EDE-407D-A226-94000A5E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10 / 35</a:t>
            </a:r>
          </a:p>
        </p:txBody>
      </p:sp>
      <p:sp>
        <p:nvSpPr>
          <p:cNvPr id="6" name="ConsumeKafka">
            <a:extLst xmlns:a="http://schemas.openxmlformats.org/drawingml/2006/main">
              <a:ext uri="{FF2B5EF4-FFF2-40B4-BE49-F238E27FC236}">
                <a16:creationId xmlns:a16="http://schemas.microsoft.com/office/drawing/2014/main" id="{FC551918-0A44-4754-91DA-CECB1234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7" name="ConsumeKafka izenburua">
            <a:extLst xmlns:a="http://schemas.openxmlformats.org/drawingml/2006/main">
              <a:ext uri="{FF2B5EF4-FFF2-40B4-BE49-F238E27FC236}">
                <a16:creationId xmlns:a16="http://schemas.microsoft.com/office/drawing/2014/main" id="{49DD917B-C3F3-4226-9F73-79143DDF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ConsumeKafka</a:t>
            </a:r>
          </a:p>
        </p:txBody>
      </p:sp>
      <p:sp>
        <p:nvSpPr>
          <p:cNvPr id="8" name="ConsumeKafka azalpena">
            <a:extLst xmlns:a="http://schemas.openxmlformats.org/drawingml/2006/main">
              <a:ext uri="{FF2B5EF4-FFF2-40B4-BE49-F238E27FC236}">
                <a16:creationId xmlns:a16="http://schemas.microsoft.com/office/drawing/2014/main" id="{7D52C2BC-EE2F-4C0C-AFF9-ECB472CB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266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Kafka kontsumitu</a:t>
            </a:r>
          </a:p>
        </p:txBody>
      </p:sp>
      <p:sp>
        <p:nvSpPr>
          <p:cNvPr id="9" name="ConvertRecord">
            <a:extLst xmlns:a="http://schemas.openxmlformats.org/drawingml/2006/main">
              <a:ext uri="{FF2B5EF4-FFF2-40B4-BE49-F238E27FC236}">
                <a16:creationId xmlns:a16="http://schemas.microsoft.com/office/drawing/2014/main" id="{89E0B8CA-580E-46F5-8931-F0A7864E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0" name="ConvertRecord izenburua">
            <a:extLst xmlns:a="http://schemas.openxmlformats.org/drawingml/2006/main">
              <a:ext uri="{FF2B5EF4-FFF2-40B4-BE49-F238E27FC236}">
                <a16:creationId xmlns:a16="http://schemas.microsoft.com/office/drawing/2014/main" id="{C1E5AF39-5A4E-4DAD-A6F8-E90B4155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ConvertRecord</a:t>
            </a:r>
          </a:p>
        </p:txBody>
      </p:sp>
      <p:sp>
        <p:nvSpPr>
          <p:cNvPr id="11" name="ConvertRecord azalpena">
            <a:extLst xmlns:a="http://schemas.openxmlformats.org/drawingml/2006/main">
              <a:ext uri="{FF2B5EF4-FFF2-40B4-BE49-F238E27FC236}">
                <a16:creationId xmlns:a16="http://schemas.microsoft.com/office/drawing/2014/main" id="{837CE1BB-B12D-483F-91C5-41700343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81325"/>
            <a:ext cx="266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CSVReader / JSON</a:t>
            </a:r>
          </a:p>
        </p:txBody>
      </p:sp>
      <p:sp>
        <p:nvSpPr>
          <p:cNvPr id="12" name="ValidateRecord">
            <a:extLst xmlns:a="http://schemas.openxmlformats.org/drawingml/2006/main">
              <a:ext uri="{FF2B5EF4-FFF2-40B4-BE49-F238E27FC236}">
                <a16:creationId xmlns:a16="http://schemas.microsoft.com/office/drawing/2014/main" id="{E4A346D0-578B-4696-93DC-4B2075DA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3" name="ValidateRecord izenburua">
            <a:extLst xmlns:a="http://schemas.openxmlformats.org/drawingml/2006/main">
              <a:ext uri="{FF2B5EF4-FFF2-40B4-BE49-F238E27FC236}">
                <a16:creationId xmlns:a16="http://schemas.microsoft.com/office/drawing/2014/main" id="{FD99E34D-314F-4531-A4EB-3553090B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28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ValidateRecord</a:t>
            </a:r>
          </a:p>
        </p:txBody>
      </p:sp>
      <p:sp>
        <p:nvSpPr>
          <p:cNvPr id="14" name="ValidateRecord azalpena">
            <a:extLst xmlns:a="http://schemas.openxmlformats.org/drawingml/2006/main">
              <a:ext uri="{FF2B5EF4-FFF2-40B4-BE49-F238E27FC236}">
                <a16:creationId xmlns:a16="http://schemas.microsoft.com/office/drawing/2014/main" id="{38E668B2-729B-4CB7-9B82-B81F3600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266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Eskema baliozkotu</a:t>
            </a:r>
          </a:p>
        </p:txBody>
      </p:sp>
      <p:sp>
        <p:nvSpPr>
          <p:cNvPr id="17" name="Berrogeialdia">
            <a:extLst xmlns:a="http://schemas.openxmlformats.org/drawingml/2006/main">
              <a:ext uri="{FF2B5EF4-FFF2-40B4-BE49-F238E27FC236}">
                <a16:creationId xmlns:a16="http://schemas.microsoft.com/office/drawing/2014/main" id="{BA9149D4-FEF8-4D11-AB6B-83AA0779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13335">
            <a:solidFill>
              <a:srgbClr val="9D6619"/>
            </a:solidFill>
          </a:ln>
        </p:spPr>
      </p:sp>
      <p:sp>
        <p:nvSpPr>
          <p:cNvPr id="18" name="Berrogeialdia izenburua">
            <a:extLst xmlns:a="http://schemas.openxmlformats.org/drawingml/2006/main">
              <a:ext uri="{FF2B5EF4-FFF2-40B4-BE49-F238E27FC236}">
                <a16:creationId xmlns:a16="http://schemas.microsoft.com/office/drawing/2014/main" id="{BC7063D1-ED68-4798-9A4F-46426A98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7B4C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7B4C0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4C09"/>
                </a:solidFill>
                <a:latin typeface="Arial"/>
                <a:ea typeface="Arial"/>
                <a:cs typeface="Arial"/>
              </a:rPr>
              <a:t>Berrogeialdia</a:t>
            </a:r>
          </a:p>
        </p:txBody>
      </p:sp>
      <p:sp>
        <p:nvSpPr>
          <p:cNvPr id="19" name="Berrogeialdia azalpena">
            <a:extLst xmlns:a="http://schemas.openxmlformats.org/drawingml/2006/main">
              <a:ext uri="{FF2B5EF4-FFF2-40B4-BE49-F238E27FC236}">
                <a16:creationId xmlns:a16="http://schemas.microsoft.com/office/drawing/2014/main" id="{22518D11-571D-43E1-981B-D94AD094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Baliogabeak edo HTTP 422</a:t>
            </a:r>
          </a:p>
        </p:txBody>
      </p:sp>
      <p:sp>
        <p:nvSpPr>
          <p:cNvPr id="20" name="Indexazioa">
            <a:extLst xmlns:a="http://schemas.openxmlformats.org/drawingml/2006/main">
              <a:ext uri="{FF2B5EF4-FFF2-40B4-BE49-F238E27FC236}">
                <a16:creationId xmlns:a16="http://schemas.microsoft.com/office/drawing/2014/main" id="{44552FD2-4D08-4409-9F92-A5A40EAC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148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4"/>
          </a:solidFill>
          <a:ln xmlns:a="http://schemas.openxmlformats.org/drawingml/2006/main" w="13335">
            <a:solidFill>
              <a:srgbClr val="536F80"/>
            </a:solidFill>
          </a:ln>
        </p:spPr>
      </p:sp>
      <p:sp>
        <p:nvSpPr>
          <p:cNvPr id="21" name="Indexazioa izenburua">
            <a:extLst xmlns:a="http://schemas.openxmlformats.org/drawingml/2006/main">
              <a:ext uri="{FF2B5EF4-FFF2-40B4-BE49-F238E27FC236}">
                <a16:creationId xmlns:a16="http://schemas.microsoft.com/office/drawing/2014/main" id="{4F14E004-A797-49EA-8848-9440DEFF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29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C48"/>
                </a:solidFill>
                <a:latin typeface="Arial"/>
                <a:ea typeface="Arial"/>
                <a:cs typeface="Arial"/>
              </a:rPr>
              <a:t>Elasticsearch</a:t>
            </a:r>
          </a:p>
        </p:txBody>
      </p:sp>
      <p:sp>
        <p:nvSpPr>
          <p:cNvPr id="22" name="Indexazioa azalpena">
            <a:extLst xmlns:a="http://schemas.openxmlformats.org/drawingml/2006/main">
              <a:ext uri="{FF2B5EF4-FFF2-40B4-BE49-F238E27FC236}">
                <a16:creationId xmlns:a16="http://schemas.microsoft.com/office/drawing/2014/main" id="{931C8F0C-0BC6-461B-AB9B-7E89A8D1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816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Baliozko erregistroak</a:t>
            </a:r>
          </a:p>
        </p:txBody>
      </p:sp>
      <p:sp>
        <p:nvSpPr>
          <p:cNvPr id="23" name="InvokeHTTP">
            <a:extLst xmlns:a="http://schemas.openxmlformats.org/drawingml/2006/main">
              <a:ext uri="{FF2B5EF4-FFF2-40B4-BE49-F238E27FC236}">
                <a16:creationId xmlns:a16="http://schemas.microsoft.com/office/drawing/2014/main" id="{BEB7A071-5E9F-4D28-B79F-8F86F7E0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148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24" name="InvokeHTTP izenburua">
            <a:extLst xmlns:a="http://schemas.openxmlformats.org/drawingml/2006/main">
              <a:ext uri="{FF2B5EF4-FFF2-40B4-BE49-F238E27FC236}">
                <a16:creationId xmlns:a16="http://schemas.microsoft.com/office/drawing/2014/main" id="{2EF4D9B3-A7E7-435B-89BB-F202241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29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InvokeHTTP</a:t>
            </a:r>
          </a:p>
        </p:txBody>
      </p:sp>
      <p:sp>
        <p:nvSpPr>
          <p:cNvPr id="25" name="InvokeHTTP azalpena">
            <a:extLst xmlns:a="http://schemas.openxmlformats.org/drawingml/2006/main">
              <a:ext uri="{FF2B5EF4-FFF2-40B4-BE49-F238E27FC236}">
                <a16:creationId xmlns:a16="http://schemas.microsoft.com/office/drawing/2014/main" id="{D14A1E6A-7E30-45F9-B276-8EB06BA1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816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POST /predict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26" name="Baliogabeen bidea bide-puntua 0">
            <a:extLst xmlns:a="http://schemas.openxmlformats.org/drawingml/2006/main">
              <a:ext uri="{FF2B5EF4-FFF2-40B4-BE49-F238E27FC236}">
                <a16:creationId xmlns:a16="http://schemas.microsoft.com/office/drawing/2014/main" id="{9BF92FC2-9D3F-4DC6-97B2-A27AD23D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88" y="4005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Baliogabeen bidea bide-puntua 1">
            <a:extLst xmlns:a="http://schemas.openxmlformats.org/drawingml/2006/main">
              <a:ext uri="{FF2B5EF4-FFF2-40B4-BE49-F238E27FC236}">
                <a16:creationId xmlns:a16="http://schemas.microsoft.com/office/drawing/2014/main" id="{58AD9898-AD36-4D29-981E-155465F9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4005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Indexatzeko bidea bide-puntua 0">
            <a:extLst xmlns:a="http://schemas.openxmlformats.org/drawingml/2006/main">
              <a:ext uri="{FF2B5EF4-FFF2-40B4-BE49-F238E27FC236}">
                <a16:creationId xmlns:a16="http://schemas.microsoft.com/office/drawing/2014/main" id="{48455762-4A80-4DA0-98E2-A0FB6CB0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88" y="4367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Indexatzeko bidea bide-puntua 1">
            <a:extLst xmlns:a="http://schemas.openxmlformats.org/drawingml/2006/main">
              <a:ext uri="{FF2B5EF4-FFF2-40B4-BE49-F238E27FC236}">
                <a16:creationId xmlns:a16="http://schemas.microsoft.com/office/drawing/2014/main" id="{58064F57-C9B3-478D-AF16-6AB95A1B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4367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Baliogabeen etiketa">
            <a:extLst xmlns:a="http://schemas.openxmlformats.org/drawingml/2006/main">
              <a:ext uri="{FF2B5EF4-FFF2-40B4-BE49-F238E27FC236}">
                <a16:creationId xmlns:a16="http://schemas.microsoft.com/office/drawing/2014/main" id="{D0019301-1A60-4D97-BEE0-4649FC88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43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B4C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7B4C0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4C09"/>
                </a:solidFill>
                <a:latin typeface="Arial"/>
                <a:ea typeface="Arial"/>
                <a:cs typeface="Arial"/>
              </a:rPr>
              <a:t>Baliogabeak</a:t>
            </a:r>
          </a:p>
        </p:txBody>
      </p:sp>
      <p:sp>
        <p:nvSpPr>
          <p:cNvPr id="38" name="Baliozkoen etiketa">
            <a:extLst xmlns:a="http://schemas.openxmlformats.org/drawingml/2006/main">
              <a:ext uri="{FF2B5EF4-FFF2-40B4-BE49-F238E27FC236}">
                <a16:creationId xmlns:a16="http://schemas.microsoft.com/office/drawing/2014/main" id="{29828A61-BD77-4CB4-9A31-8EF686CA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243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6B65"/>
                </a:solidFill>
                <a:latin typeface="Arial"/>
                <a:ea typeface="Arial"/>
                <a:cs typeface="Arial"/>
              </a:rPr>
              <a:t>Baliozkoak</a:t>
            </a:r>
          </a:p>
        </p:txBody>
      </p:sp>
      <p:sp>
        <p:nvSpPr>
          <p:cNvPr id="39" name="HTTP erroreen politika">
            <a:extLst xmlns:a="http://schemas.openxmlformats.org/drawingml/2006/main">
              <a:ext uri="{FF2B5EF4-FFF2-40B4-BE49-F238E27FC236}">
                <a16:creationId xmlns:a16="http://schemas.microsoft.com/office/drawing/2014/main" id="{BB9633AC-EA2D-4AB3-B403-D9255856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HTTP 422: berrogeialdia. HTTP 5xx: saiakera mugatuak.</a:t>
            </a:r>
          </a:p>
        </p:txBody>
      </p:sp>
      <p:sp>
        <p:nvSpPr>
          <p:cNvPr id="40" name="Laborategiaren muga">
            <a:extLst xmlns:a="http://schemas.openxmlformats.org/drawingml/2006/main">
              <a:ext uri="{FF2B5EF4-FFF2-40B4-BE49-F238E27FC236}">
                <a16:creationId xmlns:a16="http://schemas.microsoft.com/office/drawing/2014/main" id="{D55BF1D7-79AD-4159-A826-C10811CD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Laborategi-ingurunea. Ez dago CNC errealekin loturarik.</a:t>
            </a:r>
          </a:p>
        </p:txBody>
      </p:sp>
    </p:spTree>
    <p:extLst>
      <p:ext uri="{BB962C8B-B14F-4D97-AF65-F5344CB8AC3E}">
        <p14:creationId xmlns:p14="http://schemas.microsoft.com/office/powerpoint/2010/main" val="20600964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3503C737-658A-4918-9D2C-982767DF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D62B595-19F0-4C9A-9899-5A62BFB7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Kafka: topic-ak eta kontsumoa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D524CA7A-F2DB-4856-A1B5-3DAA98AB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NiFik Kafka kontsumitu eta irteerak koordinatzen ditu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02C60164-FB62-42BD-B39E-E7CBF433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aplikatua IE1 b · Big Data sistemak IE3 d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8A92BF88-0C21-4830-9ECC-E3CC1A50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11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65A3212A-A810-4D90-9385-6C8B1373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Aukeratutako topic-a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B13027F3-9342-4470-9B6A-9261D032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cnc-telemetry-csv topic-a; machine_id gakoa, eta telemetria bakoitzerako SHA-256 bidezko event_id identifikatzailea.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CCB07047-4BC6-49DB-B847-151070C4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Kontsumitzaile-taldea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8C9C6A3F-C72C-4BDB-BBE6-6AA8F0AE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NiFiko cnc-nifi-v1 taldeak Kafka kontsumitzen du, telemetria gordetzen du eta HTTP scoring zerbitzuari deitzen dio.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3AA5CC12-1ECF-476D-8257-E114CB48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Egiaztatu beharreko bermea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A1F63004-2AAA-4510-9F04-96B2585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Gutxienez behingo entrega (at-least-once) eta event_id bidezko deduplikazioa. Ez dugu muturretik muturrerako exactly-once bermatzen.</a:t>
            </a:r>
          </a:p>
        </p:txBody>
      </p:sp>
    </p:spTree>
    <p:extLst>
      <p:ext uri="{BB962C8B-B14F-4D97-AF65-F5344CB8AC3E}">
        <p14:creationId xmlns:p14="http://schemas.microsoft.com/office/powerpoint/2010/main" val="5499726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23957741-5FC0-420A-B682-9D094BD6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929802BA-9750-4800-84D3-DCCB2C8B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Parquet: historikorako hautua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94758D88-EB7B-4408-B812-18650520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Entrenamendua eta emaitzak indize operatibotik kanpo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7DC90890-4548-445B-8CC2-1F128268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IE3 a,d · Big Data aplikatua IE1 d · IE5 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AB9B9138-82D2-4478-B2E6-85822B62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12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CC71D5E5-FEDA-46B9-A855-9525948C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 gordeko dugu?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A1080E97-5FB9-471F-8B93-86E47393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Baliozkotutako telemetria eta iragarpenak multzo bereizietan; egunaren araberako partizioak eta machine_id zutabea. Jatorrizko sarrerak eta bazterketak auditoretzarako.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893F0D53-6DA0-4253-9C2F-B30A8DBB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Zergatik Parquet?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231086D1-9BE8-413C-A9A1-6223CE6C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Datu-ingeniaritzan landutako formatu zutabekakoa eta konprimigarria. Zutabeak hautatu eta datu historikoak prestatzeko egokia.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EC88EBBB-26FE-462C-9A67-69E092F8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Hasierako politika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C221CF9F-F40C-47E2-878B-D2402716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Proposamena: 90 eguneko telemetria azterketa longitudinalerako, eta ebaluatutako datu multzoen bertsio guztiak. Benetako industria-politika finkatu aurretik dimentsionatu.</a:t>
            </a:r>
          </a:p>
        </p:txBody>
      </p:sp>
    </p:spTree>
    <p:extLst>
      <p:ext uri="{BB962C8B-B14F-4D97-AF65-F5344CB8AC3E}">
        <p14:creationId xmlns:p14="http://schemas.microsoft.com/office/powerpoint/2010/main" val="11148316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9F48B3F1-9184-4DDE-961A-C0277033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C8FEDE10-33E9-4119-849E-6CDCEB80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DuckDB: datu multzoa prestatzea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18D9907C-00E0-4B9F-9E55-051B8A50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SQL kontsultak Parquet historikoaren gainean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5F403D79-347F-447E-ACAA-3B434546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IE1 b · Big Data aplikatua IE1 d · IE3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FEF657B9-634D-4890-B87D-7E778168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13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41F9071A-9024-4E35-9E55-EB5DFE21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Kontsulta zehatzak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7A3E811B-E782-453A-96A1-98FF330A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Denbora-tarteak eta makinak hautatu; mantentze-esku-hartzeak lotu; leihoak osatu eta entrenamendu, baliozkotze eta test zatiak prestatu.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B2EAF696-EC13-4E77-AE47-01D2B84B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Zergatik DuckDB?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EA35743C-7B78-4E3A-8EB8-C149643A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Ikastaroan landu eta praktikatu dugu. pandasera pasa aurretik iragazteko balio du, banatutako motor bat administratu beharrik gabe.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2350ACDF-158D-4A8F-BAE2-13ADEE43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Onartutako muga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104ED5B6-5C9F-492D-8466-73E2450B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Makina bakarrean dabil. RAM, denbora eta diskoa neurtu; banatutako fitxategien eta errepliken arriskuak dokumentatu, tokiko diseinua sistema banatua dela esan gabe.</a:t>
            </a:r>
          </a:p>
        </p:txBody>
      </p:sp>
    </p:spTree>
    <p:extLst>
      <p:ext uri="{BB962C8B-B14F-4D97-AF65-F5344CB8AC3E}">
        <p14:creationId xmlns:p14="http://schemas.microsoft.com/office/powerpoint/2010/main" val="14201618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016FDC01-1B8C-4BB8-A39C-19D079D6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2283C052-629C-42FC-AE39-C73284D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Datuen prestaketa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E1AB93FB-B59E-4B9C-AF2A-97A160F0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5 minutuko leihoak eta 24 orduko etiketak: proposamena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401635E9-2DBC-4005-AA84-BBF5D89E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aplikatua IE5 b · Big Data sistemak IE1 c · Programazioa IE2 c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1707471B-4204-4529-AA25-A6F8D1C9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14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3C562D11-710E-414B-B553-68024D7B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Garbiketa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895CD1A9-945C-4015-A2C9-1D0B47AF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Bereizi sentsore-akatsak eta muturreko balio sinesgarriak; jatorrizkoak eta kalitate-markak gorde. Ez interpolatu etorkizuneko datuetatik. Hutsuneak train zatian ikasitako medianekin bete.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552A61D5-C61F-4A48-8D78-2238B63D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Hasierako ezaugarriak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3031F297-515E-4D57-B576-5E167678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Uneko tenperatura, rpm, momentua eta higadura; makina bakoitzeko azken 5 minutuen batezbestekoa, desbideratzea eta joera. Iturriaren unitateak egokitu.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CF2D016A-7380-42C5-822C-E67F3586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Etiketa eta zatiketa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2002BCF0-46EC-424B-A8DB-C4FCDCBB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y=1 baldin t eta t+24 h artean datatutako matxura badago. Jarraipen osoa ez duten laginak baztertu, eta leihoek edo etiketek zatiketen arteko datu-ihesik ez eragitea zaindu.</a:t>
            </a:r>
          </a:p>
        </p:txBody>
      </p:sp>
    </p:spTree>
    <p:extLst>
      <p:ext uri="{BB962C8B-B14F-4D97-AF65-F5344CB8AC3E}">
        <p14:creationId xmlns:p14="http://schemas.microsoft.com/office/powerpoint/2010/main" val="6352428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F5C24487-6F5D-4F2E-BA5E-EE1D63B8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987AA086-FF20-47EA-9B67-1CA40E89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Aukeratutako AA mota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FE6BFB8D-D020-416F-BF9A-93ABF0D2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Zeregin zehatz baterako AA ahula eta ML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05C999A2-4BFA-4CE2-9A26-90C7A2A1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AA IE1 a,c · IE2 b,g · ML IE1 a,b · IE2 b,c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8FDB2C9F-BCA8-48C8-9B3D-982256C9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15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38067A0C-23C1-4D7E-94F0-7CABBED0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AA eta ML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64A2F264-5904-4F53-8C5A-C31BC4B0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Adimen artifizialak arrazoibidea eta ikaskuntza barne hartzen ditu. Gure aplikazioak ikaskuntza automatikoa erabiltzen du, neurketetatik eta historikotik ikasteko.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922B2AA6-A5CB-4ED0-AB0D-64E95E9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AA ahula eta indartsua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81A9D51A-9AC1-4481-95E8-769FB603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AA ahula: CNCaren arriskua aztertzeko zeregin espezifikoa. AA indartsua: askotariko zereginak orokorki ebazteko gaitasuna; ez dugu halakorik proposatzen edo frogatzen.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1F498D3C-76E9-4F3C-841B-B2157492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Sailkapena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77BB00A8-4BC7-4189-A511-512BD0C1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Forest: gainbegiratutako ML tabularra. Isolation Forest: gainbegiratu gabeko ML. Arauak eta logika lausoa AA sinbolikoan sartzen dira; sare neuronalak konexionistak dira.</a:t>
            </a:r>
          </a:p>
        </p:txBody>
      </p:sp>
    </p:spTree>
    <p:extLst>
      <p:ext uri="{BB962C8B-B14F-4D97-AF65-F5344CB8AC3E}">
        <p14:creationId xmlns:p14="http://schemas.microsoft.com/office/powerpoint/2010/main" val="9660798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AA606730-DBE0-4909-8CCB-19426085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82C65069-F0FA-4F38-A177-541A462F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Kalitaterako eta berrikuspenerako arauak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1F7E3476-7C9D-4850-927D-7E507FEA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Arau deterministak, beste motor lauso bat gehitu gabe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44D35A4A-6707-4938-919C-6459E9D1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AA IE1 c · IE2 b,g · ML IE6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94F24437-CBFF-4D43-8CE2-47284F50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16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6BA4A2D9-D35D-43EF-96B2-D047823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Erabiliko ditugun arauak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726927F7-CB44-412E-998F-515CFE1A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Timestamp baliogabea, unitate ezezaguna edo derrigorrezko eremurik eza → baztertu. Datu zaharregia → «egungo daturik ez»; ez «makina osasuntsua» lehenetsita.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28E7C7CF-CC77-4B30-9A5B-7E58FA2C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Zergatik?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C86E09E5-7FC2-4C7A-9F11-05DA7EA8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Arauek datuen kontratua zaintzen dute. Random Forest-ek etiketen araberako erlazioak ikasten ditu; Isolation Forest-ek bitxikeriak markatzen ditu. Ez dugu hirugarren arrisku-motorrik behar.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0A7E3616-916B-4182-BF39-8EAF17F9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Ikasgaiarekin lotura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4332D4F8-FDD7-4C89-A859-C35D917E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Logika lausoa teknika egokia eta azalgarri bat da, baina kidetasun-funtzioek eta arauek hautatutako nukleoak behar ez duen kalibrazio gehigarria ekarriko lukete.</a:t>
            </a:r>
          </a:p>
        </p:txBody>
      </p:sp>
    </p:spTree>
    <p:extLst>
      <p:ext uri="{BB962C8B-B14F-4D97-AF65-F5344CB8AC3E}">
        <p14:creationId xmlns:p14="http://schemas.microsoft.com/office/powerpoint/2010/main" val="16713155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137A48F9-E41D-4666-82CE-AF73E250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15713AE2-5442-4938-85DF-2899DC34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Random Forest: eredu nagusia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84C83CB6-F1A0-4783-9479-C4C7B89B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Gainbegiratutako ereduak sortzen du matxura-arriskuaren alerta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C555674A-7E6C-422B-B412-1CB86924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ML IE3 c,f · IE6 a,b · Programazioa IE2 c,d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FAF1C4B4-84F4-4538-A957-63892D20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17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DF81F32B-CCB9-4189-B7D8-3B9B42E5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 ikasten du?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6A9E3C85-DC23-4E03-BAC8-A21C1F9B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Funtzionamendu-baldintzen, denbora-ezaugarrien eta hautatutako epeko matxuren arteko erlazio ez-linealak, baliozko matxura-etiketak daudenean.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AD31E02D-6214-47CE-A0D2-66B35C44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Hasierako konfigurazioa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CD177EA9-F895-42F4-807B-408E91B2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200 zuhaitz; max_depth=12, min_samples_leaf=5, class_weight=balanced eta random_state=42. Hasierako parametroak dira: baliozkotzeak doikuntzak gidatuko ditu.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84C0EA19-1B27-4F07-91D6-79A8E56B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Zergatik aukeratu?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21D845E4-02E3-4974-8FF0-CFDC3BD1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Ikastaroan landutako eredu tabularra; elkarrekintzak hartzen ditu kontuan eta ez du KNN/SVM bezalako eskalatzerik behar. Aldagaien garrantzia ez da kausalitatea.</a:t>
            </a:r>
          </a:p>
        </p:txBody>
      </p:sp>
    </p:spTree>
    <p:extLst>
      <p:ext uri="{BB962C8B-B14F-4D97-AF65-F5344CB8AC3E}">
        <p14:creationId xmlns:p14="http://schemas.microsoft.com/office/powerpoint/2010/main" val="6236607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C5D980F3-6CB2-41FE-9006-2BD8F90D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8C2AA678-EA03-441F-B598-E999642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Isolation Forest: laguntzailea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614B797C-9DFD-4FF3-AFF3-189E364E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Anomaliek berrikuspena eragiten dute, ez bigarren matxura-erabakia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A6FFFB61-CA4F-4FF4-83A2-F2E6E75C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ML IE4 b,c · IE6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59F70F05-73E8-4972-BD7C-089B1564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18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2402FBC2-5129-411B-807C-CD9ABCBF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Datuak eta erabilera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CB6108B1-AD83-416D-BADE-7DCDB75C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Funtzionamendu normaltzat hartutako datuekin entrenatu, halako historikoa dagoenean. Inferentzian eskuragarri dauden ezaugarri berak erabili, etorkizuneko etiketarik gabe.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376B288B-0E78-451B-AF57-CF6305F5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Hasierako konfigurazioa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38ED6AEB-E197-44ED-8014-002EF5C7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200 zuhaitz, max_samples=256 eta random_state=42. Score-a gorde; atalasea baliozkotzean aukeratu eta berrikusitako alertak erregistratu.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9A490153-2880-44D3-9148-719A919A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Eginkizun mugatua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0DCE7F11-C67A-4E88-A1F6-D983D505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Ohiz kanpoko patroiak edo erregimen berriak hautematea. Anomalia batek berrikuspen teknikoa eskatzen du; ez da berez matxura, eta ez du alerta gainbegiratua ezeztatzen.</a:t>
            </a:r>
          </a:p>
        </p:txBody>
      </p:sp>
    </p:spTree>
    <p:extLst>
      <p:ext uri="{BB962C8B-B14F-4D97-AF65-F5344CB8AC3E}">
        <p14:creationId xmlns:p14="http://schemas.microsoft.com/office/powerpoint/2010/main" val="1929394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170721B3-8730-4A17-B077-C8FA058C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3583E2B9-D9C6-4E69-852F-DDD41EAC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Alerten politika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D2C659BA-0306-44C4-B897-EEAAD04A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Bi abisu mota, AND adostasunik gabe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65BA4E4C-63B3-46C5-AB94-203D4E23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AA IE2 g · ML IE6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A7E393CC-8A53-4B5D-88B2-CB3E0991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19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40D57039-916A-448C-BE7E-76CF729A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Matxura-arriskua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4A274E68-B3F2-4F3B-87F4-5EDDB0B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 ≥ baliozkotutako atalasea → planifika daitekeen ikuskapen-abisua. Erakutsi makina, unea, denbora-horizontea eta bertsioa.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A3E624BA-FFD6-4DEF-A354-10355E38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Anomalia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EBEDE15F-3992-4D29-8511-F3B3C6D5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Isolation Forest-ek bere atalasea gainditzen badu → egoera edo datua berrikusteko abisua, arrisku gainbegiratutik bereizia. Score-a eta arrazoia adierazi.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4197182E-FDBF-477F-A99C-C2B724FD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Ustiapena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FEA29EE0-F3B3-4CC9-A2C5-3DE93B7D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Makina bereko abisu iraunkorrak multzokatu, lagin bakoitza intzidentzia berri bihur ez dadin. Teknikariak baieztatu, baztertu edo planifikatuko du; ez da CNCa automatikoki geldituko.</a:t>
            </a:r>
          </a:p>
        </p:txBody>
      </p:sp>
    </p:spTree>
    <p:extLst>
      <p:ext uri="{BB962C8B-B14F-4D97-AF65-F5344CB8AC3E}">
        <p14:creationId xmlns:p14="http://schemas.microsoft.com/office/powerpoint/2010/main" val="19115621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643D6F9A-4BD3-4395-B1F2-84814A07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6C3B2FC-2B12-490F-85D0-DF69B763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Egin beharreko baliozkotzea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2A474BC1-D5E6-4D94-9010-217D2C5A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Arazo bera, zatiketa bera eta prestaketa koherentea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5D1EB674-C74C-4721-80AA-B82FC261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ML IE3 c,f · IE6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63DBA265-7DA8-4F4E-AAE5-B9567D37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20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F6DD497D-B8C1-4A51-84B9-F7BDC2BB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Zatiketak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D098B7E0-0BB6-4431-A0AC-A6FFD781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Benetako historikoa: lehen %70 train, hurrengo %15 validation eta azken %15 test. Leihoen eta aurreikuspen-epearen artean datu-ihesa saihestu; datak eta makinak erregistratu.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E40A34AD-3C03-4786-A557-9C06D64F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Atalasea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14BCFEF2-C94B-4BF2-97BA-697304F4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Hasierako irizpide akademiko gisa, F1 maximizatzen duen atalasea validation zatian aukeratu. Recall, precision, negatibo faltsuak eta kostua jaso; ez egokitu test datuekin.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49E3EFAF-A2DE-49FC-B9D6-F3A12E74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Amaierako proba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E336B0D3-99D3-4612-A0A9-30A8814C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Test zatian behin ebaluatu: nahasmen-matrizea, F1, recall, aurreikuspen-aurrerapena eta alerta faltsuak makina/egun bakoitzeko. Alderatu «matxurarik ez» eta erregresio logistikoarekin.</a:t>
            </a:r>
          </a:p>
        </p:txBody>
      </p:sp>
    </p:spTree>
    <p:extLst>
      <p:ext uri="{BB962C8B-B14F-4D97-AF65-F5344CB8AC3E}">
        <p14:creationId xmlns:p14="http://schemas.microsoft.com/office/powerpoint/2010/main" val="18631022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A8F71A4F-E489-402F-AA03-F16F5D6C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8F16C743-3C8F-4D99-AAEA-FFCCDA25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FastAPI: inferentzia-zerbitzua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F2B6DA68-0324-46F2-8133-2D85F310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Eredua behin kargatu eta NiFiren eskaerei erantzun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FBA03173-2DE4-46B4-A718-AE7DECEF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Programazioa IE2 c,d · ML IE3 f · Big Data sistemak IE4 e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C34C59CE-F949-4BC6-97DE-110B0FAB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21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A1431806-67BE-4142-BC64-B4B636D1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Abioan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F4DDDEA2-353F-484E-955C-C7DF8AD1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FastAPIren /health endpoint-ak eredua behin kargatzen du, eskema egiaztatuta eta tokiko sarbide mugatuarekin.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94F1D55F-9ED3-41E7-8A47-5C127DCA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Gertaera bakoitzean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BFFD2E58-6531-425F-A67C-139C65EA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NiFik InvokeHTTP bidez /predict deitzen du, makina bereko sentsoreak eta iraganeko testuingurua emanez; aurreikuspena, score-a eta alerta-maila jasotzen ditu.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6B50B160-2749-4667-8225-FE653053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Erroreak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F2A058F6-C0BB-4E91-82B3-A97D3DB2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HTTP 422 → berrogeialdia; 5xx → saiakera mugatuak; datu historikorik gabeko hasiera esplizitua, eta makinetako eragingailuei agindurik ez.</a:t>
            </a:r>
          </a:p>
        </p:txBody>
      </p:sp>
    </p:spTree>
    <p:extLst>
      <p:ext uri="{BB962C8B-B14F-4D97-AF65-F5344CB8AC3E}">
        <p14:creationId xmlns:p14="http://schemas.microsoft.com/office/powerpoint/2010/main" val="14073767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95CFAE94-75A8-4998-859C-3E63D931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8C68D75E-2149-4B1D-81FE-0941BFE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Elasticsearch eta Kibana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33F0037A-1A75-41F8-9E08-9F2962A1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Kontsulta-biltegi bat eta panel operatibo bakarra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997243F4-575E-43D1-893C-46F09212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IE2 a,b · IE4 e,f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9565E27A-A08B-4C07-84CF-CC36BFDD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22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1C043DA6-F4E5-4B18-A6ED-2576E80B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Elasticsearch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259CCAEF-FF6E-4FB8-B4D1-6FBAA384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Iragarpen-indizea: timestamp (date), machine_id (keyword), score numerikoak, kalitatea eta model_version. event_id erabili dokumentu-ID gisa, saiakera errepikatuak idempotenteak izateko.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32D700D1-C50F-4DED-AE0F-47047C31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Kibana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C82347B0-D8FB-485D-B87D-1A790DDF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Iragarpenentzako data view-a; makina, data eta alerta motaren araberako iragazkiak. Denbora-serieak, abisuen sailkapena eta erregistroen ikuspegia ikerketarako.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7E73171A-6E47-4867-A4C8-3EA2CCE1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Hautuaren arrazoia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B1E9BD93-EFE9-4E13-897E-B130A583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Ikastaroan landutako multzoak bilaketa, agregazioak eta bistaratzea batzen ditu. Hasierako proposamena: 30 egun emaitza operatiboentzat; historiko osoa Parquet-en.</a:t>
            </a:r>
          </a:p>
        </p:txBody>
      </p:sp>
    </p:spTree>
    <p:extLst>
      <p:ext uri="{BB962C8B-B14F-4D97-AF65-F5344CB8AC3E}">
        <p14:creationId xmlns:p14="http://schemas.microsoft.com/office/powerpoint/2010/main" val="13000073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D00779C6-2B8C-4C73-87C5-4EAEBE17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B0D0489-8334-45E8-B3A8-821118F7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Eraikiko dugun panela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63FF8BCC-B425-4049-B494-7337B194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Mantentze-lanerako galdera praktikoak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5F2ADFA8-956A-4497-97C5-74AF82C7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IE2 a,b · IE4 f · ML IE6 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1C273648-0020-48E5-9F22-8AF28EDB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23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DBA9E479-3F08-434C-8FA1-DB6F956D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Egoera eta bilakaera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8B6C328E-A85E-466B-A142-4C59DF3D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Makina bakoitzeko tenperatura/momentua eta arriskua denboran; esku-hartzeak eta hutsuneak markatu. Nola aldatu da makinaren egoera?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0D5EEB6C-2AE0-46B2-9CF9-3DFDFB4D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Zain dauden abisuak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66DB9BF4-8703-4837-B37D-2557C0BC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Arriskuaren araberako makina-zerrenda eta anomalien zerrenda bereizia. Zer ikuskatu behar dugu, eta zer datu berrikusi?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09D925D7-10B5-4104-994E-0287F3AE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Kalitatea eta ebaluazioa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2E75C5FF-C06C-4D11-89D2-5A485620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Azken datuaren antzinatasuna, bazterketak eta atzerapena; rpm–momentu sakabanaketa. Nahasmen-matrizea eta baieztatutako alertak ebaluazioan.</a:t>
            </a:r>
          </a:p>
        </p:txBody>
      </p:sp>
    </p:spTree>
    <p:extLst>
      <p:ext uri="{BB962C8B-B14F-4D97-AF65-F5344CB8AC3E}">
        <p14:creationId xmlns:p14="http://schemas.microsoft.com/office/powerpoint/2010/main" val="3110103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68A757F2-5BEA-4510-8A54-9F730F8F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34AA8A0-75D1-46DC-97ED-E308EC22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Diseinuaren segurtasuna eta osotasuna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3EC5E217-302F-454C-91BF-BE6A4B87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OT konexiorik gabeko tokiko bertsio erreproduzigarria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9A9C6499-0607-4333-B6A2-324CE90D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AA IE6 a,b · Big Data sistemak IE3 d · Big Data aplikatua IE3 a,b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1A5C2908-59BE-4E26-9E35-1628A3EE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24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B7C61629-ABA5-44A6-B4CD-9C41549C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Datuen osotasuna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1C9ACB98-B552-41BD-90BC-93AD79CF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Eskema eta fitxategien hashak; sarrera, artxibo eta indexazio kontagailuak; event_id bidezko idempotentzia. Bikoizketak, berreskuratzea eta ustelkeria detektagarria probatu.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74642EB2-56E2-4528-830A-2414E5B6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Laborategia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DA428451-D495-4A79-9B72-A6837F39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Docker Compose lokala NiFi, Kafka, Elasticsearch eta Kibanarako. Bolumen bereiziak eta ostalarira mugatutako sarbidea. Ostalari bakarrak ez du benetako erabilgarritasun handirik.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8BD5147E-2AAB-4BD3-BDB7-7A3519A4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Pertsonen arriskuak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C2D94959-432A-40B4-B544-6AD98B25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Ez gorde beharrezkoak ez diren operadore-identifikatzaileak. Sarbidea eta atxikipena zehaztu; alerta faltsuen, oharkabean igarotako matxuren eta makina-erregimenen araberako alborapena aztertu.</a:t>
            </a:r>
          </a:p>
        </p:txBody>
      </p:sp>
    </p:spTree>
    <p:extLst>
      <p:ext uri="{BB962C8B-B14F-4D97-AF65-F5344CB8AC3E}">
        <p14:creationId xmlns:p14="http://schemas.microsoft.com/office/powerpoint/2010/main" val="10652174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CE3BA502-3F6D-4977-9F91-B5011E44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71F79A77-6735-492C-A65E-18EC2A86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Hasierako dimentsionamendua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FBC08845-7FC5-4940-A1CA-4B634AD4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Neurtu beharreko hipotesi zehatzak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786CA7B9-96E7-41FC-8288-D7AA7F83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05CE7E84-F224-4593-813D-9222250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25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5B13ACF0-D94A-47FE-A70C-A3F68A99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Laborategiko karga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A6B310E5-7791-4F29-B663-C74D09EE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Simulazioa: 50 makina, segundo bakoitzeko erregistro bat → 4,32 milioi gertaera/egun. 200 byte/gertaera → 864 MB/egun; 90 egun → 77,76 GB, konpresiorik gabe.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4D5EAC43-28AA-4F57-A0D1-9E7E0705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Gaitasun-probak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666373D2-A378-404F-A80C-166273D4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Throughput-a, inferentziaren latentzia, kontsumitzaileen lag-a, RAMa eta diskoa neurtu. Parquet-en konpresioa eta indizeen benetako tamaina jaso; ez estrapolatu frogatu gabe.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075A7F24-D7B8-4CC2-AE1C-D5757212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Kostua eta balioa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372A0616-3128-4CFB-8FB4-BB1D762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Saihestutako orduak × 1.200 € − alerta faltsuak, ikuskapenak eta azpiegitura. Simulazioari ez diogu benetako aurrezkirik edo industria-errendimendurik egotziko.</a:t>
            </a:r>
          </a:p>
        </p:txBody>
      </p:sp>
    </p:spTree>
    <p:extLst>
      <p:ext uri="{BB962C8B-B14F-4D97-AF65-F5344CB8AC3E}">
        <p14:creationId xmlns:p14="http://schemas.microsoft.com/office/powerpoint/2010/main" val="486178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8E70454A-A1A3-4779-9E3F-B902CE2C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B4A6D471-1170-4FC0-A071-2FCB76EC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Beste aukera batzuk, behar izanez gero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79D4C4DD-091A-4B32-A7F3-F3D0133C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Ez dira lehen bertsioan sartuko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D42EF8EA-A9AF-4768-8099-371F77F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6F34F567-0A1E-45B2-BD8F-B30AE2D2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26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B9F66376-BDE3-4697-9B15-22C46D3B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Datuak eta panela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28F510BE-A40E-4548-AE66-D661E6A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InfluxDB/TimescaleDB eta Grafana, denbora-serieen pisua nagusitzen bada; MongoDB, dokumentu heterogeneoak funtsezkoak badira. Horrek Kibana erabakia berrikustea eskatuko luke.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6B3689C9-4913-4D04-A9ED-F5277272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Eredua eta eskalagarritasuna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F5C402F0-1FAB-4ACF-8124-4FF55DE8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Boosting, Random Forest-ekiko hobekuntza erreproduzigarria badakar; Spark, makina bakarrak baliabide edo denbora eskakizunak betetzen ez baditu. Ez gehitu frogarik gabe.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7D82595D-5245-436D-85CD-3C981BF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Industria-konexioa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CCB14C1F-186C-460C-BEA4-A88620CB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OPC UA/MQTT, makina edo gateway bateragarrietarako. Ikastaroaren tokiko edukitik kanpoko luzapenak dira eta baimendutako probak eskatzen dituzte. Laborategiak fitxategiekin jarraitzen du.</a:t>
            </a:r>
          </a:p>
        </p:txBody>
      </p:sp>
    </p:spTree>
    <p:extLst>
      <p:ext uri="{BB962C8B-B14F-4D97-AF65-F5344CB8AC3E}">
        <p14:creationId xmlns:p14="http://schemas.microsoft.com/office/powerpoint/2010/main" val="6888110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3C395E72-C9F4-4C86-A61F-66D66D6A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3AC4F307-486B-474C-84D7-909B21A7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Lehen entrega: datuak eta entrenamendua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2AE2E602-92C6-45A8-819E-4D575BC2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Eredu erreproduzigarri bat eraikitzea lehenetsi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9E50F23E-EA74-4698-AC7B-FDE10E60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B4122571-5341-4B2F-9B13-54EC79F0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27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3847EF2B-936C-422E-9692-1FF819F2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Entregagaiak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07524248-C5D0-4165-B546-8AD91289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JSON kontratua, jatorri ezaguneko sarrerak, Parquet datu multzoa eta DuckDB kontsulta; EDA koadernoa eta prestaketa/entrenamendu moduluak.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07C794C6-47E1-4BA4-8509-3AD8BE14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Aukeratutako ereduak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022F7D6C-9772-40A3-992A-B59D3444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Norberak egindako Random Forest eta Isolation Forest, hash eta parametroekin. Zatiketen txostena eta oinarrizko erreferentzien konparazioa, garaile industrialik aldarrikatu gabe.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8A4E0427-6A47-4DB9-B1D2-A2FA8B16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Onarpen-irizpideak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FFB662BF-EEB8-4A7D-B1BB-A9DB0659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Kode erreproduzigarria, datu-ihesik eza frogatuta, metrikak eta erroreen azalpena. AI4I/datu sintetikoak badira, «egoera-sailkapenaren eta fluxuaren proba» dela esan.</a:t>
            </a:r>
          </a:p>
        </p:txBody>
      </p:sp>
    </p:spTree>
    <p:extLst>
      <p:ext uri="{BB962C8B-B14F-4D97-AF65-F5344CB8AC3E}">
        <p14:creationId xmlns:p14="http://schemas.microsoft.com/office/powerpoint/2010/main" val="98273257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6AB3684A-C6CE-4AA0-BC1E-CAA8C79D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16214CA-3BF5-4F37-90D3-571844C6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Bigarren entrega: fluxu osoa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1455361F-C6C7-4A88-8FA6-104DDC8B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Berreskuratzea eta bistaratzea erakutsi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55699FBD-E23F-4AC1-818C-A2941D24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3163FBD0-AB3A-419A-A9F1-99970A7D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28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E93AE05D-BE35-4352-89A2-A3FCD7BF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Entregagaiak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CCBD723D-0609-4E58-8682-A85A53B4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NiFiren process group esportatua, Kafka topic-ak eta kontsumitzaile-taldea, FastAPI zerbitzua, Elasticsearch mapping-ak eta Kibana panela, modu erreproduzigarrian.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D8592DF7-2498-4A76-86C5-CAC40B66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Ohiko proba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D5563128-B873-4C93-B8CA-100758B1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Sarrera baliozko batek historiko-erregistroa, iragarpena eta bistaratzea sortzen ditu, event_id eta bertsio berarekin. Etapa bakoitzeko denborak neurtu.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16101EDA-A336-4BD9-B042-F6C09A09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Hutsegite-probak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099EEB53-9FC8-49B5-99AD-3EE93E81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Eremu baliogabea, mezu bikoiztua, kontsumitzailearen berrabiaraztea eta helmuga aldi baterako itzalita. Egiaztatu bazterketa, idempotentzia eta berrirakurketa.</a:t>
            </a:r>
          </a:p>
        </p:txBody>
      </p:sp>
    </p:spTree>
    <p:extLst>
      <p:ext uri="{BB962C8B-B14F-4D97-AF65-F5344CB8AC3E}">
        <p14:creationId xmlns:p14="http://schemas.microsoft.com/office/powerpoint/2010/main" val="2972201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EF94CB49-2170-49D7-B772-DA4D45FF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545EF61-4C8C-4793-9AAA-D9A27821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Benetako abiapuntua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2AC4ADD7-D395-470C-8646-338FD6DA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Analisirako azpiegitura berrerabili, erabakitzeko nukleoa aldatu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04EBB5CD-235B-43B4-9DDC-E49AF07B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81895138-5522-4048-A4D3-25388010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29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7012B807-4FB4-4E75-BC86-84AEC5C9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Eskuragarri dagoena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6909E850-AD9D-4878-92D8-E9CDC74F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Mamdani + Isolation Forest prototipoa konparaziorako gordetzen da. Errepositorioan Random Forest eta API kodea daude, proba isolatuekin; fluxu osoa ez dago frogatuta.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4195AB85-87CE-4BE1-8A66-DB8A7694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Hartutako erabakia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29F7A1C6-C6F2-4F78-A45C-2BEEE5C4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 eredu nagusia izango da; Isolation Forest osagarria eta bereizia. Zerbitzu berrian AND araua kendu, eta aurreko prototipoa erreferentzia historiko gisa gorde.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3E5FE43E-310B-4B1F-8587-B8438906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Oraindik egiteko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D1C6BC48-AACC-4B53-8FC0-2A82B2A7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Datu longitudinalak ebaluatu eta Kafka → NiFi → FastAPI → Elasticsearch/Kibana integrazioa exekutatu. Ez erabili metrika zaharrak bertsio berriaren errendimendu gisa.</a:t>
            </a:r>
          </a:p>
        </p:txBody>
      </p:sp>
    </p:spTree>
    <p:extLst>
      <p:ext uri="{BB962C8B-B14F-4D97-AF65-F5344CB8AC3E}">
        <p14:creationId xmlns:p14="http://schemas.microsoft.com/office/powerpoint/2010/main" val="15913914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352B936A-61ED-4C08-AF60-2EF429E7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012471D8-CAFC-40C1-A46E-92112B6E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Eraikuntza-plana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FFC4B526-1401-4B10-99CC-F490E448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Hiru mugarri eta funtzio bakoitzerako ardura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0723D8FA-8BD9-416D-8674-7CD9405F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02EB7D17-6690-4DBA-87C9-3F0B451A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30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002FBA51-A65D-4D50-A359-A915F8AD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1. mugarria: datuak eta eredua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8BB2524D-A813-43C0-8790-6F813C2B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Datu-ingeniaritzak kontratuak, historikoa eta kalitatea prestatuko ditu; modelatzeak etiketak, zatiketak, Random Forest eta Isolation Forest.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B848CCEE-4405-4809-9370-A78EECD5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2. mugarria: integrazioa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E4480F3C-BBFC-4C2B-8F4B-04F1FD31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Integrazio-taldeak Kafka eta NiFi → FastAPI konfiguratuko ditu; bistaratze-taldeak indizeak eta Kibana. Kate osoan event_id bera mantendu behar da.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F50C669E-777C-416B-84E6-B5A0A447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3. mugarria: defentsa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5DEFD4EF-96E9-47F9-ACCC-3833E5B7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Irizpide nagusiak, metrikak, arriskuak, kostua eta mugak jasoko dituen txostena; ANEXO4n proposamena, ANEXO1en rolak, akordioak eta jarraipena.</a:t>
            </a:r>
          </a:p>
        </p:txBody>
      </p:sp>
    </p:spTree>
    <p:extLst>
      <p:ext uri="{BB962C8B-B14F-4D97-AF65-F5344CB8AC3E}">
        <p14:creationId xmlns:p14="http://schemas.microsoft.com/office/powerpoint/2010/main" val="90133579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4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D510CCA8-FAA3-4406-A16B-EA5927F3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E4A4F14-DB10-4C66-BB31-089F06EA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Defendatuko dugun proposamena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812C6287-F630-43F9-95E3-1E67A01C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FD0D7"/>
                </a:solidFill>
                <a:latin typeface="Arial"/>
                <a:ea typeface="Arial"/>
                <a:cs typeface="Arial"/>
              </a:rPr>
              <a:t>Arkitektura bat, eredu nagusi bat eta panel bat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70AA4BCA-7EE5-43EA-BC9B-ADD0655A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B6CD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B6CDD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B6CDD4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FE9ABF12-29DB-42B5-ACBF-779B28BA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31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64297F8C-37A5-43B8-8C8C-770205F9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Konpromiso teknikoa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93F5A01F-4F4D-4400-85B2-97921F78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Kafka → NiFi → FastAPI (Python/scikit-learn, Random Forest) → Elasticsearch/Kibana. Isolation Forest osagarri; Parquet/DuckDB analisi historikorako.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0C882CC5-CC1B-4BBD-A32E-AFEB40E3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Espero den emaitza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910548C0-7EA4-4572-8939-EFDD5AB1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Makina, une, horizonte, kalitate eta bertsioarekin trazatu daitezkeen abisuak; historiko erreproduzigarria eta baliozkotze zein integrazio frogak.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AA7ADAF4-F0A4-44F7-B52B-45AFBEA3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Defentsaren mugak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11889346-6ADF-49D8-9948-74548A86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Ikasgaietako irizpideak, inplementazioa eta oraindik falta diren frogak bereizita. Matxurak aurretik antzematea aldarrikatzeko, datu longitudinalak eta baliozkotze berezia behar dira.</a:t>
            </a:r>
          </a:p>
        </p:txBody>
      </p:sp>
    </p:spTree>
    <p:extLst>
      <p:ext uri="{BB962C8B-B14F-4D97-AF65-F5344CB8AC3E}">
        <p14:creationId xmlns:p14="http://schemas.microsoft.com/office/powerpoint/2010/main" val="10502138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iburua">
            <a:extLst xmlns:a="http://schemas.openxmlformats.org/drawingml/2006/main">
              <a:ext uri="{FF2B5EF4-FFF2-40B4-BE49-F238E27FC236}">
                <a16:creationId xmlns:a16="http://schemas.microsoft.com/office/drawing/2014/main" id="{BDAFA15A-477D-4F07-BB59-FC68DFD4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46AE9848-C78D-4017-B92D-E42FA91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nahitaezko irizpideak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AF4C69EF-C4E4-44E7-8246-05283078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Irizpideen eta diapositiben lotura: 1/3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04AC76B7-9EDD-4E5D-89B8-12A58D4C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Eranskin honetako irizpide guztiak nahitaezkoak dira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4944E16B-4CA5-4C6E-B771-F5BE48C2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32 / 35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37EC4-874C-43A9-ADD3-6D4803AACD64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7528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05150"/>
                <a:gridCol w="7715250"/>
              </a:tblGrid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AA · IE1 a,c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AAren printzipioak eta teknikak. 15. diapositiba. Dagokion exekuzio-froga oraindik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AA · IE2 b,g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Ereduen sailkapena eta egokitasuna. 15. diapositiba. Dagokion exekuzio-froga oraindik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AA · IE6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Arriskuak eta pribatutasuna. 24. diapositiba. Dagokion exekuzio-froga oraindik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IE1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AA ahula/indartsua eta AA–ML lotura. 15. diapositiba. Exekuzio-froga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IE2 b,c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ML motak, erabilerak, teknikak eta tresnak. 15. diapositiba. Exekuzio-froga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IE3 c,f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Entrenamendua eta datu berriei buruzko iragarpenak. 17. diapositiba. Exekuzio-froga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59367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iburua">
            <a:extLst xmlns:a="http://schemas.openxmlformats.org/drawingml/2006/main">
              <a:ext uri="{FF2B5EF4-FFF2-40B4-BE49-F238E27FC236}">
                <a16:creationId xmlns:a16="http://schemas.microsoft.com/office/drawing/2014/main" id="{784848F8-C4D4-454F-AA4E-AE566337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427BAFE9-3232-415D-B539-84712344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nahitaezko irizpideak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24CDB764-81FB-43F6-B278-9CC52C54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Irizpideen eta diapositiben lotura: 2/3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86CC0D80-FE1C-4CF1-AE64-4A6AFDFD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Eranskin honetako irizpide guztiak nahitaezkoak dira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12A58560-20A5-44D1-A32F-F6774958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33 / 35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32F8B-9BC3-470E-90C0-652BB838DFC7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7528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05150"/>
                <a:gridCol w="7715250"/>
              </a:tblGrid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IE4 b,c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Gainbegiratu gabeko ikaskuntza ezaugarritzea eta aplikatzea. 18.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IE6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Egokitasuna eta ebaluazio praktikoa. 20.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Programazioa · IE1 b,e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Programazio-lengoaia eta programaren egitura. 8.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Programazioa · IE2 c,d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Aplikazioa definitu eta inplementatzea. 21.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IE1 b,c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IE1/b → 13. diapositiba; IE1/c → 7. diapositiba. Exekuzioa oraindik frogatu gabe.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IE2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Grafikoak sailkatzea eta helburuekin lotzea. 23.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7287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iburua">
            <a:extLst xmlns:a="http://schemas.openxmlformats.org/drawingml/2006/main">
              <a:ext uri="{FF2B5EF4-FFF2-40B4-BE49-F238E27FC236}">
                <a16:creationId xmlns:a16="http://schemas.microsoft.com/office/drawing/2014/main" id="{2F504282-9C15-4BEA-A72B-AF270052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7472228B-698D-4466-957F-7635A13F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nahitaezko irizpideak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FDDDF63C-8FCA-4700-A303-7F844BC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Irizpideen eta diapositiben lotura: 3/3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ADD127C8-41D2-4048-8FFA-919BF0CE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Eranskin honetako irizpide guztiak nahitaezkoak dira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3F39B9DF-FB49-41E8-8913-6A4F72E6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34 / 35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0DF90-1FFC-4515-8AA7-8F78D120F7F6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7528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05150"/>
                <a:gridCol w="7715250"/>
              </a:tblGrid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IE3 a,d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Datuen erauzketa, biltegiratzea eta segurtasuna. 12.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IE4 e,f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Prozesamendu automatikoa eta bistaratzea. 22.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aplikatua · IE1 b,d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IE1/b → 9. diapositiba; IE1/d → 13. diapositiba. Integrazioa egiteko dago.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aplikatua · IE3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Kalitatea eta osotasun-arriskuak datuak banatzean. 24.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aplikatua · IE5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IE5/a → 7. diapositiba; IE5/b → 14. diapositiba. Baliozkotzea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475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C6CF5F08-C2F6-496D-B216-6B5207DB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5F5255A-4929-4FDF-9540-F117F111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iturriak eta mugak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0DB46AE3-8892-43FB-98ED-AE243298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Proposamenaren trazabilitatea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26235A42-18BB-4877-8FAC-83EE52FE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BE6F6462-C20E-4DF9-9553-A15C01EF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35 / 35</a:t>
            </a:r>
          </a:p>
        </p:txBody>
      </p:sp>
      <p:sp>
        <p:nvSpPr>
          <p:cNvPr id="6" name="Atalaren izenburua 1">
            <a:extLst xmlns:a="http://schemas.openxmlformats.org/drawingml/2006/main">
              <a:ext uri="{FF2B5EF4-FFF2-40B4-BE49-F238E27FC236}">
                <a16:creationId xmlns:a16="http://schemas.microsoft.com/office/drawing/2014/main" id="{41155414-C393-40E7-83DF-EA9C260A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Enuntziatua</a:t>
            </a:r>
          </a:p>
        </p:txBody>
      </p:sp>
      <p:sp>
        <p:nvSpPr>
          <p:cNvPr id="7" name="Atalaren edukia 1">
            <a:extLst xmlns:a="http://schemas.openxmlformats.org/drawingml/2006/main">
              <a:ext uri="{FF2B5EF4-FFF2-40B4-BE49-F238E27FC236}">
                <a16:creationId xmlns:a16="http://schemas.microsoft.com/office/drawing/2014/main" id="{1B6422B5-F075-47D5-824A-B5D522D4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1Erronka_ikaslearen_txostena.docx.pdf: 2.–7. orrialdeak, testuingurua eta irizpideak; 8.–13. orrialdeak, taldea, ebaluazioa eta plangintza.</a:t>
            </a:r>
          </a:p>
        </p:txBody>
      </p:sp>
      <p:sp>
        <p:nvSpPr>
          <p:cNvPr id="8" name="Atalaren izenburua 2">
            <a:extLst xmlns:a="http://schemas.openxmlformats.org/drawingml/2006/main">
              <a:ext uri="{FF2B5EF4-FFF2-40B4-BE49-F238E27FC236}">
                <a16:creationId xmlns:a16="http://schemas.microsoft.com/office/drawing/2014/main" id="{1E81BE46-1AB7-496C-AD85-AAE545C1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Ikastaroko materialak</a:t>
            </a:r>
          </a:p>
        </p:txBody>
      </p:sp>
      <p:sp>
        <p:nvSpPr>
          <p:cNvPr id="9" name="Atalaren edukia 2">
            <a:extLst xmlns:a="http://schemas.openxmlformats.org/drawingml/2006/main">
              <a:ext uri="{FF2B5EF4-FFF2-40B4-BE49-F238E27FC236}">
                <a16:creationId xmlns:a16="http://schemas.microsoft.com/office/drawing/2014/main" id="{6CF515AD-654A-40FD-94F4-50367F0F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AA: kontzeptuak/logika lausoa/etika. ML: sarrera, ereduak eta baliozkotzea. Programazioa: datuak, APIa eta Streamlit. Big Data: ingeniaritza/Elastic. NiFi eta Kafka: praktikak.</a:t>
            </a:r>
          </a:p>
        </p:txBody>
      </p:sp>
      <p:sp>
        <p:nvSpPr>
          <p:cNvPr id="10" name="Atalaren izenburua 3">
            <a:extLst xmlns:a="http://schemas.openxmlformats.org/drawingml/2006/main">
              <a:ext uri="{FF2B5EF4-FFF2-40B4-BE49-F238E27FC236}">
                <a16:creationId xmlns:a16="http://schemas.microsoft.com/office/drawing/2014/main" id="{E99FC38E-7B32-42D9-9FA2-EE6E6BFE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Iturrien bereizketa</a:t>
            </a:r>
          </a:p>
        </p:txBody>
      </p:sp>
      <p:sp>
        <p:nvSpPr>
          <p:cNvPr id="11" name="Atalaren edukia 3">
            <a:extLst xmlns:a="http://schemas.openxmlformats.org/drawingml/2006/main">
              <a:ext uri="{FF2B5EF4-FFF2-40B4-BE49-F238E27FC236}">
                <a16:creationId xmlns:a16="http://schemas.microsoft.com/office/drawing/2014/main" id="{8E9A2C27-14DC-4C2B-8569-115E3349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Diapositibetako oharrek tokiko fitxategiak eta kanpoko iturri nagusiak aipatzen dituzte. Prototipoaren READMEak egungo egoera azaltzen du; ez da irakasmaterialaren autoritate nagusia.</a:t>
            </a:r>
          </a:p>
        </p:txBody>
      </p:sp>
    </p:spTree>
    <p:extLst>
      <p:ext uri="{BB962C8B-B14F-4D97-AF65-F5344CB8AC3E}">
        <p14:creationId xmlns:p14="http://schemas.microsoft.com/office/powerpoint/2010/main" val="1305861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2026-10-13T18:21:09.5350000Z</dcterms:created>
  <dcterms:modified xsi:type="dcterms:W3CDTF">2026-10-13T18:21:09.5350000Z</dcterms:modified>
</coreProperties>
</file>