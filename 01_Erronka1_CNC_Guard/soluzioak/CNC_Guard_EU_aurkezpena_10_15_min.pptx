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a493b38454f19" /><Relationship Type="http://schemas.openxmlformats.org/officeDocument/2006/relationships/extended-properties" Target="/docProps/app.xml" Id="Rea0eafbb4ab9482c" /><Relationship Type="http://schemas.openxmlformats.org/officeDocument/2006/relationships/officeDocument" Target="/ppt/presentation.xml" Id="R27573c75ba8043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c67f221c43490a"/>
  </p:sldMasterIdLst>
  <p:notesMasterIdLst>
    <p:notesMasterId xmlns:r="http://schemas.openxmlformats.org/officeDocument/2006/relationships" r:id="R5145a7877f884351"/>
  </p:notesMasterIdLst>
  <p:sldIdLst>
    <p:sldId xmlns:r="http://schemas.openxmlformats.org/officeDocument/2006/relationships" id="256" r:id="Rbc74c602867a46c6"/>
    <p:sldId xmlns:r="http://schemas.openxmlformats.org/officeDocument/2006/relationships" id="257" r:id="Rf7295e1199114835"/>
    <p:sldId xmlns:r="http://schemas.openxmlformats.org/officeDocument/2006/relationships" id="258" r:id="Rf6a6283a83f34f57"/>
    <p:sldId xmlns:r="http://schemas.openxmlformats.org/officeDocument/2006/relationships" id="259" r:id="Rb1d1496baec74b06"/>
    <p:sldId xmlns:r="http://schemas.openxmlformats.org/officeDocument/2006/relationships" id="260" r:id="R1c692a09723c4547"/>
    <p:sldId xmlns:r="http://schemas.openxmlformats.org/officeDocument/2006/relationships" id="261" r:id="R258bef7e59214f63"/>
    <p:sldId xmlns:r="http://schemas.openxmlformats.org/officeDocument/2006/relationships" id="262" r:id="R44878ceb937245b2"/>
    <p:sldId xmlns:r="http://schemas.openxmlformats.org/officeDocument/2006/relationships" id="263" r:id="R09a9daf174004f5d"/>
    <p:sldId xmlns:r="http://schemas.openxmlformats.org/officeDocument/2006/relationships" id="264" r:id="R9eec134179c8483b"/>
    <p:sldId xmlns:r="http://schemas.openxmlformats.org/officeDocument/2006/relationships" id="265" r:id="R61a41dcfc93c43bc"/>
    <p:sldId xmlns:r="http://schemas.openxmlformats.org/officeDocument/2006/relationships" id="266" r:id="R5c2b0ba7c4334324"/>
    <p:sldId xmlns:r="http://schemas.openxmlformats.org/officeDocument/2006/relationships" id="267" r:id="R838f68e3e5f6453f"/>
    <p:sldId xmlns:r="http://schemas.openxmlformats.org/officeDocument/2006/relationships" id="268" r:id="Ra174359676b74a54"/>
    <p:sldId xmlns:r="http://schemas.openxmlformats.org/officeDocument/2006/relationships" id="269" r:id="R0c085bbb68824e7c"/>
    <p:sldId xmlns:r="http://schemas.openxmlformats.org/officeDocument/2006/relationships" id="270" r:id="R4825d5b802694460"/>
    <p:sldId xmlns:r="http://schemas.openxmlformats.org/officeDocument/2006/relationships" id="271" r:id="Re29767bc49ad49b3"/>
    <p:sldId xmlns:r="http://schemas.openxmlformats.org/officeDocument/2006/relationships" id="272" r:id="R3ad2153394384627"/>
    <p:sldId xmlns:r="http://schemas.openxmlformats.org/officeDocument/2006/relationships" id="273" r:id="Red4ef9b8108141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e87795f0af450b" /><Relationship Type="http://schemas.openxmlformats.org/officeDocument/2006/relationships/slideMaster" Target="/ppt/slideMasters/slideMaster1.xml" Id="R5ac67f221c43490a" /><Relationship Type="http://schemas.openxmlformats.org/officeDocument/2006/relationships/notesMaster" Target="/ppt/notesMasters/notesMaster1.xml" Id="R5145a7877f884351" /><Relationship Type="http://schemas.openxmlformats.org/officeDocument/2006/relationships/presProps" Target="/ppt/presProps.xml" Id="R22689ee43bb44eb6" /><Relationship Type="http://schemas.openxmlformats.org/officeDocument/2006/relationships/tableStyles" Target="/ppt/tableStyles.xml" Id="R277b4540a2c048d0" /><Relationship Type="http://schemas.openxmlformats.org/officeDocument/2006/relationships/slide" Target="/ppt/slides/slide1.xml" Id="Rbc74c602867a46c6" /><Relationship Type="http://schemas.openxmlformats.org/officeDocument/2006/relationships/slide" Target="/ppt/slides/slide2.xml" Id="Rf7295e1199114835" /><Relationship Type="http://schemas.openxmlformats.org/officeDocument/2006/relationships/slide" Target="/ppt/slides/slide3.xml" Id="Rf6a6283a83f34f57" /><Relationship Type="http://schemas.openxmlformats.org/officeDocument/2006/relationships/slide" Target="/ppt/slides/slide4.xml" Id="Rb1d1496baec74b06" /><Relationship Type="http://schemas.openxmlformats.org/officeDocument/2006/relationships/slide" Target="/ppt/slides/slide5.xml" Id="R1c692a09723c4547" /><Relationship Type="http://schemas.openxmlformats.org/officeDocument/2006/relationships/slide" Target="/ppt/slides/slide6.xml" Id="R258bef7e59214f63" /><Relationship Type="http://schemas.openxmlformats.org/officeDocument/2006/relationships/slide" Target="/ppt/slides/slide7.xml" Id="R44878ceb937245b2" /><Relationship Type="http://schemas.openxmlformats.org/officeDocument/2006/relationships/slide" Target="/ppt/slides/slide8.xml" Id="R09a9daf174004f5d" /><Relationship Type="http://schemas.openxmlformats.org/officeDocument/2006/relationships/slide" Target="/ppt/slides/slide9.xml" Id="R9eec134179c8483b" /><Relationship Type="http://schemas.openxmlformats.org/officeDocument/2006/relationships/slide" Target="/ppt/slides/slide10.xml" Id="R61a41dcfc93c43bc" /><Relationship Type="http://schemas.openxmlformats.org/officeDocument/2006/relationships/slide" Target="/ppt/slides/slide11.xml" Id="R5c2b0ba7c4334324" /><Relationship Type="http://schemas.openxmlformats.org/officeDocument/2006/relationships/slide" Target="/ppt/slides/slide12.xml" Id="R838f68e3e5f6453f" /><Relationship Type="http://schemas.openxmlformats.org/officeDocument/2006/relationships/slide" Target="/ppt/slides/slide13.xml" Id="Ra174359676b74a54" /><Relationship Type="http://schemas.openxmlformats.org/officeDocument/2006/relationships/slide" Target="/ppt/slides/slide14.xml" Id="R0c085bbb68824e7c" /><Relationship Type="http://schemas.openxmlformats.org/officeDocument/2006/relationships/slide" Target="/ppt/slides/slide15.xml" Id="R4825d5b802694460" /><Relationship Type="http://schemas.openxmlformats.org/officeDocument/2006/relationships/slide" Target="/ppt/slides/slide16.xml" Id="Re29767bc49ad49b3" /><Relationship Type="http://schemas.openxmlformats.org/officeDocument/2006/relationships/slide" Target="/ppt/slides/slide17.xml" Id="R3ad2153394384627" /><Relationship Type="http://schemas.openxmlformats.org/officeDocument/2006/relationships/slide" Target="/ppt/slides/slide18.xml" Id="Red4ef9b8108141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617969b82341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37f1c503a241d3" /><Relationship Type="http://schemas.openxmlformats.org/officeDocument/2006/relationships/notesMaster" Target="/ppt/notesMasters/notesMaster1.xml" Id="Rdf27b7d6a134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3c5ffbc9af4ede" /><Relationship Type="http://schemas.openxmlformats.org/officeDocument/2006/relationships/notesMaster" Target="/ppt/notesMasters/notesMaster1.xml" Id="R3d1dcd14df6e4c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1ffa0be1bd4443" /><Relationship Type="http://schemas.openxmlformats.org/officeDocument/2006/relationships/notesMaster" Target="/ppt/notesMasters/notesMaster1.xml" Id="Rfc5698a5c45d47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95b763410340e5" /><Relationship Type="http://schemas.openxmlformats.org/officeDocument/2006/relationships/notesMaster" Target="/ppt/notesMasters/notesMaster1.xml" Id="Rb372ae78c19d49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00e0de7e124935" /><Relationship Type="http://schemas.openxmlformats.org/officeDocument/2006/relationships/notesMaster" Target="/ppt/notesMasters/notesMaster1.xml" Id="R6609d71abf484f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aefbd6768c42e6" /><Relationship Type="http://schemas.openxmlformats.org/officeDocument/2006/relationships/notesMaster" Target="/ppt/notesMasters/notesMaster1.xml" Id="Rcb421bc6004546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739a8a3d824aaa" /><Relationship Type="http://schemas.openxmlformats.org/officeDocument/2006/relationships/notesMaster" Target="/ppt/notesMasters/notesMaster1.xml" Id="R0a231252d21b49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f1111403bd4e69" /><Relationship Type="http://schemas.openxmlformats.org/officeDocument/2006/relationships/notesMaster" Target="/ppt/notesMasters/notesMaster1.xml" Id="Rb0387664793d41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712dd0fc044a5b" /><Relationship Type="http://schemas.openxmlformats.org/officeDocument/2006/relationships/notesMaster" Target="/ppt/notesMasters/notesMaster1.xml" Id="R72c80072768b41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599c5bce5b4662" /><Relationship Type="http://schemas.openxmlformats.org/officeDocument/2006/relationships/notesMaster" Target="/ppt/notesMasters/notesMaster1.xml" Id="Re3ec1ef99de448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a7e303542445be" /><Relationship Type="http://schemas.openxmlformats.org/officeDocument/2006/relationships/notesMaster" Target="/ppt/notesMasters/notesMaster1.xml" Id="Rea40eeaf4a7641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74d8dab0594d63" /><Relationship Type="http://schemas.openxmlformats.org/officeDocument/2006/relationships/notesMaster" Target="/ppt/notesMasters/notesMaster1.xml" Id="R244cca2184da49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ad849229e14a51" /><Relationship Type="http://schemas.openxmlformats.org/officeDocument/2006/relationships/notesMaster" Target="/ppt/notesMasters/notesMaster1.xml" Id="R6150b19ae0f84d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ced6d864b44311" /><Relationship Type="http://schemas.openxmlformats.org/officeDocument/2006/relationships/notesMaster" Target="/ppt/notesMasters/notesMaster1.xml" Id="Rcd1346e10cd14c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e392312a1347a2" /><Relationship Type="http://schemas.openxmlformats.org/officeDocument/2006/relationships/notesMaster" Target="/ppt/notesMasters/notesMaster1.xml" Id="Rb5014d857d274e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d58599af9a433f" /><Relationship Type="http://schemas.openxmlformats.org/officeDocument/2006/relationships/notesMaster" Target="/ppt/notesMasters/notesMaster1.xml" Id="R88506987f52846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b5b73b83b64c28" /><Relationship Type="http://schemas.openxmlformats.org/officeDocument/2006/relationships/notesMaster" Target="/ppt/notesMasters/notesMaster1.xml" Id="R13c7c9c3fe8342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f805faad774da0" /><Relationship Type="http://schemas.openxmlformats.org/officeDocument/2006/relationships/notesMaster" Target="/ppt/notesMasters/notesMaster1.xml" Id="R878bc06edadb47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20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CNC Guard</a:t>
            </a:r>
          </a:p>
          <a:p xmlns:a="http://schemas.openxmlformats.org/drawingml/2006/main">
            <a:r>
              <a:t>Industria-datuak aztertzeko eta alertak sortzeko proposamen teknologikoa</a:t>
            </a:r>
          </a:p>
          <a:p xmlns:a="http://schemas.openxmlformats.org/drawingml/2006/main">
            <a:r>
              <a:t>Hautatutako bidea</a:t>
            </a:r>
          </a:p>
          <a:p xmlns:a="http://schemas.openxmlformats.org/drawingml/2006/main">
            <a:r>
              <a:t>Kafkak telemetria sintetikoa jasotzen du → NiFik baliozkotu eta eraldatu → FastAPIk Random Forest bidez inferentzia egin → Elasticsearch-ek indexatu → Kibanak bistaratu.</a:t>
            </a:r>
          </a:p>
          <a:p xmlns:a="http://schemas.openxmlformats.org/drawingml/2006/main">
            <a:r>
              <a:t>Historikoa eta anomaliak</a:t>
            </a:r>
          </a:p>
          <a:p xmlns:a="http://schemas.openxmlformats.org/drawingml/2006/main">
            <a:r>
              <a:t>Parquet eta DuckDB datu historikoak prestatzeko; Isolation Forest anomaliak hautemateko tresna osagarri gisa.</a:t>
            </a:r>
          </a:p>
          <a:p xmlns:a="http://schemas.openxmlformats.org/drawingml/2006/main">
            <a:r>
              <a:t>Gure konpromisoa</a:t>
            </a:r>
          </a:p>
          <a:p xmlns:a="http://schemas.openxmlformats.org/drawingml/2006/main">
            <a:r>
              <a:t>Ikastaroan landutako teknologiekin arkitektura eraiki eta baliozkotzea. Aukerak amaieran azalduko ditugu; ez dira lehen bertsioaren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Irudiaren iturria: https://us.arrk.com/wp-content/uploads/2025/02/role-of-large-cnc-milling-machine-in-modern-manufacturing.png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60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Helburua eta irismena</a:t>
            </a:r>
          </a:p>
          <a:p xmlns:a="http://schemas.openxmlformats.org/drawingml/2006/main">
            <a:r>
              <a:t>24 orduko matxura-arriskua: diseinu-hipotesia, ez frogatutako emaitza</a:t>
            </a:r>
          </a:p>
          <a:p xmlns:a="http://schemas.openxmlformats.org/drawingml/2006/main">
            <a:r>
              <a:t>Negozio-testuingurua</a:t>
            </a:r>
          </a:p>
          <a:p xmlns:a="http://schemas.openxmlformats.org/drawingml/2006/main">
            <a:r>
              <a:t>Bilboko 50 CNC makina; enuntziatuak geldialdiaren kostua 1.200 €/ordu dela aurreikusten du. Sistemak ikuskapenak planifikatzen lagunduko luke.</a:t>
            </a:r>
          </a:p>
          <a:p xmlns:a="http://schemas.openxmlformats.org/drawingml/2006/main">
            <a:r>
              <a:t>Proposatutako helburua</a:t>
            </a:r>
          </a:p>
          <a:p xmlns:a="http://schemas.openxmlformats.org/drawingml/2006/main">
            <a:r>
              <a:t>Makina eta t une bakoitzerako, hurrengo 24 orduetan matxurarik izango den estimatzea, t unera arte ezagutzen diren aldagaiekin. 24 orduko epea gure proposamena da.</a:t>
            </a:r>
          </a:p>
          <a:p xmlns:a="http://schemas.openxmlformats.org/drawingml/2006/main">
            <a:r>
              <a:t>Baliozkotzeko baldintza</a:t>
            </a:r>
          </a:p>
          <a:p xmlns:a="http://schemas.openxmlformats.org/drawingml/2006/main">
            <a:r>
              <a:t>Denboran zehar jasotako historikoa eta datatutako matxurak behar ditugu. AI4Irekin egoeraren sailkapena soilik erakuts daiteke; ez 24 orduko aurreikuspena.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 orduko epea mantentze-lanak antolatzeko tartea izateko proposatu da. Lantegian erabili aurretik, mantentze-taldearekin kontrastatu behar da. Datu sintetikoek eta AI4Ik ez dute erabilgarritasun industriala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50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Hartutako erabakiak</a:t>
            </a:r>
          </a:p>
          <a:p xmlns:a="http://schemas.openxmlformats.org/drawingml/2006/main">
            <a:r>
              <a:t>Funtzio bakoitzerako teknologia jakin bat</a:t>
            </a:r>
          </a:p>
          <a:p xmlns:a="http://schemas.openxmlformats.org/drawingml/2006/main">
            <a:r>
              <a:t>Datu-fluxua eta zerbitzua</a:t>
            </a:r>
          </a:p>
          <a:p xmlns:a="http://schemas.openxmlformats.org/drawingml/2006/main">
            <a:r>
              <a:t>Kafkak gertaerak jasotzen ditu; NiFik baliozkotu, eraldatu eta FastAPIri HTTP eskaerak egiten dizkio. Random Forest bereizitako zerbitzu batean exekutatzen da.</a:t>
            </a:r>
          </a:p>
          <a:p xmlns:a="http://schemas.openxmlformats.org/drawingml/2006/main">
            <a:r>
              <a:t>Biltegiratzea eta kontsultak</a:t>
            </a:r>
          </a:p>
          <a:p xmlns:a="http://schemas.openxmlformats.org/drawingml/2006/main">
            <a:r>
              <a:t>Parquet-ek historikoa gordetzen du; DuckDBk datu multzoak kontsultatu eta prestatzen ditu; Elasticsearch-ek emaitzak indexatzen ditu; Kibana da panel operatibo bakarra.</a:t>
            </a:r>
          </a:p>
          <a:p xmlns:a="http://schemas.openxmlformats.org/drawingml/2006/main">
            <a:r>
              <a:t>Lehen bertsiotik kanpo</a:t>
            </a:r>
          </a:p>
          <a:p xmlns:a="http://schemas.openxmlformats.org/drawingml/2006/main">
            <a:r>
              <a:t>Ez dugu Streamlit, MongoDB, InfluxDB, Spark, LLM edo industria-eragingailurik hedatuko. FastAPI scoring-erako erabiliko da; Isolation Forest lagungarria da, ez alerta baztertzeko iragazkia.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Jupyter analisia eta entrenamendua egiteko erabiliko da; Git eta Docker Compose laborategia erreproduzitzeko. Datu-baseen, panelen eta eredu nagusiaren aukeraketa eginda dago.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Zergatik konbinazio hau?</a:t>
            </a:r>
          </a:p>
          <a:p xmlns:a="http://schemas.openxmlformats.org/drawingml/2006/main">
            <a:r>
              <a:t>Erronkari erantzun, ikastaroan landutako tresnekin</a:t>
            </a:r>
          </a:p>
          <a:p xmlns:a="http://schemas.openxmlformats.org/drawingml/2006/main">
            <a:r>
              <a:t>Integrazioa eta trazabilitatea</a:t>
            </a:r>
          </a:p>
          <a:p xmlns:a="http://schemas.openxmlformats.org/drawingml/2006/main">
            <a:r>
              <a:t>NiFi eta Kafka ikastaroan landu ditugu: iturriak bateratu, akatsak aztertu eta gertaerak berriz prozesatzeko aukera ematen dute.</a:t>
            </a:r>
          </a:p>
          <a:p xmlns:a="http://schemas.openxmlformats.org/drawingml/2006/main">
            <a:r>
              <a:t>Datu tabularren ereduak</a:t>
            </a:r>
          </a:p>
          <a:p xmlns:a="http://schemas.openxmlformats.org/drawingml/2006/main">
            <a:r>
              <a:t>Random Forest-ek tenperatura, momentua, biraketa-abiadura eta higaduraren arteko elkarrekintzak aztertzen ditu. Isolation Forest-ek gainbegiratu gabeko ikaskuntza lantzeko balio du.</a:t>
            </a:r>
          </a:p>
          <a:p xmlns:a="http://schemas.openxmlformats.org/drawingml/2006/main">
            <a:r>
              <a:t>Historikoa eta ustiapena</a:t>
            </a:r>
          </a:p>
          <a:p xmlns:a="http://schemas.openxmlformats.org/drawingml/2006/main">
            <a:r>
              <a:t>Parquet/DuckDB entrenamenduko analisirako; Elasticsearch/Kibana kontsultak eta bistaratzea egiteko. Biltegi bakoitzak eginkizun bereizia du.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Aukera hauek egokitasun funtzionalean eta ikasgaien edukietan oinarritzen dira. Konparazio esperimentalik egin gabe, ez dugu Random Forest beste guztien gainetik dagoela baieztatzen.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70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Aukeratutako arkitektura</a:t>
            </a:r>
          </a:p>
          <a:p xmlns:a="http://schemas.openxmlformats.org/drawingml/2006/main">
            <a:r>
              <a:t>Fluxu bera erakustaldian eta simulatutako ustiapenean</a:t>
            </a:r>
          </a:p>
          <a:p xmlns:a="http://schemas.openxmlformats.org/drawingml/2006/main">
            <a:r>
              <a:t>Sarrera</a:t>
            </a:r>
          </a:p>
          <a:p xmlns:a="http://schemas.openxmlformats.org/drawingml/2006/main">
            <a:r>
              <a:t>CSV sintetikoa → Kafka cnc-telemetry-csv → NiFi; baliozkoak ez diren erregistroak DLQra, event_id bidez identifikatuta.</a:t>
            </a:r>
          </a:p>
          <a:p xmlns:a="http://schemas.openxmlformats.org/drawingml/2006/main">
            <a:r>
              <a:t>Inferentzia</a:t>
            </a:r>
          </a:p>
          <a:p xmlns:a="http://schemas.openxmlformats.org/drawingml/2006/main">
            <a:r>
              <a:t>NiFik ConvertRecord eta baliozkotzea egiten ditu → FastAPI /predict deitzen du InvokeHTTP bidez → alertak Elasticsearch-era eta Kibanara.</a:t>
            </a:r>
          </a:p>
          <a:p xmlns:a="http://schemas.openxmlformats.org/drawingml/2006/main">
            <a:r>
              <a:t>Historikoa</a:t>
            </a:r>
          </a:p>
          <a:p xmlns:a="http://schemas.openxmlformats.org/drawingml/2006/main">
            <a:r>
              <a:t>Parquet eta DuckDB historikorako; Random Forest konexiorik gabe entrenatzen da eta FastAPIk zerbitzatzen du; Isolation Forest aparteko esperimentua 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Proposatutako erakustaldia: telemetria sintetikoa → Kafka → NiFi (baliozkotzea, historikoa eta InvokeHTTP) → FastAPI /predict → Elasticsearch/Kibana. Random Forest aurretik entrenatzen da. Integrazio osoaren proba oraindik egin gabe dago.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45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Datu-iturriak eta kontratua</a:t>
            </a:r>
          </a:p>
          <a:p xmlns:a="http://schemas.openxmlformats.org/drawingml/2006/main">
            <a:r>
              <a:t>Integraziorako hiru sarrera mota</a:t>
            </a:r>
          </a:p>
          <a:p xmlns:a="http://schemas.openxmlformats.org/drawingml/2006/main">
            <a:r>
              <a:t>Telemetria CSVan</a:t>
            </a:r>
          </a:p>
          <a:p xmlns:a="http://schemas.openxmlformats.org/drawingml/2006/main">
            <a:r>
              <a:t>machine_id, UTC timestamp, tenperatura, rpm, momentua, higadura eta quality_flag. Datu multzoak bibraziorik ez badu, ez dugu asmatuko.</a:t>
            </a:r>
          </a:p>
          <a:p xmlns:a="http://schemas.openxmlformats.org/drawingml/2006/main">
            <a:r>
              <a:t>Mantentze-lanen CSV</a:t>
            </a:r>
          </a:p>
          <a:p xmlns:a="http://schemas.openxmlformats.org/drawingml/2006/main">
            <a:r>
              <a:t>machine_id, esku-hartzearen data, mota eta matxuraren data. Benetako historikoa dagoenean, testuingurua eta etorkizuneko etiketa emango ditu.</a:t>
            </a:r>
          </a:p>
          <a:p xmlns:a="http://schemas.openxmlformats.org/drawingml/2006/main">
            <a:r>
              <a:t>Ekipamenduaren logak</a:t>
            </a:r>
          </a:p>
          <a:p xmlns:a="http://schemas.openxmlformats.org/drawingml/2006/main">
            <a:r>
              <a:t>Jatorrizko testua gorde; makina, data eta kodea atera eta denbora-testuinguruarekin lotu. Gertaera bakoitzak event_id eta schema_version ditu; datu okerrak baztertu.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Laborategiko sarrerak tokiko fitxategiak dira. Mantentze-lanen CSVak eta logak sintetikoak izan daitezke integrazioa erakusteko, baina ez gaitasun industriala frogatzeko. Ez dugu MariaDB edo MongoDB hedatuko.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60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NiFi: eraikiko dugun fluxua</a:t>
            </a:r>
          </a:p>
          <a:p xmlns:a="http://schemas.openxmlformats.org/drawingml/2006/main">
            <a:r>
              <a:t>Ereduari datuak bidali aurretik baliozkotu</a:t>
            </a:r>
          </a:p>
          <a:p xmlns:a="http://schemas.openxmlformats.org/drawingml/2006/main">
            <a:r>
              <a:t>Hautatutako konfigurazioa</a:t>
            </a:r>
          </a:p>
          <a:p xmlns:a="http://schemas.openxmlformats.org/drawingml/2006/main">
            <a:r>
              <a:t>ConsumeKafka → ConvertRecord (CSVReader/JSON) → ValidateRecord, laborategi-ingurunean. Ez dago CNC errealekin loturarik.</a:t>
            </a:r>
          </a:p>
          <a:p xmlns:a="http://schemas.openxmlformats.org/drawingml/2006/main">
            <a:r>
              <a:t>Bideak</a:t>
            </a:r>
          </a:p>
          <a:p xmlns:a="http://schemas.openxmlformats.org/drawingml/2006/main">
            <a:r>
              <a:t>Baliozkoak → Elasticsearch eta POST /predict; baliogabeak edo HTTP 422 → berrogeialdia; HTTP 5xx → saiakera mugatuak.</a:t>
            </a:r>
          </a:p>
          <a:p xmlns:a="http://schemas.openxmlformats.org/drawingml/2006/main">
            <a:r>
              <a:t>Froga beharrezkoa</a:t>
            </a:r>
          </a:p>
          <a:p xmlns:a="http://schemas.openxmlformats.org/drawingml/2006/main">
            <a:r>
              <a:t>NiFi fluxu esportatua, kontagailuak, backpressure, replay eta gelditze/berrabiarazte probak; integrazio osoa frogatu gabe dago.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Kafka/Record prozesadoreen izen zehatzak instalatutako NiFi bertsioaren araberakoak dira. Dokumentazio nagusia: https://nifi.apache.org/nifi-docs/user-guide.html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Kafka: topic-ak eta kontsumoa</a:t>
            </a:r>
          </a:p>
          <a:p xmlns:a="http://schemas.openxmlformats.org/drawingml/2006/main">
            <a:r>
              <a:t>NiFik Kafka kontsumitu eta irteerak koordinatzen ditu</a:t>
            </a:r>
          </a:p>
          <a:p xmlns:a="http://schemas.openxmlformats.org/drawingml/2006/main">
            <a:r>
              <a:t>Aukeratutako topic-a</a:t>
            </a:r>
          </a:p>
          <a:p xmlns:a="http://schemas.openxmlformats.org/drawingml/2006/main">
            <a:r>
              <a:t>cnc-telemetry-csv topic-a; machine_id gakoa, eta telemetria bakoitzerako SHA-256 bidezko event_id identifikatzailea.</a:t>
            </a:r>
          </a:p>
          <a:p xmlns:a="http://schemas.openxmlformats.org/drawingml/2006/main">
            <a:r>
              <a:t>Kontsumitzaile-taldea</a:t>
            </a:r>
          </a:p>
          <a:p xmlns:a="http://schemas.openxmlformats.org/drawingml/2006/main">
            <a:r>
              <a:t>NiFiko cnc-nifi-v1 taldeak Kafka kontsumitzen du, telemetria gordetzen du eta HTTP scoring zerbitzuari deitzen dio.</a:t>
            </a:r>
          </a:p>
          <a:p xmlns:a="http://schemas.openxmlformats.org/drawingml/2006/main">
            <a:r>
              <a:t>Egiaztatu beharreko bermea</a:t>
            </a:r>
          </a:p>
          <a:p xmlns:a="http://schemas.openxmlformats.org/drawingml/2006/main">
            <a:r>
              <a:t>Gutxienez behingo entrega (at-least-once) eta event_id bidezko deduplikazioa. Ez dugu muturretik muturrerako exactly-once bermatzen.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Laborategiak broker bakarra du; kontsumoa, berrirakurketa eta berrabiaraztea frogatu behar dira, erabilgarritasun handia aldarrikatu gabe. Dokumentazioa: https://kafka.apache.org/documentation/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60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prozesamendu osoan</a:t>
            </a:r>
          </a:p>
          <a:p xmlns:a="http://schemas.openxmlformats.org/drawingml/2006/main">
            <a:r>
              <a:t>Prestaketa eta inferentzia kode-base berean</a:t>
            </a:r>
          </a:p>
          <a:p xmlns:a="http://schemas.openxmlformats.org/drawingml/2006/main">
            <a:r>
              <a:t>Python, NumPy eta pandas</a:t>
            </a:r>
          </a:p>
          <a:p xmlns:a="http://schemas.openxmlformats.org/drawingml/2006/main">
            <a:r>
              <a:t>Ikastaroan erabilitako lengoaia. NumPyk kalkulu numerikoa egiten du; pandasek taulak lotu eta iraganeko neurketetatik denbora-leihoak kalkulatzen ditu.</a:t>
            </a:r>
          </a:p>
          <a:p xmlns:a="http://schemas.openxmlformats.org/drawingml/2006/main">
            <a:r>
              <a:t>scikit-learn</a:t>
            </a:r>
          </a:p>
          <a:p xmlns:a="http://schemas.openxmlformats.org/drawingml/2006/main">
            <a:r>
              <a:t>Prestaketarako pipeline-a, RandomForestClassifier eta IsolationForest. Norberak sortutako ereduak soilik gorde, eta bertsioa, aldagaiak eta parametroak erregistratu.</a:t>
            </a:r>
          </a:p>
          <a:p xmlns:a="http://schemas.openxmlformats.org/drawingml/2006/main">
            <a:r>
              <a:t>Kodearen egitura</a:t>
            </a:r>
          </a:p>
          <a:p xmlns:a="http://schemas.openxmlformats.org/drawingml/2006/main">
            <a:r>
              <a:t>Kontratuak, prestaketa, entrenamendua eta FastAPI zerbitzua modulu bereizietan; Jupyterren EDA. NiFik Kafka kontsumitu eta HTTP bidez scoring-a eskatzen du.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eta scikit-learn-ek datuak prestatu eta eredua offline entrenatzen dute. FastAPIk /health eta /predict eskaintzen ditu, eta NiFik InvokeHTTP erabiltzen du. uv bidez blokeatutako ingurunea mantentzen da. Ez dago inferentziarako Kafka kontsumitzaile independente bat.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Parquet: historikorako hautua</a:t>
            </a:r>
          </a:p>
          <a:p xmlns:a="http://schemas.openxmlformats.org/drawingml/2006/main">
            <a:r>
              <a:t>Entrenamendua eta emaitzak indize operatibotik kanpo</a:t>
            </a:r>
          </a:p>
          <a:p xmlns:a="http://schemas.openxmlformats.org/drawingml/2006/main">
            <a:r>
              <a:t>Zer gordeko dugu?</a:t>
            </a:r>
          </a:p>
          <a:p xmlns:a="http://schemas.openxmlformats.org/drawingml/2006/main">
            <a:r>
              <a:t>Baliozkotutako telemetria eta iragarpenak multzo bereizietan; egunaren araberako partizioak eta machine_id zutabea. Jatorrizko sarrerak eta bazterketak auditoretzarako.</a:t>
            </a:r>
          </a:p>
          <a:p xmlns:a="http://schemas.openxmlformats.org/drawingml/2006/main">
            <a:r>
              <a:t>Zergatik Parquet?</a:t>
            </a:r>
          </a:p>
          <a:p xmlns:a="http://schemas.openxmlformats.org/drawingml/2006/main">
            <a:r>
              <a:t>Datu-ingeniaritzan landutako formatu zutabekakoa eta konprimigarria. Zutabeak hautatu eta datu historikoak prestatzeko egokia.</a:t>
            </a:r>
          </a:p>
          <a:p xmlns:a="http://schemas.openxmlformats.org/drawingml/2006/main">
            <a:r>
              <a:t>Hasierako politika</a:t>
            </a:r>
          </a:p>
          <a:p xmlns:a="http://schemas.openxmlformats.org/drawingml/2006/main">
            <a:r>
              <a:t>Proposamena: 90 eguneko telemetria azterketa longitudinalerako, eta ebaluatutako datu multzoen bertsio guztiak. Benetako industria-politika finkatu aurretik dimentsionatu.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90 egun proiektuko hipotesi bat dira, ez irakaslearen betebeharra edo lagin nahikoa izatearen froga. Laborategian ez ezabatu ebaluazio-datu multzoak atxikipen automatikoa aplikatzeagatik.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DuckDB: datu multzoa prestatzea</a:t>
            </a:r>
          </a:p>
          <a:p xmlns:a="http://schemas.openxmlformats.org/drawingml/2006/main">
            <a:r>
              <a:t>SQL kontsultak Parquet historikoaren gainean</a:t>
            </a:r>
          </a:p>
          <a:p xmlns:a="http://schemas.openxmlformats.org/drawingml/2006/main">
            <a:r>
              <a:t>Kontsulta zehatzak</a:t>
            </a:r>
          </a:p>
          <a:p xmlns:a="http://schemas.openxmlformats.org/drawingml/2006/main">
            <a:r>
              <a:t>Denbora-tarteak eta makinak hautatu; mantentze-esku-hartzeak lotu; leihoak osatu eta entrenamendu, baliozkotze eta test zatiak prestatu.</a:t>
            </a:r>
          </a:p>
          <a:p xmlns:a="http://schemas.openxmlformats.org/drawingml/2006/main">
            <a:r>
              <a:t>Zergatik DuckDB?</a:t>
            </a:r>
          </a:p>
          <a:p xmlns:a="http://schemas.openxmlformats.org/drawingml/2006/main">
            <a:r>
              <a:t>Ikastaroan landu eta praktikatu dugu. pandasera pasa aurretik iragazteko balio du, banatutako motor bat administratu beharrik gabe.</a:t>
            </a:r>
          </a:p>
          <a:p xmlns:a="http://schemas.openxmlformats.org/drawingml/2006/main">
            <a:r>
              <a:t>Onartutako muga</a:t>
            </a:r>
          </a:p>
          <a:p xmlns:a="http://schemas.openxmlformats.org/drawingml/2006/main">
            <a:r>
              <a:t>Makina bakarrean dabil. RAM, denbora eta diskoa neurtu; banatutako fitxategien eta errepliken arriskuak dokumentatu, tokiko diseinua sistema banatua dela esan gabe.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Iturri nagusia: https://duckdb.org/docs/stable/data/parquet/overview . Spark eskalatze-aukera gisa bakarrik gelditzen da, neurketek behar hori erakusten badute.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Datuen prestaketa</a:t>
            </a:r>
          </a:p>
          <a:p xmlns:a="http://schemas.openxmlformats.org/drawingml/2006/main">
            <a:r>
              <a:t>5 minutuko leihoak eta 24 orduko etiketak: proposamena</a:t>
            </a:r>
          </a:p>
          <a:p xmlns:a="http://schemas.openxmlformats.org/drawingml/2006/main">
            <a:r>
              <a:t>Garbiketa</a:t>
            </a:r>
          </a:p>
          <a:p xmlns:a="http://schemas.openxmlformats.org/drawingml/2006/main">
            <a:r>
              <a:t>Bereizi sentsore-akatsak eta muturreko balio sinesgarriak; jatorrizkoak eta kalitate-markak gorde. Ez interpolatu etorkizuneko datuetatik. Hutsuneak train zatian ikasitako medianekin bete.</a:t>
            </a:r>
          </a:p>
          <a:p xmlns:a="http://schemas.openxmlformats.org/drawingml/2006/main">
            <a:r>
              <a:t>Hasierako ezaugarriak</a:t>
            </a:r>
          </a:p>
          <a:p xmlns:a="http://schemas.openxmlformats.org/drawingml/2006/main">
            <a:r>
              <a:t>Uneko tenperatura, rpm, momentua eta higadura; makina bakoitzeko azken 5 minutuen batezbestekoa, desbideratzea eta joera. Iturriaren unitateak egokitu.</a:t>
            </a:r>
          </a:p>
          <a:p xmlns:a="http://schemas.openxmlformats.org/drawingml/2006/main">
            <a:r>
              <a:t>Etiketa eta zatiketa</a:t>
            </a:r>
          </a:p>
          <a:p xmlns:a="http://schemas.openxmlformats.org/drawingml/2006/main">
            <a:r>
              <a:t>y=1 baldin t eta t+24 h artean datatutako matxura badago. Jarraipen osoa ez duten laginak baztertu, eta leihoek edo etiketek zatiketen arteko datu-ihesik ez eragitea zaindu.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minutu eta 24 ordu hasierako diseinu-erabakiak dira. Benetako denbora-marka longitudinalik ez badago, uneko aldagaiak eta egoera-etiketa erabili; horrek ez du epe hori baliozkotzen.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80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Aukeratutako AA mota</a:t>
            </a:r>
          </a:p>
          <a:p xmlns:a="http://schemas.openxmlformats.org/drawingml/2006/main">
            <a:r>
              <a:t>Zeregin zehatz baterako AA ahula eta ML</a:t>
            </a:r>
          </a:p>
          <a:p xmlns:a="http://schemas.openxmlformats.org/drawingml/2006/main">
            <a:r>
              <a:t>AA eta ML</a:t>
            </a:r>
          </a:p>
          <a:p xmlns:a="http://schemas.openxmlformats.org/drawingml/2006/main">
            <a:r>
              <a:t>Adimen artifizialak arrazoibidea eta ikaskuntza barne hartzen ditu. Gure aplikazioak ikaskuntza automatikoa erabiltzen du, neurketetatik eta historikotik ikasteko.</a:t>
            </a:r>
          </a:p>
          <a:p xmlns:a="http://schemas.openxmlformats.org/drawingml/2006/main">
            <a:r>
              <a:t>AA ahula eta indartsua</a:t>
            </a:r>
          </a:p>
          <a:p xmlns:a="http://schemas.openxmlformats.org/drawingml/2006/main">
            <a:r>
              <a:t>AA ahula: CNCaren arriskua aztertzeko zeregin espezifikoa. AA indartsua: askotariko zereginak orokorki ebazteko gaitasuna; ez dugu halakorik proposatzen edo frogatzen.</a:t>
            </a:r>
          </a:p>
          <a:p xmlns:a="http://schemas.openxmlformats.org/drawingml/2006/main">
            <a:r>
              <a:t>Sailkapena</a:t>
            </a:r>
          </a:p>
          <a:p xmlns:a="http://schemas.openxmlformats.org/drawingml/2006/main">
            <a:r>
              <a:t>Random Forest: gainbegiratutako ML tabularra. Isolation Forest: gainbegiratu gabeko ML. Arauak eta logika lausoa AA sinbolikoan sartzen dira; sare neuronalak konexionistak dira.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Eredu-familiak bereizten ditugu aukeraketa arrazoitzeko. Random Forest ez da eredu konexionista, eta logika lausoko kidetasun-maila ez da probabilitate baten baliokidea.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Kalitaterako eta berrikuspenerako arauak</a:t>
            </a:r>
          </a:p>
          <a:p xmlns:a="http://schemas.openxmlformats.org/drawingml/2006/main">
            <a:r>
              <a:t>Arau deterministak, beste motor lauso bat gehitu gabe</a:t>
            </a:r>
          </a:p>
          <a:p xmlns:a="http://schemas.openxmlformats.org/drawingml/2006/main">
            <a:r>
              <a:t>Erabiliko ditugun arauak</a:t>
            </a:r>
          </a:p>
          <a:p xmlns:a="http://schemas.openxmlformats.org/drawingml/2006/main">
            <a:r>
              <a:t>Timestamp baliogabea, unitate ezezaguna edo derrigorrezko eremurik eza → baztertu. Datu zaharregia → «egungo daturik ez»; ez «makina osasuntsua» lehenetsita.</a:t>
            </a:r>
          </a:p>
          <a:p xmlns:a="http://schemas.openxmlformats.org/drawingml/2006/main">
            <a:r>
              <a:t>Zergatik?</a:t>
            </a:r>
          </a:p>
          <a:p xmlns:a="http://schemas.openxmlformats.org/drawingml/2006/main">
            <a:r>
              <a:t>Arauek datuen kontratua zaintzen dute. Random Forest-ek etiketen araberako erlazioak ikasten ditu; Isolation Forest-ek bitxikeriak markatzen ditu. Ez dugu hirugarren arrisku-motorrik behar.</a:t>
            </a:r>
          </a:p>
          <a:p xmlns:a="http://schemas.openxmlformats.org/drawingml/2006/main">
            <a:r>
              <a:t>Ikasgaiarekin lotura</a:t>
            </a:r>
          </a:p>
          <a:p xmlns:a="http://schemas.openxmlformats.org/drawingml/2006/main">
            <a:r>
              <a:t>Logika lausoa teknika egokia eta azalgarri bat da, baina kidetasun-funtzioek eta arauek hautatutako nukleoak behar ez duen kalibrazio gehigarria ekarriko lukete.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Lehen prototipoan Mamdani dago; ez dugu zerbitzu berrian sartuko. Prototipo haren emaitza historikoek ez dute Random Forest-en errendimendua egiaztatzen.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Random Forest: eredu nagusia</a:t>
            </a:r>
          </a:p>
          <a:p xmlns:a="http://schemas.openxmlformats.org/drawingml/2006/main">
            <a:r>
              <a:t>Gainbegiratutako ereduak sortzen du matxura-arriskuaren alerta</a:t>
            </a:r>
          </a:p>
          <a:p xmlns:a="http://schemas.openxmlformats.org/drawingml/2006/main">
            <a:r>
              <a:t>Zer ikasten du?</a:t>
            </a:r>
          </a:p>
          <a:p xmlns:a="http://schemas.openxmlformats.org/drawingml/2006/main">
            <a:r>
              <a:t>Funtzionamendu-baldintzen, denbora-ezaugarrien eta hautatutako epeko matxuren arteko erlazio ez-linealak, baliozko matxura-etiketak daudenean.</a:t>
            </a:r>
          </a:p>
          <a:p xmlns:a="http://schemas.openxmlformats.org/drawingml/2006/main">
            <a:r>
              <a:t>Hasierako konfigurazioa</a:t>
            </a:r>
          </a:p>
          <a:p xmlns:a="http://schemas.openxmlformats.org/drawingml/2006/main">
            <a:r>
              <a:t>200 zuhaitz; max_depth=12, min_samples_leaf=5, class_weight=balanced eta random_state=42. Hasierako parametroak dira: baliozkotzeak doikuntzak gidatuko ditu.</a:t>
            </a:r>
          </a:p>
          <a:p xmlns:a="http://schemas.openxmlformats.org/drawingml/2006/main">
            <a:r>
              <a:t>Zergatik aukeratu?</a:t>
            </a:r>
          </a:p>
          <a:p xmlns:a="http://schemas.openxmlformats.org/drawingml/2006/main">
            <a:r>
              <a:t>Ikastaroan landutako eredu tabularra; elkarrekintzak hartzen ditu kontuan eta ez du KNN/SVM bezalako eskalatzerik behar. Aldagaien garrantzia ez da kausalitatea.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predict_proba-ren irteera arrisku-score gisa interpretatzen dugu. Ez dugu kalibratutako probabilitatea dela esango baliozkotu gabe. Aurkezpen honek ez dakar errendimendu-neurketa berririk.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Isolation Forest: laguntzailea</a:t>
            </a:r>
          </a:p>
          <a:p xmlns:a="http://schemas.openxmlformats.org/drawingml/2006/main">
            <a:r>
              <a:t>Anomaliek berrikuspena eragiten dute, ez bigarren matxura-erabakia</a:t>
            </a:r>
          </a:p>
          <a:p xmlns:a="http://schemas.openxmlformats.org/drawingml/2006/main">
            <a:r>
              <a:t>Datuak eta erabilera</a:t>
            </a:r>
          </a:p>
          <a:p xmlns:a="http://schemas.openxmlformats.org/drawingml/2006/main">
            <a:r>
              <a:t>Funtzionamendu normaltzat hartutako datuekin entrenatu, halako historikoa dagoenean. Inferentzian eskuragarri dauden ezaugarri berak erabili, etorkizuneko etiketarik gabe.</a:t>
            </a:r>
          </a:p>
          <a:p xmlns:a="http://schemas.openxmlformats.org/drawingml/2006/main">
            <a:r>
              <a:t>Hasierako konfigurazioa</a:t>
            </a:r>
          </a:p>
          <a:p xmlns:a="http://schemas.openxmlformats.org/drawingml/2006/main">
            <a:r>
              <a:t>200 zuhaitz, max_samples=256 eta random_state=42. Score-a gorde; atalasea baliozkotzean aukeratu eta berrikusitako alertak erregistratu.</a:t>
            </a:r>
          </a:p>
          <a:p xmlns:a="http://schemas.openxmlformats.org/drawingml/2006/main">
            <a:r>
              <a:t>Eginkizun mugatua</a:t>
            </a:r>
          </a:p>
          <a:p xmlns:a="http://schemas.openxmlformats.org/drawingml/2006/main">
            <a:r>
              <a:t>Ohiz kanpoko patroiak edo erregimen berriak hautematea. Anomalia batek berrikuspen teknikoa eskatzen du; ez da berez matxura, eta ez du alerta gainbegiratua ezeztatzen.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Iturria: https://scikit-learn.org/stable/modules/generated/sklearn.ensemble.IsolationForest.html . Erreferentzia egiaztaturik edo giza berrikuspenik gabe, bitxikeria puntuatzen duela bakarrik frogatzen da, ez matxurak identifikatzen dituela.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Alerten politika</a:t>
            </a:r>
          </a:p>
          <a:p xmlns:a="http://schemas.openxmlformats.org/drawingml/2006/main">
            <a:r>
              <a:t>Bi abisu mota, AND adostasunik gabe</a:t>
            </a:r>
          </a:p>
          <a:p xmlns:a="http://schemas.openxmlformats.org/drawingml/2006/main">
            <a:r>
              <a:t>Matxura-arriskua</a:t>
            </a:r>
          </a:p>
          <a:p xmlns:a="http://schemas.openxmlformats.org/drawingml/2006/main">
            <a:r>
              <a:t>Random Forest ≥ baliozkotutako atalasea → planifika daitekeen ikuskapen-abisua. Erakutsi makina, unea, denbora-horizontea eta bertsioa.</a:t>
            </a:r>
          </a:p>
          <a:p xmlns:a="http://schemas.openxmlformats.org/drawingml/2006/main">
            <a:r>
              <a:t>Anomalia</a:t>
            </a:r>
          </a:p>
          <a:p xmlns:a="http://schemas.openxmlformats.org/drawingml/2006/main">
            <a:r>
              <a:t>Isolation Forest-ek bere atalasea gainditzen badu → egoera edo datua berrikusteko abisua, arrisku gainbegiratutik bereizia. Score-a eta arrazoia adierazi.</a:t>
            </a:r>
          </a:p>
          <a:p xmlns:a="http://schemas.openxmlformats.org/drawingml/2006/main">
            <a:r>
              <a:t>Ustiapena</a:t>
            </a:r>
          </a:p>
          <a:p xmlns:a="http://schemas.openxmlformats.org/drawingml/2006/main">
            <a:r>
              <a:t>Makina bereko abisu iraunkorrak multzokatu, lagin bakoitza intzidentzia berri bihur ez dadin. Teknikariak baieztatu, baztertu edo planifikatuko du; ez da CNCa automatikoki geldituko.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Aurreko prototipoaren AND araua baztertzen dugu, gainbegiratutako ereduak detektatutako matxurak ezaba ditzakeelako. Abisuak multzokatzeko politika probatu eta dokumentatu behar 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70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Egin beharreko baliozkotzea</a:t>
            </a:r>
          </a:p>
          <a:p xmlns:a="http://schemas.openxmlformats.org/drawingml/2006/main">
            <a:r>
              <a:t>Arazo bera, zatiketa bera eta prestaketa koherentea</a:t>
            </a:r>
          </a:p>
          <a:p xmlns:a="http://schemas.openxmlformats.org/drawingml/2006/main">
            <a:r>
              <a:t>Zatiketak</a:t>
            </a:r>
          </a:p>
          <a:p xmlns:a="http://schemas.openxmlformats.org/drawingml/2006/main">
            <a:r>
              <a:t>Benetako historikoa: lehen %70 train, hurrengo %15 validation eta azken %15 test. Leihoen eta aurreikuspen-epearen artean datu-ihesa saihestu; datak eta makinak erregistratu.</a:t>
            </a:r>
          </a:p>
          <a:p xmlns:a="http://schemas.openxmlformats.org/drawingml/2006/main">
            <a:r>
              <a:t>Atalasea</a:t>
            </a:r>
          </a:p>
          <a:p xmlns:a="http://schemas.openxmlformats.org/drawingml/2006/main">
            <a:r>
              <a:t>Hasierako irizpide akademiko gisa, F1 maximizatzen duen atalasea validation zatian aukeratu. Recall, precision, negatibo faltsuak eta kostua jaso; ez egokitu test datuekin.</a:t>
            </a:r>
          </a:p>
          <a:p xmlns:a="http://schemas.openxmlformats.org/drawingml/2006/main">
            <a:r>
              <a:t>Amaierako proba</a:t>
            </a:r>
          </a:p>
          <a:p xmlns:a="http://schemas.openxmlformats.org/drawingml/2006/main">
            <a:r>
              <a:t>Test zatian behin ebaluatu: nahasmen-matrizea, F1, recall, aurreikuspen-aurrerapena eta alerta faltsuak makina/egun bakoitzeko. Alderatu «matxurarik ez» eta erregresio logistikoarekin.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Erregresio logistikoa ebaluatzeko erreferentzia da, ez zerbitzurako hautatu gabeko beste aukera bat. F1 maximoa ez da nahitaez politika industrial onena: negozioaren onarpenerako benetako kostuak behar dira.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50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FastAPI: inferentzia-zerbitzua</a:t>
            </a:r>
          </a:p>
          <a:p xmlns:a="http://schemas.openxmlformats.org/drawingml/2006/main">
            <a:r>
              <a:t>Eredua behin kargatu eta NiFiren eskaerei erantzun</a:t>
            </a:r>
          </a:p>
          <a:p xmlns:a="http://schemas.openxmlformats.org/drawingml/2006/main">
            <a:r>
              <a:t>Abioan</a:t>
            </a:r>
          </a:p>
          <a:p xmlns:a="http://schemas.openxmlformats.org/drawingml/2006/main">
            <a:r>
              <a:t>Eredua abioan behin kargatu, eskema egiaztatuta eta tokiko sarbide mugatuarekin. FastAPIk /health eta /predict eskaintzen ditu.</a:t>
            </a:r>
          </a:p>
          <a:p xmlns:a="http://schemas.openxmlformats.org/drawingml/2006/main">
            <a:r>
              <a:t>Gertaera bakoitzean</a:t>
            </a:r>
          </a:p>
          <a:p xmlns:a="http://schemas.openxmlformats.org/drawingml/2006/main">
            <a:r>
              <a:t>NiFik InvokeHTTP bidez /predict deitzen du, makina bereko sentsoreak eta iraganeko testuingurua emanez; aurreikuspena, score-a eta alerta-maila jasotzen ditu.</a:t>
            </a:r>
          </a:p>
          <a:p xmlns:a="http://schemas.openxmlformats.org/drawingml/2006/main">
            <a:r>
              <a:t>Erroreak</a:t>
            </a:r>
          </a:p>
          <a:p xmlns:a="http://schemas.openxmlformats.org/drawingml/2006/main">
            <a:r>
              <a:t>HTTP 422 → berrogeialdia; 5xx → saiakera mugatuak; datu historikorik gabeko hasiera esplizitua, eta makinetako eragingailuei agindurik 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FastAPI aukeratutako arkitekturaren parte da. NiFik Kafka kontsumitu eta InvokeHTTP bidez /predict deitzen du; ez dago Python kontsumitzaile independente bat. Latentzia, saiakera berriak, lehen daturik gabeko egoera eta 422/5xx akatsak neurtu behar dira.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Elasticsearch eta Kibana</a:t>
            </a:r>
          </a:p>
          <a:p xmlns:a="http://schemas.openxmlformats.org/drawingml/2006/main">
            <a:r>
              <a:t>Kontsulta-biltegi bat eta panel operatibo bakarra</a:t>
            </a:r>
          </a:p>
          <a:p xmlns:a="http://schemas.openxmlformats.org/drawingml/2006/main">
            <a:r>
              <a:t>Elasticsearch</a:t>
            </a:r>
          </a:p>
          <a:p xmlns:a="http://schemas.openxmlformats.org/drawingml/2006/main">
            <a:r>
              <a:t>Iragarpen-indizea: timestamp (date), machine_id (keyword), score numerikoak, kalitatea eta model_version. event_id erabili dokumentu-ID gisa, saiakera errepikatuak idempotenteak izateko.</a:t>
            </a:r>
          </a:p>
          <a:p xmlns:a="http://schemas.openxmlformats.org/drawingml/2006/main">
            <a:r>
              <a:t>Kibana</a:t>
            </a:r>
          </a:p>
          <a:p xmlns:a="http://schemas.openxmlformats.org/drawingml/2006/main">
            <a:r>
              <a:t>Iragarpenentzako data view-a; makina, data eta alerta motaren araberako iragazkiak. Denbora-serieak, abisuen sailkapena eta erregistroen ikuspegia ikerketarako.</a:t>
            </a:r>
          </a:p>
          <a:p xmlns:a="http://schemas.openxmlformats.org/drawingml/2006/main">
            <a:r>
              <a:t>Hautuaren arrazoia</a:t>
            </a:r>
          </a:p>
          <a:p xmlns:a="http://schemas.openxmlformats.org/drawingml/2006/main">
            <a:r>
              <a:t>Ikastaroan landutako multzoak bilaketa, agregazioak eta bistaratzea batzen ditu. Hasierako proposamena: 30 egun emaitza operatiboentzat; historiko osoa Parquet-en.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 egun hasierako proposamena dira; datuen tamainaren arabera neurtu behar da. Kibanak Elasticsearch kontsultatzen du, ez Kafka zuzenean. Ez dugu Streamlit/Grafana bidezko bigarren panelik jarriko.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Eraikiko dugun panela</a:t>
            </a:r>
          </a:p>
          <a:p xmlns:a="http://schemas.openxmlformats.org/drawingml/2006/main">
            <a:r>
              <a:t>Mantentze-lanerako galdera praktikoak</a:t>
            </a:r>
          </a:p>
          <a:p xmlns:a="http://schemas.openxmlformats.org/drawingml/2006/main">
            <a:r>
              <a:t>Egoera eta bilakaera</a:t>
            </a:r>
          </a:p>
          <a:p xmlns:a="http://schemas.openxmlformats.org/drawingml/2006/main">
            <a:r>
              <a:t>Makina bakoitzeko tenperatura/momentua eta arriskua denboran; esku-hartzeak eta hutsuneak markatu. Nola aldatu da makinaren egoera?</a:t>
            </a:r>
          </a:p>
          <a:p xmlns:a="http://schemas.openxmlformats.org/drawingml/2006/main">
            <a:r>
              <a:t>Zain dauden abisuak</a:t>
            </a:r>
          </a:p>
          <a:p xmlns:a="http://schemas.openxmlformats.org/drawingml/2006/main">
            <a:r>
              <a:t>Arriskuaren araberako makina-zerrenda eta anomalien zerrenda bereizia. Zer ikuskatu behar dugu, eta zer datu berrikusi?</a:t>
            </a:r>
          </a:p>
          <a:p xmlns:a="http://schemas.openxmlformats.org/drawingml/2006/main">
            <a:r>
              <a:t>Kalitatea eta ebaluazioa</a:t>
            </a:r>
          </a:p>
          <a:p xmlns:a="http://schemas.openxmlformats.org/drawingml/2006/main">
            <a:r>
              <a:t>Azken datuaren antzinatasuna, bazterketak eta atzerapena; rpm–momentu sakabanaketa. Nahasmen-matrizea eta baieztatutako alertak ebaluazioan.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Bilakaerarako serieak; lehentasunetarako barrak; erlazioetarako sakabanaketa; trazabilitaterako taula; erroreetarako matrizea. Grafiko bakoitza datu eta helburuen arabera justifikatzen da. Ez dago asmatutako pantaila-argazkirik.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70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Diseinuaren segurtasuna eta osotasuna</a:t>
            </a:r>
          </a:p>
          <a:p xmlns:a="http://schemas.openxmlformats.org/drawingml/2006/main">
            <a:r>
              <a:t>OT konexiorik gabeko tokiko bertsio erreproduzigarria</a:t>
            </a:r>
          </a:p>
          <a:p xmlns:a="http://schemas.openxmlformats.org/drawingml/2006/main">
            <a:r>
              <a:t>Datuen osotasuna</a:t>
            </a:r>
          </a:p>
          <a:p xmlns:a="http://schemas.openxmlformats.org/drawingml/2006/main">
            <a:r>
              <a:t>Eskema eta fitxategien hashak; sarrera, artxibo eta indexazio kontagailuak; event_id bidezko idempotentzia. Bikoizketak, berreskuratzea eta ustelkeria detektagarria probatu.</a:t>
            </a:r>
          </a:p>
          <a:p xmlns:a="http://schemas.openxmlformats.org/drawingml/2006/main">
            <a:r>
              <a:t>Laborategia</a:t>
            </a:r>
          </a:p>
          <a:p xmlns:a="http://schemas.openxmlformats.org/drawingml/2006/main">
            <a:r>
              <a:t>Docker Compose lokala NiFi, Kafka, Elasticsearch eta Kibanarako. Bolumen bereiziak eta ostalarira mugatutako sarbidea. Ostalari bakarrak ez du benetako erabilgarritasun handirik.</a:t>
            </a:r>
          </a:p>
          <a:p xmlns:a="http://schemas.openxmlformats.org/drawingml/2006/main">
            <a:r>
              <a:t>Pertsonen arriskuak</a:t>
            </a:r>
          </a:p>
          <a:p xmlns:a="http://schemas.openxmlformats.org/drawingml/2006/main">
            <a:r>
              <a:t>Ez gorde beharrezkoak ez diren operadore-identifikatzaileak. Sarbidea eta atxikipena zehaztu; alerta faltsuen, oharkabean igarotako matxuren eta makina-erregimenen araberako alborapena aztertu.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Ez konektatu makineria errealera OT diseinu espezifikorik eta baimenik gabe. Sailkapen juridikoa testuinguruaren araberakoa da: txostenak arriskuak aztertzen ditu, ez du lege-betetzea ziurtatzen.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Hasierako dimentsionamendua</a:t>
            </a:r>
          </a:p>
          <a:p xmlns:a="http://schemas.openxmlformats.org/drawingml/2006/main">
            <a:r>
              <a:t>Neurtu beharreko hipotesi zehatzak</a:t>
            </a:r>
          </a:p>
          <a:p xmlns:a="http://schemas.openxmlformats.org/drawingml/2006/main">
            <a:r>
              <a:t>Laborategiko karga</a:t>
            </a:r>
          </a:p>
          <a:p xmlns:a="http://schemas.openxmlformats.org/drawingml/2006/main">
            <a:r>
              <a:t>Simulazioa: 50 makina, segundo bakoitzeko erregistro bat → 4,32 milioi gertaera/egun. 200 byte/gertaera → 864 MB/egun; 90 egun → 77,76 GB, konpresiorik gabe.</a:t>
            </a:r>
          </a:p>
          <a:p xmlns:a="http://schemas.openxmlformats.org/drawingml/2006/main">
            <a:r>
              <a:t>Gaitasun-probak</a:t>
            </a:r>
          </a:p>
          <a:p xmlns:a="http://schemas.openxmlformats.org/drawingml/2006/main">
            <a:r>
              <a:t>Throughput-a, inferentziaren latentzia, kontsumitzaileen lag-a, RAMa eta diskoa neurtu. Parquet-en konpresioa eta indizeen benetako tamaina jaso; ez estrapolatu frogatu gabe.</a:t>
            </a:r>
          </a:p>
          <a:p xmlns:a="http://schemas.openxmlformats.org/drawingml/2006/main">
            <a:r>
              <a:t>Kostua eta balioa</a:t>
            </a:r>
          </a:p>
          <a:p xmlns:a="http://schemas.openxmlformats.org/drawingml/2006/main">
            <a:r>
              <a:t>Saihestutako orduak × 1.200 € − alerta faltsuak, ikuskapenak eta azpiegitura. Simulazioari ez diogu benetako aurrezkirik edo industria-errendimendurik egotziko.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Hz, 200 byte eta 90 egun proiektuaren hipotesiak dira. Ez dituzte erreplikak, zerbitzu-logak edo jatorrizko fitxategiak barne hartzen. Karga osoa sortu aurretik, disko erabilgarria egiaztatu.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70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Lehen entrega: datuak eta entrenamendua</a:t>
            </a:r>
          </a:p>
          <a:p xmlns:a="http://schemas.openxmlformats.org/drawingml/2006/main">
            <a:r>
              <a:t>Eredu erreproduzigarri bat eraikitzea lehenetsi</a:t>
            </a:r>
          </a:p>
          <a:p xmlns:a="http://schemas.openxmlformats.org/drawingml/2006/main">
            <a:r>
              <a:t>Entregagaiak</a:t>
            </a:r>
          </a:p>
          <a:p xmlns:a="http://schemas.openxmlformats.org/drawingml/2006/main">
            <a:r>
              <a:t>JSON kontratua, jatorri ezaguneko sarrerak, Parquet datu multzoa eta DuckDB kontsulta; EDA koadernoa eta prestaketa/entrenamendu moduluak.</a:t>
            </a:r>
          </a:p>
          <a:p xmlns:a="http://schemas.openxmlformats.org/drawingml/2006/main">
            <a:r>
              <a:t>Aukeratutako ereduak</a:t>
            </a:r>
          </a:p>
          <a:p xmlns:a="http://schemas.openxmlformats.org/drawingml/2006/main">
            <a:r>
              <a:t>Norberak egindako Random Forest eta Isolation Forest, hash eta parametroekin. Zatiketen txostena eta oinarrizko erreferentzien konparazioa, garaile industrialik aldarrikatu gabe.</a:t>
            </a:r>
          </a:p>
          <a:p xmlns:a="http://schemas.openxmlformats.org/drawingml/2006/main">
            <a:r>
              <a:t>Onarpen-irizpideak</a:t>
            </a:r>
          </a:p>
          <a:p xmlns:a="http://schemas.openxmlformats.org/drawingml/2006/main">
            <a:r>
              <a:t>Kode erreproduzigarria, datu-ihesik eza frogatuta, metrikak eta erroreen azalpena. AI4I/datu sintetikoak badira, «egoera-sailkapenaren eta fluxuaren proba» dela esan.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Diapositiba honek oraindik egiteko dagoen entrega definitzen du; ez du baieztatzen entrenamendua edo entrega egin denik.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Bigarren entrega: fluxu osoa</a:t>
            </a:r>
          </a:p>
          <a:p xmlns:a="http://schemas.openxmlformats.org/drawingml/2006/main">
            <a:r>
              <a:t>Berreskuratzea eta bistaratzea erakutsi</a:t>
            </a:r>
          </a:p>
          <a:p xmlns:a="http://schemas.openxmlformats.org/drawingml/2006/main">
            <a:r>
              <a:t>Entregagaiak</a:t>
            </a:r>
          </a:p>
          <a:p xmlns:a="http://schemas.openxmlformats.org/drawingml/2006/main">
            <a:r>
              <a:t>NiFiren process group esportatua, Kafka topic-ak eta kontsumitzaile-taldea, FastAPI zerbitzua, Elasticsearch mapping-ak eta Kibana panela, modu erreproduzigarrian.</a:t>
            </a:r>
          </a:p>
          <a:p xmlns:a="http://schemas.openxmlformats.org/drawingml/2006/main">
            <a:r>
              <a:t>Ohiko proba</a:t>
            </a:r>
          </a:p>
          <a:p xmlns:a="http://schemas.openxmlformats.org/drawingml/2006/main">
            <a:r>
              <a:t>Sarrera baliozko batek historiko-erregistroa, iragarpena eta bistaratzea sortzen ditu, event_id eta bertsio berarekin. Etapa bakoitzeko denborak neurtu.</a:t>
            </a:r>
          </a:p>
          <a:p xmlns:a="http://schemas.openxmlformats.org/drawingml/2006/main">
            <a:r>
              <a:t>Hutsegite-probak</a:t>
            </a:r>
          </a:p>
          <a:p xmlns:a="http://schemas.openxmlformats.org/drawingml/2006/main">
            <a:r>
              <a:t>Eremu baliogabea, mezu bikoiztua, kontsumitzailearen berrabiaraztea eta helmuga aldi baterako itzalita. Egiaztatu bazterketa, idempotentzia eta berrirakurketa.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Tokiko erakustaldi simulatua da, ez lantegiko ezarpena, erabilgarritasun handia edo 24 orduko aurreikuspenaren baliozkotzea.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Benetako abiapuntua</a:t>
            </a:r>
          </a:p>
          <a:p xmlns:a="http://schemas.openxmlformats.org/drawingml/2006/main">
            <a:r>
              <a:t>Analisirako azpiegitura berrerabili, erabakitzeko nukleoa aldatu</a:t>
            </a:r>
          </a:p>
          <a:p xmlns:a="http://schemas.openxmlformats.org/drawingml/2006/main">
            <a:r>
              <a:t>Eskuragarri dagoena</a:t>
            </a:r>
          </a:p>
          <a:p xmlns:a="http://schemas.openxmlformats.org/drawingml/2006/main">
            <a:r>
              <a:t>Mamdani + Isolation Forest prototipoa konparaziorako gordetzen da. Errepositorioan Random Forest eta API kodea daude, proba isolatuekin; fluxu osoa ez dago frogatuta.</a:t>
            </a:r>
          </a:p>
          <a:p xmlns:a="http://schemas.openxmlformats.org/drawingml/2006/main">
            <a:r>
              <a:t>Hartutako erabakia</a:t>
            </a:r>
          </a:p>
          <a:p xmlns:a="http://schemas.openxmlformats.org/drawingml/2006/main">
            <a:r>
              <a:t>Random Forest eredu nagusia izango da; Isolation Forest osagarria eta bereizia. Zerbitzu berrian AND araua kendu, eta aurreko prototipoa erreferentzia historiko gisa gorde.</a:t>
            </a:r>
          </a:p>
          <a:p xmlns:a="http://schemas.openxmlformats.org/drawingml/2006/main">
            <a:r>
              <a:t>Oraindik egiteko</a:t>
            </a:r>
          </a:p>
          <a:p xmlns:a="http://schemas.openxmlformats.org/drawingml/2006/main">
            <a:r>
              <a:t>Datu longitudinalak ebaluatu eta Kafka → NiFi → FastAPI → Elasticsearch/Kibana integrazioa exekutatu. Ez erabili metrika zaharrak bertsio berriaren errendimendu gisa.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READMEak dokumentatutako egoera da, ez gaur exekutatutako baliozkotzea. Aurkezpenak lana prestatzen du; ez du jadanik egindakoa edo falta dena nahasten.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Eraikuntza-plana</a:t>
            </a:r>
          </a:p>
          <a:p xmlns:a="http://schemas.openxmlformats.org/drawingml/2006/main">
            <a:r>
              <a:t>Hiru mugarri eta funtzio bakoitzerako ardura</a:t>
            </a:r>
          </a:p>
          <a:p xmlns:a="http://schemas.openxmlformats.org/drawingml/2006/main">
            <a:r>
              <a:t>1. mugarria: datuak eta eredua</a:t>
            </a:r>
          </a:p>
          <a:p xmlns:a="http://schemas.openxmlformats.org/drawingml/2006/main">
            <a:r>
              <a:t>Datu-ingeniaritzak kontratuak, historikoa eta kalitatea prestatuko ditu; modelatzeak etiketak, zatiketak, Random Forest eta Isolation Forest.</a:t>
            </a:r>
          </a:p>
          <a:p xmlns:a="http://schemas.openxmlformats.org/drawingml/2006/main">
            <a:r>
              <a:t>2. mugarria: integrazioa</a:t>
            </a:r>
          </a:p>
          <a:p xmlns:a="http://schemas.openxmlformats.org/drawingml/2006/main">
            <a:r>
              <a:t>Integrazio-taldeak Kafka eta NiFi → FastAPI konfiguratuko ditu; bistaratze-taldeak indizeak eta Kibana. Kate osoan event_id bera mantendu behar da.</a:t>
            </a:r>
          </a:p>
          <a:p xmlns:a="http://schemas.openxmlformats.org/drawingml/2006/main">
            <a:r>
              <a:t>3. mugarria: defentsa</a:t>
            </a:r>
          </a:p>
          <a:p xmlns:a="http://schemas.openxmlformats.org/drawingml/2006/main">
            <a:r>
              <a:t>Irizpide nagusiak, metrikak, arriskuak, kostua eta mugak jasoko dituen txostena; ANEXO4n proposamena, ANEXO1en rolak, akordioak eta jarraipena.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Enuntziatuak 11 aste aurreikusten ditu. Taldeak benetako izenak eta datak jarri behar ditu; hemen agertzen diren rolak eta mugarriak proposamenak dira, ez Moodle-n egindako entregak.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Aurkezpen-denbora orientagarria: 25 segundo.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Defendatuko dugun proposamena</a:t>
            </a:r>
          </a:p>
          <a:p xmlns:a="http://schemas.openxmlformats.org/drawingml/2006/main">
            <a:r>
              <a:t>Arkitektura bat, eredu nagusi bat eta panel bat</a:t>
            </a:r>
          </a:p>
          <a:p xmlns:a="http://schemas.openxmlformats.org/drawingml/2006/main">
            <a:r>
              <a:t>Konpromiso teknikoa</a:t>
            </a:r>
          </a:p>
          <a:p xmlns:a="http://schemas.openxmlformats.org/drawingml/2006/main">
            <a:r>
              <a:t>Kafka → NiFi → FastAPI (Python/scikit-learn, Random Forest) → Elasticsearch/Kibana. Isolation Forest osagarri; Parquet/DuckDB analisi historikorako.</a:t>
            </a:r>
          </a:p>
          <a:p xmlns:a="http://schemas.openxmlformats.org/drawingml/2006/main">
            <a:r>
              <a:t>Espero den emaitza</a:t>
            </a:r>
          </a:p>
          <a:p xmlns:a="http://schemas.openxmlformats.org/drawingml/2006/main">
            <a:r>
              <a:t>Makina, une, horizonte, kalitate eta bertsioarekin trazatu daitezkeen abisuak; historiko erreproduzigarria eta baliozkotze zein integrazio frogak.</a:t>
            </a:r>
          </a:p>
          <a:p xmlns:a="http://schemas.openxmlformats.org/drawingml/2006/main">
            <a:r>
              <a:t>Defentsaren mugak</a:t>
            </a:r>
          </a:p>
          <a:p xmlns:a="http://schemas.openxmlformats.org/drawingml/2006/main">
            <a:r>
              <a:t>Ikasgaietako irizpideak, inplementazioa eta oraindik falta diren frogak bereizita. Matxurak aurretik antzematea aldarrikatzeko, datu longitudinalak eta baliozkotze berezia behar dira.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Proposamenaren hautaketa amaituta dago. Eranskineko alternatibek ez dute lehen bertsiorako erabaki ireki berririk sortzen.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Beste aukera batzuk, behar izanez gero</a:t>
            </a:r>
          </a:p>
          <a:p xmlns:a="http://schemas.openxmlformats.org/drawingml/2006/main">
            <a:r>
              <a:t>Ez dira lehen bertsioan sartuko</a:t>
            </a:r>
          </a:p>
          <a:p xmlns:a="http://schemas.openxmlformats.org/drawingml/2006/main">
            <a:r>
              <a:t>Datuak eta panela</a:t>
            </a:r>
          </a:p>
          <a:p xmlns:a="http://schemas.openxmlformats.org/drawingml/2006/main">
            <a:r>
              <a:t>InfluxDB/TimescaleDB eta Grafana, denbora-serieen pisua nagusitzen bada; MongoDB, dokumentu heterogeneoak funtsezkoak badira. Horrek Kibana erabakia berrikustea eskatuko luke.</a:t>
            </a:r>
          </a:p>
          <a:p xmlns:a="http://schemas.openxmlformats.org/drawingml/2006/main">
            <a:r>
              <a:t>Eredua eta eskalagarritasuna</a:t>
            </a:r>
          </a:p>
          <a:p xmlns:a="http://schemas.openxmlformats.org/drawingml/2006/main">
            <a:r>
              <a:t>Boosting, Random Forest-ekiko hobekuntza erreproduzigarria badakar; Spark, makina bakarrak baliabide edo denbora eskakizunak betetzen ez baditu. Ez gehitu frogarik gabe.</a:t>
            </a:r>
          </a:p>
          <a:p xmlns:a="http://schemas.openxmlformats.org/drawingml/2006/main">
            <a:r>
              <a:t>Industria-konexioa</a:t>
            </a:r>
          </a:p>
          <a:p xmlns:a="http://schemas.openxmlformats.org/drawingml/2006/main">
            <a:r>
              <a:t>OPC UA/MQTT, makina edo gateway bateragarrietarako. Ikastaroaren tokiko edukitik kanpoko luzapenak dira eta baimendutako probak eskatzen dituzte. Laborategiak fitxategiekin jarraitzen du.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Aukera guztiak diapositiba bakarrean laburbilduta. Kanpo-iturriak: https://docs.influxdata.com/influxdb/cloud/get-started/ ; https://opcfoundation.org/about/opc-technologies/opc-ua/ ; https://reference.opcfoundation.org/specs/OPC-10000-14/7.3.4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Eranskina: nahitaezko irizpideak</a:t>
            </a:r>
          </a:p>
          <a:p xmlns:a="http://schemas.openxmlformats.org/drawingml/2006/main">
            <a:r>
              <a:t>Irizpideen eta diapositiben lotura: 1/3</a:t>
            </a:r>
          </a:p>
          <a:p xmlns:a="http://schemas.openxmlformats.org/drawingml/2006/main">
            <a:r>
              <a:t>AA · IE1 a,c</a:t>
            </a:r>
          </a:p>
          <a:p xmlns:a="http://schemas.openxmlformats.org/drawingml/2006/main">
            <a:r>
              <a:t>AAren printzipioak eta teknikak. 8. diapositiba. Dagokion exekuzio-froga oraindik falta da.</a:t>
            </a:r>
          </a:p>
          <a:p xmlns:a="http://schemas.openxmlformats.org/drawingml/2006/main">
            <a:r>
              <a:t>AA · IE2 b,g</a:t>
            </a:r>
          </a:p>
          <a:p xmlns:a="http://schemas.openxmlformats.org/drawingml/2006/main">
            <a:r>
              <a:t>Ereduen sailkapena eta egokitasuna. 8. diapositiba. Dagokion exekuzio-froga oraindik falta da.</a:t>
            </a:r>
          </a:p>
          <a:p xmlns:a="http://schemas.openxmlformats.org/drawingml/2006/main">
            <a:r>
              <a:t>AA · IE6 a,b</a:t>
            </a:r>
          </a:p>
          <a:p xmlns:a="http://schemas.openxmlformats.org/drawingml/2006/main">
            <a:r>
              <a:t>Arriskuak eta pribatutasuna. 11. diapositiba. Dagokion exekuzio-froga oraindik falta da.</a:t>
            </a:r>
          </a:p>
          <a:p xmlns:a="http://schemas.openxmlformats.org/drawingml/2006/main">
            <a:r>
              <a:t>ML · IE1 a,b</a:t>
            </a:r>
          </a:p>
          <a:p xmlns:a="http://schemas.openxmlformats.org/drawingml/2006/main">
            <a:r>
              <a:t>AA ahula/indartsua eta AA–ML lotura. 8. diapositiba. Exekuzio-froga falta da.</a:t>
            </a:r>
          </a:p>
          <a:p xmlns:a="http://schemas.openxmlformats.org/drawingml/2006/main">
            <a:r>
              <a:t>ML · IE2 b,c</a:t>
            </a:r>
          </a:p>
          <a:p xmlns:a="http://schemas.openxmlformats.org/drawingml/2006/main">
            <a:r>
              <a:t>ML motak, erabilerak, teknikak eta tresnak. 8. diapositiba. Exekuzio-froga falta da.</a:t>
            </a:r>
          </a:p>
          <a:p xmlns:a="http://schemas.openxmlformats.org/drawingml/2006/main">
            <a:r>
              <a:t>ML · IE3 c,f</a:t>
            </a:r>
          </a:p>
          <a:p xmlns:a="http://schemas.openxmlformats.org/drawingml/2006/main">
            <a:r>
              <a:t>Entrenamendua eta datu berriei buruzko iragarpenak. 8. diapositiba. Exekuzio-froga falta 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Eranskina: nahitaezko irizpideak</a:t>
            </a:r>
          </a:p>
          <a:p xmlns:a="http://schemas.openxmlformats.org/drawingml/2006/main">
            <a:r>
              <a:t>Irizpideen eta diapositiben lotura: 2/3</a:t>
            </a:r>
          </a:p>
          <a:p xmlns:a="http://schemas.openxmlformats.org/drawingml/2006/main">
            <a:r>
              <a:t>ML · IE4 b,c</a:t>
            </a:r>
          </a:p>
          <a:p xmlns:a="http://schemas.openxmlformats.org/drawingml/2006/main">
            <a:r>
              <a:t>Gainbegiratu gabeko ikaskuntza ezaugarritzea eta aplikatzea. 8. diapositiba. Frogak falta dira.</a:t>
            </a:r>
          </a:p>
          <a:p xmlns:a="http://schemas.openxmlformats.org/drawingml/2006/main">
            <a:r>
              <a:t>ML · IE6 a,b</a:t>
            </a:r>
          </a:p>
          <a:p xmlns:a="http://schemas.openxmlformats.org/drawingml/2006/main">
            <a:r>
              <a:t>Egokitasuna eta ebaluazio praktikoa. 9. diapositiba. Frogak falta dira.</a:t>
            </a:r>
          </a:p>
          <a:p xmlns:a="http://schemas.openxmlformats.org/drawingml/2006/main">
            <a:r>
              <a:t>Programazioa · IE1 b,e</a:t>
            </a:r>
          </a:p>
          <a:p xmlns:a="http://schemas.openxmlformats.org/drawingml/2006/main">
            <a:r>
              <a:t>Programazio-lengoaia eta programaren egitura. 7. diapositiba. Frogak falta dira.</a:t>
            </a:r>
          </a:p>
          <a:p xmlns:a="http://schemas.openxmlformats.org/drawingml/2006/main">
            <a:r>
              <a:t>Programazioa · IE2 c,d</a:t>
            </a:r>
          </a:p>
          <a:p xmlns:a="http://schemas.openxmlformats.org/drawingml/2006/main">
            <a:r>
              <a:t>Aplikazioa definitu eta inplementatzea. 10. diapositiba. Frogak falta dira.</a:t>
            </a:r>
          </a:p>
          <a:p xmlns:a="http://schemas.openxmlformats.org/drawingml/2006/main">
            <a:r>
              <a:t>Big Data sistemak · IE1 b,c</a:t>
            </a:r>
          </a:p>
          <a:p xmlns:a="http://schemas.openxmlformats.org/drawingml/2006/main">
            <a:r>
              <a:t>IE1/b → 7. diapositiba; IE1/c → 5. diapositiba. Exekuzioa oraindik frogatu gabe.</a:t>
            </a:r>
          </a:p>
          <a:p xmlns:a="http://schemas.openxmlformats.org/drawingml/2006/main">
            <a:r>
              <a:t>Big Data sistemak · IE2 a,b</a:t>
            </a:r>
          </a:p>
          <a:p xmlns:a="http://schemas.openxmlformats.org/drawingml/2006/main">
            <a:r>
              <a:t>Grafikoak sailkatzea eta helburuekin lotzea. 10. diapositiba. Frogak falta dira.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Eranskina: nahitaezko irizpideak</a:t>
            </a:r>
          </a:p>
          <a:p xmlns:a="http://schemas.openxmlformats.org/drawingml/2006/main">
            <a:r>
              <a:t>Irizpideen eta diapositiben lotura: 3/3</a:t>
            </a:r>
          </a:p>
          <a:p xmlns:a="http://schemas.openxmlformats.org/drawingml/2006/main">
            <a:r>
              <a:t>Big Data sistemak · IE3 a,d</a:t>
            </a:r>
          </a:p>
          <a:p xmlns:a="http://schemas.openxmlformats.org/drawingml/2006/main">
            <a:r>
              <a:t>Datuen erauzketa, biltegiratzea eta segurtasuna. 7. diapositiba. Frogak falta dira.</a:t>
            </a:r>
          </a:p>
          <a:p xmlns:a="http://schemas.openxmlformats.org/drawingml/2006/main">
            <a:r>
              <a:t>Big Data sistemak · IE4 e,f</a:t>
            </a:r>
          </a:p>
          <a:p xmlns:a="http://schemas.openxmlformats.org/drawingml/2006/main">
            <a:r>
              <a:t>Prozesamendu automatikoa eta bistaratzea. 10. diapositiba. Frogak falta dira.</a:t>
            </a:r>
          </a:p>
          <a:p xmlns:a="http://schemas.openxmlformats.org/drawingml/2006/main">
            <a:r>
              <a:t>Big Data aplikatua · IE1 b,d</a:t>
            </a:r>
          </a:p>
          <a:p xmlns:a="http://schemas.openxmlformats.org/drawingml/2006/main">
            <a:r>
              <a:t>IE1/b → 6. diapositiba; IE1/d → 7. diapositiba. Integrazioa egiteko dago.</a:t>
            </a:r>
          </a:p>
          <a:p xmlns:a="http://schemas.openxmlformats.org/drawingml/2006/main">
            <a:r>
              <a:t>Big Data aplikatua · IE3 a,b</a:t>
            </a:r>
          </a:p>
          <a:p xmlns:a="http://schemas.openxmlformats.org/drawingml/2006/main">
            <a:r>
              <a:t>Kalitatea eta osotasun-arriskuak datuak banatzean. 11. diapositiba. Frogak falta dira.</a:t>
            </a:r>
          </a:p>
          <a:p xmlns:a="http://schemas.openxmlformats.org/drawingml/2006/main">
            <a:r>
              <a:t>Big Data aplikatua · IE5 a,b</a:t>
            </a:r>
          </a:p>
          <a:p xmlns:a="http://schemas.openxmlformats.org/drawingml/2006/main">
            <a:r>
              <a:t>IE5/a → 5. diapositiba; IE5/b → 7. diapositiba. Baliozkotzea falta 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Diapositiba-zenbakiak irizpideen estaldura azaltzeko dira; ez dute berez inplementazio edo exekuzio egiaztaturik frogatzen.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Eranskina: iturriak eta mugak</a:t>
            </a:r>
          </a:p>
          <a:p xmlns:a="http://schemas.openxmlformats.org/drawingml/2006/main">
            <a:r>
              <a:t>Proposamenaren trazabilitatea</a:t>
            </a:r>
          </a:p>
          <a:p xmlns:a="http://schemas.openxmlformats.org/drawingml/2006/main">
            <a:r>
              <a:t>Enuntziatua</a:t>
            </a:r>
          </a:p>
          <a:p xmlns:a="http://schemas.openxmlformats.org/drawingml/2006/main">
            <a:r>
              <a:t>1Erronka_ikaslearen_txostena.docx.pdf: 2.–7. orrialdeak, testuingurua eta irizpideak; 8.–13. orrialdeak, taldea, ebaluazioa eta plangintza.</a:t>
            </a:r>
          </a:p>
          <a:p xmlns:a="http://schemas.openxmlformats.org/drawingml/2006/main">
            <a:r>
              <a:t>Ikastaroko materialak</a:t>
            </a:r>
          </a:p>
          <a:p xmlns:a="http://schemas.openxmlformats.org/drawingml/2006/main">
            <a:r>
              <a:t>AA: kontzeptuak/logika lausoa/etika. ML: sarrera, ereduak eta baliozkotzea. Programazioa: datuak, APIa eta Streamlit. Big Data: ingeniaritza/Elastic. NiFi eta Kafka: praktikak.</a:t>
            </a:r>
          </a:p>
          <a:p xmlns:a="http://schemas.openxmlformats.org/drawingml/2006/main">
            <a:r>
              <a:t>Iturrien bereizketa</a:t>
            </a:r>
          </a:p>
          <a:p xmlns:a="http://schemas.openxmlformats.org/drawingml/2006/main">
            <a:r>
              <a:t>Diapositibetako oharrek tokiko fitxategiak eta kanpoko iturri nagusiak aipatzen dituzte. Prototipoaren READMEak egungo egoera azaltzen du; ez da irakasmaterialaren autoritate nagusia.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TRAZABILIDAD.md txostenak jatorrizko nahitaezko irizpideak, teknologien mapa eta aztertutako corpusa jasotzen ditu; hashak fuentes_manifest.json fitxategian daude. Ez dugu Moodle/Drive esteken eduki berririk deskargatu berrikuspen honetan.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abdb5ab0b43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20f508bcd44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5124b361443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1764e5dde42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ed9ba9a1444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856ef2fd442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219F07-8657-48CA-A492-CEE53480D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AB554E-AE0C-4CA2-AD6D-5612975D1B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A6C404-73E0-4EB4-A35E-E86DE4CAD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6930FF-25B4-44A0-9815-C59CEAC2F4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CDCF1B-CDEF-49D4-BB13-844E5E947D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3578CD-9F66-4BA6-BEEC-8C4E580BCC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1A6B47-B83F-48F3-9E24-1ACD01EC3E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79DCDC-6D1C-46F8-BA8F-D1CEC80754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67423C-48FF-45C3-B5B3-375C86F1B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D38663-BAF5-46A3-AE05-9289E60C51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283e4fe53f4de0" /><Relationship Type="http://schemas.openxmlformats.org/officeDocument/2006/relationships/slideLayout" Target="/ppt/slideLayouts/slideLayout1.xml" Id="Rfdd847e4b94f47e3" /><Relationship Type="http://schemas.openxmlformats.org/officeDocument/2006/relationships/slideLayout" Target="/ppt/slideLayouts/slideLayout2.xml" Id="Rcd5678fdd29a4ad0" /><Relationship Type="http://schemas.openxmlformats.org/officeDocument/2006/relationships/slideLayout" Target="/ppt/slideLayouts/slideLayout3.xml" Id="Rcd60727379f74d4b" /><Relationship Type="http://schemas.openxmlformats.org/officeDocument/2006/relationships/slideLayout" Target="/ppt/slideLayouts/slideLayout4.xml" Id="Rb25e83ccdcad41cb" /><Relationship Type="http://schemas.openxmlformats.org/officeDocument/2006/relationships/slideLayout" Target="/ppt/slideLayouts/slideLayout5.xml" Id="R14d248f4198e486d" /><Relationship Type="http://schemas.openxmlformats.org/officeDocument/2006/relationships/slideLayout" Target="/ppt/slideLayouts/slideLayout6.xml" Id="R5eaedd43eb0644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d847e4b94f47e3"/>
    <p:sldLayoutId xmlns:r="http://schemas.openxmlformats.org/officeDocument/2006/relationships" id="2147483650" r:id="Rcd5678fdd29a4ad0"/>
    <p:sldLayoutId xmlns:r="http://schemas.openxmlformats.org/officeDocument/2006/relationships" id="2147483651" r:id="Rcd60727379f74d4b"/>
    <p:sldLayoutId xmlns:r="http://schemas.openxmlformats.org/officeDocument/2006/relationships" id="2147483652" r:id="Rb25e83ccdcad41cb"/>
    <p:sldLayoutId xmlns:r="http://schemas.openxmlformats.org/officeDocument/2006/relationships" id="2147483653" r:id="R14d248f4198e486d"/>
    <p:sldLayoutId xmlns:r="http://schemas.openxmlformats.org/officeDocument/2006/relationships" id="2147483654" r:id="R5eaedd43eb0644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fd569970b4c25" /><Relationship Type="http://schemas.openxmlformats.org/officeDocument/2006/relationships/image" Target="/ppt/media/image.png" Id="R45f131d104084e78" /><Relationship Type="http://schemas.openxmlformats.org/officeDocument/2006/relationships/notesSlide" Target="/ppt/notesSlides/notesSlide1.xml" Id="R1951e748a0224d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e5a55d5d44f35" /><Relationship Type="http://schemas.openxmlformats.org/officeDocument/2006/relationships/notesSlide" Target="/ppt/notesSlides/notesSlide2.xml" Id="Rd2e3bb7775fb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7d1e677f540b3" /><Relationship Type="http://schemas.openxmlformats.org/officeDocument/2006/relationships/notesSlide" Target="/ppt/notesSlides/notesSlide3.xml" Id="R6cb9930e38c747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1ec6ac2be54264" /><Relationship Type="http://schemas.openxmlformats.org/officeDocument/2006/relationships/notesSlide" Target="/ppt/notesSlides/notesSlide4.xml" Id="R518d833244ae41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266449317e4ebc" /><Relationship Type="http://schemas.openxmlformats.org/officeDocument/2006/relationships/notesSlide" Target="/ppt/notesSlides/notesSlide5.xml" Id="R704896a95b5146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aad1e0ca14413" /><Relationship Type="http://schemas.openxmlformats.org/officeDocument/2006/relationships/notesSlide" Target="/ppt/notesSlides/notesSlide6.xml" Id="R566ee5edccb84a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efddc6610d45d8" /><Relationship Type="http://schemas.openxmlformats.org/officeDocument/2006/relationships/notesSlide" Target="/ppt/notesSlides/notesSlide7.xml" Id="R9d3a9b98a53a4b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1ca4eeee1f4dff" /><Relationship Type="http://schemas.openxmlformats.org/officeDocument/2006/relationships/notesSlide" Target="/ppt/notesSlides/notesSlide8.xml" Id="R3ce44fb74fee40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ab15d951f04d03" /><Relationship Type="http://schemas.openxmlformats.org/officeDocument/2006/relationships/notesSlide" Target="/ppt/notesSlides/notesSlide9.xml" Id="Racf07e836a5e40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1b54e06fc49df" /><Relationship Type="http://schemas.openxmlformats.org/officeDocument/2006/relationships/notesSlide" Target="/ppt/notesSlides/notesSlide10.xml" Id="R24189b2604fe42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2d088a0c342b6" /><Relationship Type="http://schemas.openxmlformats.org/officeDocument/2006/relationships/notesSlide" Target="/ppt/notesSlides/notesSlide11.xml" Id="Rdd7b77f627974d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0bf8739e84829" /><Relationship Type="http://schemas.openxmlformats.org/officeDocument/2006/relationships/notesSlide" Target="/ppt/notesSlides/notesSlide12.xml" Id="R2dbccb8df69048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7616df6114f49" /><Relationship Type="http://schemas.openxmlformats.org/officeDocument/2006/relationships/notesSlide" Target="/ppt/notesSlides/notesSlide13.xml" Id="R242c3a19be854c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315317562f4b75" /><Relationship Type="http://schemas.openxmlformats.org/officeDocument/2006/relationships/notesSlide" Target="/ppt/notesSlides/notesSlide14.xml" Id="Re9fd877b190248c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feddf8f084072" /><Relationship Type="http://schemas.openxmlformats.org/officeDocument/2006/relationships/notesSlide" Target="/ppt/notesSlides/notesSlide15.xml" Id="R2d72848f30f44e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6adeecb3b4e44" /><Relationship Type="http://schemas.openxmlformats.org/officeDocument/2006/relationships/notesSlide" Target="/ppt/notesSlides/notesSlide16.xml" Id="Rb527a90a48314f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8959fd4d540fd" /><Relationship Type="http://schemas.openxmlformats.org/officeDocument/2006/relationships/notesSlide" Target="/ppt/notesSlides/notesSlide17.xml" Id="R1e90efd2a6d245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16d0a7e504e9a" /><Relationship Type="http://schemas.openxmlformats.org/officeDocument/2006/relationships/notesSlide" Target="/ppt/notesSlides/notesSlide18.xml" Id="R097016dff82d40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zala goiburua">
            <a:extLst xmlns:a="http://schemas.openxmlformats.org/drawingml/2006/main">
              <a:ext uri="{FF2B5EF4-FFF2-40B4-BE49-F238E27FC236}">
                <a16:creationId xmlns:a16="http://schemas.microsoft.com/office/drawing/2014/main" id="{5FF8CCA2-EEDC-4E9B-989D-3B695EFA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20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CNC GUARD · PROPOSAMEN TEKNOLOGIKOA</a:t>
            </a:r>
          </a:p>
        </p:txBody>
      </p:sp>
      <p:sp>
        <p:nvSpPr>
          <p:cNvPr id="2" name="Azala izenburua">
            <a:extLst xmlns:a="http://schemas.openxmlformats.org/drawingml/2006/main">
              <a:ext uri="{FF2B5EF4-FFF2-40B4-BE49-F238E27FC236}">
                <a16:creationId xmlns:a16="http://schemas.microsoft.com/office/drawing/2014/main" id="{52DC48B8-E62C-4CCA-804E-4F2B85AD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CNC Guard</a:t>
            </a:r>
          </a:p>
        </p:txBody>
      </p:sp>
      <p:sp>
        <p:nvSpPr>
          <p:cNvPr id="3" name="Azala azalpena">
            <a:extLst xmlns:a="http://schemas.openxmlformats.org/drawingml/2006/main">
              <a:ext uri="{FF2B5EF4-FFF2-40B4-BE49-F238E27FC236}">
                <a16:creationId xmlns:a16="http://schemas.microsoft.com/office/drawing/2014/main" id="{E7F206DD-DBC0-42BE-8BE5-63346D3F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400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FD0D7"/>
                </a:solidFill>
                <a:latin typeface="Arial"/>
                <a:ea typeface="Arial"/>
                <a:cs typeface="Arial"/>
              </a:rPr>
              <a:t>Industria-datuak aztertzeko eta alertak sortzeko proposamen teknologikoa</a:t>
            </a:r>
          </a:p>
        </p:txBody>
      </p:sp>
      <p:sp>
        <p:nvSpPr>
          <p:cNvPr id="4" name="Azala teknologiak">
            <a:extLst xmlns:a="http://schemas.openxmlformats.org/drawingml/2006/main">
              <a:ext uri="{FF2B5EF4-FFF2-40B4-BE49-F238E27FC236}">
                <a16:creationId xmlns:a16="http://schemas.microsoft.com/office/drawing/2014/main" id="{95D7DBE2-FB49-4AB9-9DB9-DC230E1B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Kafka, NiFi eta FastAPI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EDF3F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DF3F4"/>
                </a:solidFill>
                <a:latin typeface="Arial"/>
                <a:ea typeface="Arial"/>
                <a:cs typeface="Arial"/>
              </a:rPr>
              <a:t>Random Forest, Elasticsearch eta Kibana</a:t>
            </a:r>
          </a:p>
        </p:txBody>
      </p:sp>
      <p:sp>
        <p:nvSpPr>
          <p:cNvPr id="5" name="Azala zenbakia">
            <a:extLst xmlns:a="http://schemas.openxmlformats.org/drawingml/2006/main">
              <a:ext uri="{FF2B5EF4-FFF2-40B4-BE49-F238E27FC236}">
                <a16:creationId xmlns:a16="http://schemas.microsoft.com/office/drawing/2014/main" id="{C058A1EC-AFEB-476D-8C43-122EE95B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01 / 13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5C514-3D0E-4970-9DFB-8516AEABB3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131d104084e78"/>
          <a:stretch xmlns:a="http://schemas.openxmlformats.org/drawingml/2006/main"/>
        </p:blipFill>
        <p:spPr>
          <a:xfrm xmlns:a="http://schemas.openxmlformats.org/drawingml/2006/main">
            <a:off x="7418693" y="1714500"/>
            <a:ext cx="3793514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12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8FCE581D-7198-447D-9D5C-CF620914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1A6ACD7-581A-4B41-8C2C-53AB0F02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Helburua eta irismena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6A9C13D7-AAC2-4DED-9C20-8D0FD0A3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24 orduko matxura-arriskua: diseinu-hipotesia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6C63CD62-F241-4880-8497-242AAB16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78BC4D69-9E90-4878-A3C5-C95DC256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02 / 13</a:t>
            </a:r>
          </a:p>
        </p:txBody>
      </p:sp>
      <p:sp>
        <p:nvSpPr>
          <p:cNvPr id="6" name="Makina kopurua">
            <a:extLst xmlns:a="http://schemas.openxmlformats.org/drawingml/2006/main">
              <a:ext uri="{FF2B5EF4-FFF2-40B4-BE49-F238E27FC236}">
                <a16:creationId xmlns:a16="http://schemas.microsoft.com/office/drawing/2014/main" id="{1BFACEC2-3617-465A-9051-DB17C219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570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7" name="Makinen etiketa">
            <a:extLst xmlns:a="http://schemas.openxmlformats.org/drawingml/2006/main">
              <a:ext uri="{FF2B5EF4-FFF2-40B4-BE49-F238E27FC236}">
                <a16:creationId xmlns:a16="http://schemas.microsoft.com/office/drawing/2014/main" id="{4B9D6D97-6418-49BF-A694-A672975F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CNC makina Bilbon</a:t>
            </a:r>
          </a:p>
        </p:txBody>
      </p:sp>
      <p:sp>
        <p:nvSpPr>
          <p:cNvPr id="8" name="Geldialdiaren kostua">
            <a:extLst xmlns:a="http://schemas.openxmlformats.org/drawingml/2006/main">
              <a:ext uri="{FF2B5EF4-FFF2-40B4-BE49-F238E27FC236}">
                <a16:creationId xmlns:a16="http://schemas.microsoft.com/office/drawing/2014/main" id="{95C26B86-8920-416F-944D-FD04C9C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53365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5250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A65E00"/>
                </a:solidFill>
                <a:latin typeface="Arial"/>
                <a:ea typeface="Arial"/>
                <a:cs typeface="Arial"/>
              </a:rPr>
              <a:t>1.200 €/h</a:t>
            </a:r>
          </a:p>
        </p:txBody>
      </p:sp>
      <p:sp>
        <p:nvSpPr>
          <p:cNvPr id="9" name="Kostuaren etiketa">
            <a:extLst xmlns:a="http://schemas.openxmlformats.org/drawingml/2006/main">
              <a:ext uri="{FF2B5EF4-FFF2-40B4-BE49-F238E27FC236}">
                <a16:creationId xmlns:a16="http://schemas.microsoft.com/office/drawing/2014/main" id="{641FC6C1-3351-45E5-B3DF-87A264F1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433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Enuntziatuko geldialdi-kostua</a:t>
            </a:r>
          </a:p>
        </p:txBody>
      </p:sp>
      <p:sp>
        <p:nvSpPr>
          <p:cNvPr id="10" name="Helburuaren edukia">
            <a:extLst xmlns:a="http://schemas.openxmlformats.org/drawingml/2006/main">
              <a:ext uri="{FF2B5EF4-FFF2-40B4-BE49-F238E27FC236}">
                <a16:creationId xmlns:a16="http://schemas.microsoft.com/office/drawing/2014/main" id="{45D4528D-64E1-45EA-A637-96826099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 eta une bakoitzerako, hurrengo 24 orduetako matxura-arriskua estimatzea, une horretara arte ezagutzen diren aldagaiekin.</a:t>
            </a:r>
          </a:p>
        </p:txBody>
      </p:sp>
      <p:sp>
        <p:nvSpPr>
          <p:cNvPr id="11" name="AI4Iren muga">
            <a:extLst xmlns:a="http://schemas.openxmlformats.org/drawingml/2006/main">
              <a:ext uri="{FF2B5EF4-FFF2-40B4-BE49-F238E27FC236}">
                <a16:creationId xmlns:a16="http://schemas.microsoft.com/office/drawing/2014/main" id="{77E39676-5CF8-4F1C-A799-5068666F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AI4Irekin egoera-sailkapena soilik erakuts daiteke. 24 orduko aurreikuspena baliozkotzeko, historiko longitudinala eta datatutako matxurak behar dira.</a:t>
            </a:r>
          </a:p>
        </p:txBody>
      </p:sp>
    </p:spTree>
    <p:extLst>
      <p:ext uri="{BB962C8B-B14F-4D97-AF65-F5344CB8AC3E}">
        <p14:creationId xmlns:p14="http://schemas.microsoft.com/office/powerpoint/2010/main" val="646065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iburua">
            <a:extLst xmlns:a="http://schemas.openxmlformats.org/drawingml/2006/main">
              <a:ext uri="{FF2B5EF4-FFF2-40B4-BE49-F238E27FC236}">
                <a16:creationId xmlns:a16="http://schemas.microsoft.com/office/drawing/2014/main" id="{9B133EFA-5AD8-4394-9AF1-DBBF2B9E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576BEB4C-25DF-4E35-964A-786239D7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Hautaketa teknologikoa eta irismena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8FA0F8AE-7362-4A89-8492-B44FC519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Ikastaroan landutako tresnak, eginkizun bereiziekin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85A30046-5CBC-48E9-B6AA-48D4A1F7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B0DB4DCC-36E7-417B-9A2D-801FD775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03 / 13</a:t>
            </a:r>
          </a:p>
        </p:txBody>
      </p:sp>
      <p:sp>
        <p:nvSpPr>
          <p:cNvPr id="6" name="Lehen bertsioaren nukleoa izenburua">
            <a:extLst xmlns:a="http://schemas.openxmlformats.org/drawingml/2006/main">
              <a:ext uri="{FF2B5EF4-FFF2-40B4-BE49-F238E27FC236}">
                <a16:creationId xmlns:a16="http://schemas.microsoft.com/office/drawing/2014/main" id="{7808394C-55A0-416F-A4F2-15C1B8A5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10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Lehen bertsioaren nukleoa</a:t>
            </a:r>
          </a:p>
        </p:txBody>
      </p:sp>
      <p:sp>
        <p:nvSpPr>
          <p:cNvPr id="7" name="Lehen bertsioaren nukleoa edukia">
            <a:extLst xmlns:a="http://schemas.openxmlformats.org/drawingml/2006/main">
              <a:ext uri="{FF2B5EF4-FFF2-40B4-BE49-F238E27FC236}">
                <a16:creationId xmlns:a16="http://schemas.microsoft.com/office/drawing/2014/main" id="{F591A92B-4402-4ED3-80ED-D8241869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105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Kafka eta NiFi: sarrera eta datuen kalitatea.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FastAPI eta Random Forest: inferentzia.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Parquet/DuckDB: historikoa.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Elasticsearch/Kibana: indizea eta panela.</a:t>
            </a:r>
          </a:p>
        </p:txBody>
      </p:sp>
      <p:sp>
        <p:nvSpPr>
          <p:cNvPr id="8" name="Lehen bertsiotik kanpo izenburua">
            <a:extLst xmlns:a="http://schemas.openxmlformats.org/drawingml/2006/main">
              <a:ext uri="{FF2B5EF4-FFF2-40B4-BE49-F238E27FC236}">
                <a16:creationId xmlns:a16="http://schemas.microsoft.com/office/drawing/2014/main" id="{31E6EED3-2D4E-46E1-8B0D-8C4F360D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510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65E00"/>
                </a:solidFill>
                <a:latin typeface="Arial"/>
                <a:ea typeface="Arial"/>
                <a:cs typeface="Arial"/>
              </a:rPr>
              <a:t>Lehen bertsiotik kanpo</a:t>
            </a:r>
          </a:p>
        </p:txBody>
      </p:sp>
      <p:sp>
        <p:nvSpPr>
          <p:cNvPr id="9" name="Lehen bertsiotik kanpo edukia">
            <a:extLst xmlns:a="http://schemas.openxmlformats.org/drawingml/2006/main">
              <a:ext uri="{FF2B5EF4-FFF2-40B4-BE49-F238E27FC236}">
                <a16:creationId xmlns:a16="http://schemas.microsoft.com/office/drawing/2014/main" id="{0591DBD4-3470-4E4A-AC70-32E729EA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5105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Streamlit, Grafana eta beste datu-baseak.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Spark, LLM eta Boosting, frogarik gabe.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OT konexioa eta CNCaren gelditze automatikoa.</a:t>
            </a:r>
          </a:p>
        </p:txBody>
      </p:sp>
      <p:sp>
        <p:nvSpPr>
          <p:cNvPr id="10" name="Isolation Forest osagarria">
            <a:extLst xmlns:a="http://schemas.openxmlformats.org/drawingml/2006/main">
              <a:ext uri="{FF2B5EF4-FFF2-40B4-BE49-F238E27FC236}">
                <a16:creationId xmlns:a16="http://schemas.microsoft.com/office/drawing/2014/main" id="{C0D52A0B-4B05-409E-8863-31D894D4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Isolation Forest osagarria da: ez du matxura-arriskuaren alerta ezeztatzen.</a:t>
            </a:r>
          </a:p>
        </p:txBody>
      </p:sp>
    </p:spTree>
    <p:extLst>
      <p:ext uri="{BB962C8B-B14F-4D97-AF65-F5344CB8AC3E}">
        <p14:creationId xmlns:p14="http://schemas.microsoft.com/office/powerpoint/2010/main" val="1866341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F58B8E-43CB-4B55-8125-21A14E9BD364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400550" y="5157788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prstDash val="dash"/>
            <a:tail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ACB7BBE-85A4-46FB-9E89-730CE7025CA6}"/>
              </a:ext>
            </a:extLst>
          </p:cNvPr>
          <p:cNvCxnSpPr>
            <a:stCxn xmlns:a="http://schemas.openxmlformats.org/drawingml/2006/main" id="45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8591550" y="4348163"/>
            <a:ext cx="1" cy="328612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8F8596-806B-475C-90C6-F846FC403913}"/>
              </a:ext>
            </a:extLst>
          </p:cNvPr>
          <p:cNvCxnSpPr>
            <a:stCxn xmlns:a="http://schemas.openxmlformats.org/drawingml/2006/main" id="43" idx="3"/>
            <a:endCxn xmlns:a="http://schemas.openxmlformats.org/drawingml/2006/main" id="45" idx="0"/>
          </p:cNvCxnSpPr>
          <p:nvPr/>
        </p:nvCxnSpPr>
        <p:spPr>
          <a:xfrm xmlns:a="http://schemas.openxmlformats.org/drawingml/2006/main" flipV="1">
            <a:off x="6215063" y="4338638"/>
            <a:ext cx="2376488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tailEnd type="non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35321F-EBD7-4ECC-A0C0-9E6DEAB57023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6210300" y="3733800"/>
            <a:ext cx="1" cy="604838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tailEnd type="none" w="med" len="med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A8B783-924D-4723-A874-0A3E44F2F7B8}"/>
              </a:ext>
            </a:extLst>
          </p:cNvPr>
          <p:cNvCxnSpPr>
            <a:stCxn xmlns:a="http://schemas.openxmlformats.org/drawingml/2006/main" id="4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2543175" y="4138613"/>
            <a:ext cx="0" cy="538162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3B81BD-B45F-4A89-A9ED-F6E38007ABF3}"/>
              </a:ext>
            </a:extLst>
          </p:cNvPr>
          <p:cNvCxnSpPr>
            <a:stCxn xmlns:a="http://schemas.openxmlformats.org/drawingml/2006/main" id="38" idx="1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 flipV="1">
            <a:off x="2543176" y="4129088"/>
            <a:ext cx="3662363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tailEnd type="non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D17747-1F87-47B3-BA99-0E69F6D154B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6210300" y="3733800"/>
            <a:ext cx="1" cy="395288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tailEnd type="non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22ADC8-7202-448B-8718-824ECF24BCC6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6210300" y="3733800"/>
            <a:ext cx="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3E18D-F678-4EB8-8618-A79EE4A77A39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448800" y="3200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4463C-4AB9-44D3-9E09-51B3A602B197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62800" y="3200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D838FF-077E-49F4-9B15-76CE66D08B8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86300" y="3200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C5739-A849-436A-92A7-604E466CEAD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00300" y="32004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sp>
        <p:nvSpPr>
          <p:cNvPr id="54" name="Goiburua">
            <a:extLst xmlns:a="http://schemas.openxmlformats.org/drawingml/2006/main">
              <a:ext uri="{FF2B5EF4-FFF2-40B4-BE49-F238E27FC236}">
                <a16:creationId xmlns:a16="http://schemas.microsoft.com/office/drawing/2014/main" id="{EFA53E17-21D4-4A7B-9076-6A798C83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F4304E46-E4EB-443C-A0B5-55D4D996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Arkitekturaren eskema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30287FBD-DE4B-4785-8782-C5270023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Zerbitzuak, historikoa eta inferentzia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6EEE9167-7E3D-4F24-B84A-3604385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IE1 b,c · IE3 a,d · Big Data aplikatua IE1 b,d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403D896C-03E8-434F-87F5-5F689A40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04 / 13</a:t>
            </a:r>
          </a:p>
        </p:txBody>
      </p:sp>
      <p:sp>
        <p:nvSpPr>
          <p:cNvPr id="6" name="CSV">
            <a:extLst xmlns:a="http://schemas.openxmlformats.org/drawingml/2006/main">
              <a:ext uri="{FF2B5EF4-FFF2-40B4-BE49-F238E27FC236}">
                <a16:creationId xmlns:a16="http://schemas.microsoft.com/office/drawing/2014/main" id="{6B0D65DF-E020-4D19-8091-0A844AF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7" name="CSV izenburua">
            <a:extLst xmlns:a="http://schemas.openxmlformats.org/drawingml/2006/main">
              <a:ext uri="{FF2B5EF4-FFF2-40B4-BE49-F238E27FC236}">
                <a16:creationId xmlns:a16="http://schemas.microsoft.com/office/drawing/2014/main" id="{7853F56A-AEF6-4E10-88DD-5F938AEF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8" name="CSV azalpena">
            <a:extLst xmlns:a="http://schemas.openxmlformats.org/drawingml/2006/main">
              <a:ext uri="{FF2B5EF4-FFF2-40B4-BE49-F238E27FC236}">
                <a16:creationId xmlns:a16="http://schemas.microsoft.com/office/drawing/2014/main" id="{361BE65F-1CF1-48FA-BF57-DA8942E4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1524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Telemetria sintetikoa</a:t>
            </a:r>
          </a:p>
        </p:txBody>
      </p:sp>
      <p:sp>
        <p:nvSpPr>
          <p:cNvPr id="9" name="Kafka">
            <a:extLst xmlns:a="http://schemas.openxmlformats.org/drawingml/2006/main">
              <a:ext uri="{FF2B5EF4-FFF2-40B4-BE49-F238E27FC236}">
                <a16:creationId xmlns:a16="http://schemas.microsoft.com/office/drawing/2014/main" id="{1CF8F426-1BF7-472C-BBB7-E1BD2AB5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670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0" name="Kafka izenburua">
            <a:extLst xmlns:a="http://schemas.openxmlformats.org/drawingml/2006/main">
              <a:ext uri="{FF2B5EF4-FFF2-40B4-BE49-F238E27FC236}">
                <a16:creationId xmlns:a16="http://schemas.microsoft.com/office/drawing/2014/main" id="{5E4D0244-A7F0-4B7A-B15C-FB1A751E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11" name="Kafka azalpena">
            <a:extLst xmlns:a="http://schemas.openxmlformats.org/drawingml/2006/main">
              <a:ext uri="{FF2B5EF4-FFF2-40B4-BE49-F238E27FC236}">
                <a16:creationId xmlns:a16="http://schemas.microsoft.com/office/drawing/2014/main" id="{8080D9D0-9C56-45C0-86CC-CE0A5EF9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33725"/>
            <a:ext cx="1524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cnc-telemetry-csv</a:t>
            </a:r>
          </a:p>
        </p:txBody>
      </p:sp>
      <p:sp>
        <p:nvSpPr>
          <p:cNvPr id="12" name="NiFi">
            <a:extLst xmlns:a="http://schemas.openxmlformats.org/drawingml/2006/main">
              <a:ext uri="{FF2B5EF4-FFF2-40B4-BE49-F238E27FC236}">
                <a16:creationId xmlns:a16="http://schemas.microsoft.com/office/drawing/2014/main" id="{2C961BE7-B305-4B0B-B44D-CDFC0351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67000"/>
            <a:ext cx="1905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3" name="NiFi izenburua">
            <a:extLst xmlns:a="http://schemas.openxmlformats.org/drawingml/2006/main">
              <a:ext uri="{FF2B5EF4-FFF2-40B4-BE49-F238E27FC236}">
                <a16:creationId xmlns:a16="http://schemas.microsoft.com/office/drawing/2014/main" id="{E5E4B39B-9170-4AE1-9ECC-146C1F70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NiFi</a:t>
            </a:r>
          </a:p>
        </p:txBody>
      </p:sp>
      <p:sp>
        <p:nvSpPr>
          <p:cNvPr id="14" name="NiFi azalpena">
            <a:extLst xmlns:a="http://schemas.openxmlformats.org/drawingml/2006/main">
              <a:ext uri="{FF2B5EF4-FFF2-40B4-BE49-F238E27FC236}">
                <a16:creationId xmlns:a16="http://schemas.microsoft.com/office/drawing/2014/main" id="{03A4E372-4EC2-4538-AB9C-1450AD4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33725"/>
            <a:ext cx="171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Baliozkotzea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Eraldaketa</a:t>
            </a:r>
          </a:p>
        </p:txBody>
      </p:sp>
      <p:sp>
        <p:nvSpPr>
          <p:cNvPr id="15" name="Elasticsearch">
            <a:extLst xmlns:a="http://schemas.openxmlformats.org/drawingml/2006/main">
              <a:ext uri="{FF2B5EF4-FFF2-40B4-BE49-F238E27FC236}">
                <a16:creationId xmlns:a16="http://schemas.microsoft.com/office/drawing/2014/main" id="{F8449203-24D6-432F-B8FF-00E86BBA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6" name="Elasticsearch izenburua">
            <a:extLst xmlns:a="http://schemas.openxmlformats.org/drawingml/2006/main">
              <a:ext uri="{FF2B5EF4-FFF2-40B4-BE49-F238E27FC236}">
                <a16:creationId xmlns:a16="http://schemas.microsoft.com/office/drawing/2014/main" id="{BFE92A0E-9F53-471A-943A-7C24C234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81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Elasticsearch</a:t>
            </a:r>
          </a:p>
        </p:txBody>
      </p:sp>
      <p:sp>
        <p:nvSpPr>
          <p:cNvPr id="17" name="Elasticsearch azalpena">
            <a:extLst xmlns:a="http://schemas.openxmlformats.org/drawingml/2006/main">
              <a:ext uri="{FF2B5EF4-FFF2-40B4-BE49-F238E27FC236}">
                <a16:creationId xmlns:a16="http://schemas.microsoft.com/office/drawing/2014/main" id="{E1B164B7-89A5-4532-BAAB-553A5A5D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33725"/>
            <a:ext cx="1524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Indexazioa</a:t>
            </a:r>
          </a:p>
        </p:txBody>
      </p:sp>
      <p:sp>
        <p:nvSpPr>
          <p:cNvPr id="18" name="Kibana">
            <a:extLst xmlns:a="http://schemas.openxmlformats.org/drawingml/2006/main">
              <a:ext uri="{FF2B5EF4-FFF2-40B4-BE49-F238E27FC236}">
                <a16:creationId xmlns:a16="http://schemas.microsoft.com/office/drawing/2014/main" id="{4188831C-DD3B-444D-A3D5-ACC42DA0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670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9" name="Kibana izenburua">
            <a:extLst xmlns:a="http://schemas.openxmlformats.org/drawingml/2006/main">
              <a:ext uri="{FF2B5EF4-FFF2-40B4-BE49-F238E27FC236}">
                <a16:creationId xmlns:a16="http://schemas.microsoft.com/office/drawing/2014/main" id="{FDEAC59F-0EDE-4701-99F7-5315D768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Kibana</a:t>
            </a:r>
          </a:p>
        </p:txBody>
      </p:sp>
      <p:sp>
        <p:nvSpPr>
          <p:cNvPr id="20" name="Kibana azalpena">
            <a:extLst xmlns:a="http://schemas.openxmlformats.org/drawingml/2006/main">
              <a:ext uri="{FF2B5EF4-FFF2-40B4-BE49-F238E27FC236}">
                <a16:creationId xmlns:a16="http://schemas.microsoft.com/office/drawing/2014/main" id="{0CA3C996-3A97-46F6-AA12-4FDEC6B8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33725"/>
            <a:ext cx="1295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Bistaratzea</a:t>
            </a:r>
          </a:p>
        </p:txBody>
      </p:sp>
      <p:sp>
        <p:nvSpPr>
          <p:cNvPr id="25" name="Historikoa">
            <a:extLst xmlns:a="http://schemas.openxmlformats.org/drawingml/2006/main">
              <a:ext uri="{FF2B5EF4-FFF2-40B4-BE49-F238E27FC236}">
                <a16:creationId xmlns:a16="http://schemas.microsoft.com/office/drawing/2014/main" id="{ECB3660F-088F-4AF1-85C9-337A5D02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37147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4"/>
          </a:solidFill>
          <a:ln xmlns:a="http://schemas.openxmlformats.org/drawingml/2006/main" w="13335">
            <a:solidFill>
              <a:srgbClr val="536F80"/>
            </a:solidFill>
          </a:ln>
        </p:spPr>
      </p:sp>
      <p:sp>
        <p:nvSpPr>
          <p:cNvPr id="26" name="Historikoa izenburua">
            <a:extLst xmlns:a="http://schemas.openxmlformats.org/drawingml/2006/main">
              <a:ext uri="{FF2B5EF4-FFF2-40B4-BE49-F238E27FC236}">
                <a16:creationId xmlns:a16="http://schemas.microsoft.com/office/drawing/2014/main" id="{D03B1C84-12EA-489F-918A-3576C7AE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575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 eta DuckDB</a:t>
            </a:r>
          </a:p>
        </p:txBody>
      </p:sp>
      <p:sp>
        <p:nvSpPr>
          <p:cNvPr id="27" name="Historikoa azalpena">
            <a:extLst xmlns:a="http://schemas.openxmlformats.org/drawingml/2006/main">
              <a:ext uri="{FF2B5EF4-FFF2-40B4-BE49-F238E27FC236}">
                <a16:creationId xmlns:a16="http://schemas.microsoft.com/office/drawing/2014/main" id="{16BEADBB-61E7-4A14-A5BB-DEA7875D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Historikoa eta datuen prestaketa</a:t>
            </a:r>
          </a:p>
        </p:txBody>
      </p:sp>
      <p:sp>
        <p:nvSpPr>
          <p:cNvPr id="28" name="Inferentzia">
            <a:extLst xmlns:a="http://schemas.openxmlformats.org/drawingml/2006/main">
              <a:ext uri="{FF2B5EF4-FFF2-40B4-BE49-F238E27FC236}">
                <a16:creationId xmlns:a16="http://schemas.microsoft.com/office/drawing/2014/main" id="{5BCA2B25-C68B-4442-AF59-0A5DC993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76775"/>
            <a:ext cx="20955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29" name="Inferentzia izenburua">
            <a:extLst xmlns:a="http://schemas.openxmlformats.org/drawingml/2006/main">
              <a:ext uri="{FF2B5EF4-FFF2-40B4-BE49-F238E27FC236}">
                <a16:creationId xmlns:a16="http://schemas.microsoft.com/office/drawing/2014/main" id="{7C0A4438-5690-412B-A3FA-4255C00E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910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FastAPI /predict</a:t>
            </a:r>
          </a:p>
        </p:txBody>
      </p:sp>
      <p:sp>
        <p:nvSpPr>
          <p:cNvPr id="30" name="Inferentzia azalpena">
            <a:extLst xmlns:a="http://schemas.openxmlformats.org/drawingml/2006/main">
              <a:ext uri="{FF2B5EF4-FFF2-40B4-BE49-F238E27FC236}">
                <a16:creationId xmlns:a16="http://schemas.microsoft.com/office/drawing/2014/main" id="{BEC7D938-2B41-4DA9-88A0-BA95A743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31" name="DLQ">
            <a:extLst xmlns:a="http://schemas.openxmlformats.org/drawingml/2006/main">
              <a:ext uri="{FF2B5EF4-FFF2-40B4-BE49-F238E27FC236}">
                <a16:creationId xmlns:a16="http://schemas.microsoft.com/office/drawing/2014/main" id="{0FA08D61-CD19-4D75-97FC-2DA3406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76775"/>
            <a:ext cx="17145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13335">
            <a:solidFill>
              <a:srgbClr val="9D6619"/>
            </a:solidFill>
          </a:ln>
        </p:spPr>
      </p:sp>
      <p:sp>
        <p:nvSpPr>
          <p:cNvPr id="32" name="DLQ izenburua">
            <a:extLst xmlns:a="http://schemas.openxmlformats.org/drawingml/2006/main">
              <a:ext uri="{FF2B5EF4-FFF2-40B4-BE49-F238E27FC236}">
                <a16:creationId xmlns:a16="http://schemas.microsoft.com/office/drawing/2014/main" id="{32CCFCC4-7F7B-4B41-8557-A496EB36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910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7B4C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7B4C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4C09"/>
                </a:solidFill>
                <a:latin typeface="Arial"/>
                <a:ea typeface="Arial"/>
                <a:cs typeface="Arial"/>
              </a:rPr>
              <a:t>DLQ</a:t>
            </a:r>
          </a:p>
        </p:txBody>
      </p:sp>
      <p:sp>
        <p:nvSpPr>
          <p:cNvPr id="33" name="DLQ azalpena">
            <a:extLst xmlns:a="http://schemas.openxmlformats.org/drawingml/2006/main">
              <a:ext uri="{FF2B5EF4-FFF2-40B4-BE49-F238E27FC236}">
                <a16:creationId xmlns:a16="http://schemas.microsoft.com/office/drawing/2014/main" id="{32F5B841-4A8E-4B7D-BE8E-1B0158B8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Baliogabeak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event_id</a:t>
            </a:r>
          </a:p>
        </p:txBody>
      </p:sp>
      <p:sp>
        <p:nvSpPr>
          <p:cNvPr id="34" name="Isolation Forest">
            <a:extLst xmlns:a="http://schemas.openxmlformats.org/drawingml/2006/main">
              <a:ext uri="{FF2B5EF4-FFF2-40B4-BE49-F238E27FC236}">
                <a16:creationId xmlns:a16="http://schemas.microsoft.com/office/drawing/2014/main" id="{906CD430-8893-4B7F-B9E4-10D3AE4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76775"/>
            <a:ext cx="16764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4"/>
          </a:solidFill>
          <a:ln xmlns:a="http://schemas.openxmlformats.org/drawingml/2006/main" w="13335">
            <a:solidFill>
              <a:srgbClr val="536F80"/>
            </a:solidFill>
          </a:ln>
        </p:spPr>
      </p:sp>
      <p:sp>
        <p:nvSpPr>
          <p:cNvPr id="35" name="Isolation Forest izenburua">
            <a:extLst xmlns:a="http://schemas.openxmlformats.org/drawingml/2006/main">
              <a:ext uri="{FF2B5EF4-FFF2-40B4-BE49-F238E27FC236}">
                <a16:creationId xmlns:a16="http://schemas.microsoft.com/office/drawing/2014/main" id="{12417606-0059-4E16-87F5-0818DC43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910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500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C48"/>
                </a:solidFill>
                <a:latin typeface="Arial"/>
                <a:ea typeface="Arial"/>
                <a:cs typeface="Arial"/>
              </a:rPr>
              <a:t>Isolation Forest</a:t>
            </a:r>
          </a:p>
        </p:txBody>
      </p:sp>
      <p:sp>
        <p:nvSpPr>
          <p:cNvPr id="36" name="Isolation Forest azalpena">
            <a:extLst xmlns:a="http://schemas.openxmlformats.org/drawingml/2006/main">
              <a:ext uri="{FF2B5EF4-FFF2-40B4-BE49-F238E27FC236}">
                <a16:creationId xmlns:a16="http://schemas.microsoft.com/office/drawing/2014/main" id="{A3AD9E6A-7821-435C-8B31-807F1670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Aparteko esperimentua</a:t>
            </a:r>
          </a:p>
        </p:txBody>
      </p:sp>
      <p:sp>
        <p:nvSpPr>
          <p:cNvPr id="38" name="Historikorako bidea bide-puntua 0">
            <a:extLst xmlns:a="http://schemas.openxmlformats.org/drawingml/2006/main">
              <a:ext uri="{FF2B5EF4-FFF2-40B4-BE49-F238E27FC236}">
                <a16:creationId xmlns:a16="http://schemas.microsoft.com/office/drawing/2014/main" id="{9862913C-D2AD-4E1A-8FD6-E768715F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41290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Historikorako bidea bide-puntua 1">
            <a:extLst xmlns:a="http://schemas.openxmlformats.org/drawingml/2006/main">
              <a:ext uri="{FF2B5EF4-FFF2-40B4-BE49-F238E27FC236}">
                <a16:creationId xmlns:a16="http://schemas.microsoft.com/office/drawing/2014/main" id="{199F6BE5-E5F8-41C3-A8EB-7B68147E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13" y="41290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Bazterketen bidea bide-puntua 0">
            <a:extLst xmlns:a="http://schemas.openxmlformats.org/drawingml/2006/main">
              <a:ext uri="{FF2B5EF4-FFF2-40B4-BE49-F238E27FC236}">
                <a16:creationId xmlns:a16="http://schemas.microsoft.com/office/drawing/2014/main" id="{375458A0-5C6B-46C6-B787-34E4A5A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38" y="4338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Bazterketen bidea bide-puntua 1">
            <a:extLst xmlns:a="http://schemas.openxmlformats.org/drawingml/2006/main">
              <a:ext uri="{FF2B5EF4-FFF2-40B4-BE49-F238E27FC236}">
                <a16:creationId xmlns:a16="http://schemas.microsoft.com/office/drawing/2014/main" id="{5696A541-29E3-48EC-B18A-4780100B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788" y="4338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HTTP eskaera eta erantzuna">
            <a:extLst xmlns:a="http://schemas.openxmlformats.org/drawingml/2006/main">
              <a:ext uri="{FF2B5EF4-FFF2-40B4-BE49-F238E27FC236}">
                <a16:creationId xmlns:a16="http://schemas.microsoft.com/office/drawing/2014/main" id="{40665C29-7DC6-4360-A24C-F3182461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29050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HTTP eskaera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eta erantzuna</a:t>
            </a:r>
          </a:p>
        </p:txBody>
      </p:sp>
      <p:sp>
        <p:nvSpPr>
          <p:cNvPr id="50" name="Historikoaren bidea">
            <a:extLst xmlns:a="http://schemas.openxmlformats.org/drawingml/2006/main">
              <a:ext uri="{FF2B5EF4-FFF2-40B4-BE49-F238E27FC236}">
                <a16:creationId xmlns:a16="http://schemas.microsoft.com/office/drawing/2014/main" id="{372DEB3A-3053-4462-A23D-A6F83268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Baliozko telemetria</a:t>
            </a:r>
          </a:p>
        </p:txBody>
      </p:sp>
      <p:sp>
        <p:nvSpPr>
          <p:cNvPr id="51" name="DLQ bidearen etiketa">
            <a:extLst xmlns:a="http://schemas.openxmlformats.org/drawingml/2006/main">
              <a:ext uri="{FF2B5EF4-FFF2-40B4-BE49-F238E27FC236}">
                <a16:creationId xmlns:a16="http://schemas.microsoft.com/office/drawing/2014/main" id="{B7A7DD10-6E54-45D1-960E-133DC483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4C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7B4C0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4C09"/>
                </a:solidFill>
                <a:latin typeface="Arial"/>
                <a:ea typeface="Arial"/>
                <a:cs typeface="Arial"/>
              </a:rPr>
              <a:t>Baliogabeak</a:t>
            </a:r>
          </a:p>
        </p:txBody>
      </p:sp>
      <p:sp>
        <p:nvSpPr>
          <p:cNvPr id="52" name="Entrenamenduaren azalpena">
            <a:extLst xmlns:a="http://schemas.openxmlformats.org/drawingml/2006/main">
              <a:ext uri="{FF2B5EF4-FFF2-40B4-BE49-F238E27FC236}">
                <a16:creationId xmlns:a16="http://schemas.microsoft.com/office/drawing/2014/main" id="{4E69DC12-D1BE-4BDC-9428-98A329E7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Random Forest konexiorik gabe entrenatu eta FastAPIk zerbitzatzen du.</a:t>
            </a:r>
          </a:p>
        </p:txBody>
      </p:sp>
      <p:sp>
        <p:nvSpPr>
          <p:cNvPr id="53" name="Integrazioaren muga">
            <a:extLst xmlns:a="http://schemas.openxmlformats.org/drawingml/2006/main">
              <a:ext uri="{FF2B5EF4-FFF2-40B4-BE49-F238E27FC236}">
                <a16:creationId xmlns:a16="http://schemas.microsoft.com/office/drawing/2014/main" id="{162CEE63-F4E0-4BD7-AE70-295C569E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Integrazio osoa frogatu gabe dago.</a:t>
            </a:r>
          </a:p>
        </p:txBody>
      </p:sp>
    </p:spTree>
    <p:extLst>
      <p:ext uri="{BB962C8B-B14F-4D97-AF65-F5344CB8AC3E}">
        <p14:creationId xmlns:p14="http://schemas.microsoft.com/office/powerpoint/2010/main" val="141333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iburua">
            <a:extLst xmlns:a="http://schemas.openxmlformats.org/drawingml/2006/main">
              <a:ext uri="{FF2B5EF4-FFF2-40B4-BE49-F238E27FC236}">
                <a16:creationId xmlns:a16="http://schemas.microsoft.com/office/drawing/2014/main" id="{3CBD3725-9AC6-4D14-B83B-9BDDEB36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924E4F01-77E8-4729-A329-3F94BB67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Datu-iturriak eta kontratua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65472F52-EBE4-46F3-B2F2-4665C1C3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event_id, schema_version eta kalitate-markak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1E85D952-1ED1-4412-9DE1-217DE4A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sistemak IE1 c · IE3 a · Big Data aplikatua IE5 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4579D3E2-791C-4E06-96E7-0E522D57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05 / 13</a:t>
            </a:r>
          </a:p>
        </p:txBody>
      </p:sp>
      <p:sp>
        <p:nvSpPr>
          <p:cNvPr id="6" name="Kontratu 0">
            <a:extLst xmlns:a="http://schemas.openxmlformats.org/drawingml/2006/main">
              <a:ext uri="{FF2B5EF4-FFF2-40B4-BE49-F238E27FC236}">
                <a16:creationId xmlns:a16="http://schemas.microsoft.com/office/drawing/2014/main" id="{96EA2284-35F6-46B3-8C2E-B39A4AD4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Telemetria CSVan</a:t>
            </a:r>
          </a:p>
        </p:txBody>
      </p:sp>
      <p:sp>
        <p:nvSpPr>
          <p:cNvPr id="7" name="Kontratu eduki 0">
            <a:extLst xmlns:a="http://schemas.openxmlformats.org/drawingml/2006/main">
              <a:ext uri="{FF2B5EF4-FFF2-40B4-BE49-F238E27FC236}">
                <a16:creationId xmlns:a16="http://schemas.microsoft.com/office/drawing/2014/main" id="{0D11214C-3018-479F-8190-0D4E8CA8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628900"/>
            <a:ext cx="74961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machine_id, UTC timestamp, tenperatura, rpm, momentua, higadura eta quality_flag.</a:t>
            </a:r>
          </a:p>
        </p:txBody>
      </p:sp>
      <p:sp>
        <p:nvSpPr>
          <p:cNvPr id="8" name="Kontratu 1">
            <a:extLst xmlns:a="http://schemas.openxmlformats.org/drawingml/2006/main">
              <a:ext uri="{FF2B5EF4-FFF2-40B4-BE49-F238E27FC236}">
                <a16:creationId xmlns:a16="http://schemas.microsoft.com/office/drawing/2014/main" id="{57B39168-BBF8-4829-A125-ED55EF4E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Mantentze-lanen CSV</a:t>
            </a:r>
          </a:p>
        </p:txBody>
      </p:sp>
      <p:sp>
        <p:nvSpPr>
          <p:cNvPr id="9" name="Kontratu eduki 1">
            <a:extLst xmlns:a="http://schemas.openxmlformats.org/drawingml/2006/main">
              <a:ext uri="{FF2B5EF4-FFF2-40B4-BE49-F238E27FC236}">
                <a16:creationId xmlns:a16="http://schemas.microsoft.com/office/drawing/2014/main" id="{155528AD-1CDA-4DE3-A222-CF65D8FC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705225"/>
            <a:ext cx="74961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Makina, esku-hartzearen data eta mota, eta matxuraren data.</a:t>
            </a:r>
          </a:p>
        </p:txBody>
      </p:sp>
      <p:sp>
        <p:nvSpPr>
          <p:cNvPr id="10" name="Kontratu 2">
            <a:extLst xmlns:a="http://schemas.openxmlformats.org/drawingml/2006/main">
              <a:ext uri="{FF2B5EF4-FFF2-40B4-BE49-F238E27FC236}">
                <a16:creationId xmlns:a16="http://schemas.microsoft.com/office/drawing/2014/main" id="{7EE86CD6-E1F3-4491-8270-470AD7D7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876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Ekipamenduaren logak</a:t>
            </a:r>
          </a:p>
        </p:txBody>
      </p:sp>
      <p:sp>
        <p:nvSpPr>
          <p:cNvPr id="11" name="Kontratu eduki 2">
            <a:extLst xmlns:a="http://schemas.openxmlformats.org/drawingml/2006/main">
              <a:ext uri="{FF2B5EF4-FFF2-40B4-BE49-F238E27FC236}">
                <a16:creationId xmlns:a16="http://schemas.microsoft.com/office/drawing/2014/main" id="{E6144C3D-B853-4CCE-94FF-4E6DA073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781550"/>
            <a:ext cx="74961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Jatorrizko testua gorde. Makina, data eta kodea atera, eta denbora-testuinguruarekin lotu.</a:t>
            </a:r>
          </a:p>
        </p:txBody>
      </p:sp>
      <p:sp>
        <p:nvSpPr>
          <p:cNvPr id="12" name="Kontratuaren muga">
            <a:extLst xmlns:a="http://schemas.openxmlformats.org/drawingml/2006/main">
              <a:ext uri="{FF2B5EF4-FFF2-40B4-BE49-F238E27FC236}">
                <a16:creationId xmlns:a16="http://schemas.microsoft.com/office/drawing/2014/main" id="{E924955F-504F-4D5C-959A-1385C483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Iturriak bibraziorik ez badu, ez dugu asmatuko. Datu okerrak baztertu.</a:t>
            </a:r>
          </a:p>
        </p:txBody>
      </p:sp>
    </p:spTree>
    <p:extLst>
      <p:ext uri="{BB962C8B-B14F-4D97-AF65-F5344CB8AC3E}">
        <p14:creationId xmlns:p14="http://schemas.microsoft.com/office/powerpoint/2010/main" val="1819877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850E70-1769-4EF5-A6E3-43281B95979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077450" y="354330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13B3FE-3C2A-414A-84F6-63A42F40D9BB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6096000" y="4376738"/>
            <a:ext cx="1" cy="338137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8CAB2-AC8D-4E43-AFCE-2D9A9EDB8B09}"/>
              </a:ext>
            </a:extLst>
          </p:cNvPr>
          <p:cNvCxnSpPr>
            <a:stCxn xmlns:a="http://schemas.openxmlformats.org/drawingml/2006/main" id="31" idx="1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 flipV="1">
            <a:off x="6096001" y="4367213"/>
            <a:ext cx="3976687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tailEnd type="non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936A90-332A-4E90-8502-A30C6AE091AF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0077450" y="3543300"/>
            <a:ext cx="0" cy="82391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536F80"/>
            </a:solidFill>
            <a:tailEnd type="none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EB1B0-0A23-4911-898B-90E9D899F28C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2114550" y="4014788"/>
            <a:ext cx="0" cy="700087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B24336-7F41-47B8-89AF-B2D8BB1F50CB}"/>
              </a:ext>
            </a:extLst>
          </p:cNvPr>
          <p:cNvCxnSpPr>
            <a:stCxn xmlns:a="http://schemas.openxmlformats.org/drawingml/2006/main" id="26" idx="1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 flipV="1">
            <a:off x="2114551" y="4005263"/>
            <a:ext cx="7958138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tailEnd type="non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11D09-23FF-4D2C-BA25-CD139CD3D31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0077450" y="3543300"/>
            <a:ext cx="0" cy="46196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9D6619"/>
            </a:solidFill>
            <a:tailEnd type="non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D0E99-4928-4A19-A6AF-0575B9D7122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524750" y="30289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6F3F7-62FF-4A2E-8B5F-A8A61FFE697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43300" y="30289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06B65"/>
            </a:solidFill>
            <a:prstDash val="solid"/>
            <a:tailEnd type="triangle" w="sm" len="sm"/>
          </a:ln>
        </p:spPr>
      </p:cxnSp>
      <p:sp>
        <p:nvSpPr>
          <p:cNvPr id="41" name="Goiburua">
            <a:extLst xmlns:a="http://schemas.openxmlformats.org/drawingml/2006/main">
              <a:ext uri="{FF2B5EF4-FFF2-40B4-BE49-F238E27FC236}">
                <a16:creationId xmlns:a16="http://schemas.microsoft.com/office/drawing/2014/main" id="{A024C608-9E3B-4617-BB8A-6159779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314C1173-0F28-4B29-ABE7-B917E0DD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Datu-fluxuaren eskema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DEF47109-0D79-4C26-B464-F3658437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NiFiren prozesadoreak eta erregistroen bideak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2B7A6B24-831A-4499-B178-A32A6E0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Big Data aplikatua IE1 b · IE5 b · Big Data sistemak IE1 c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FF159242-F625-471E-8923-3A5ED691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06 / 13</a:t>
            </a:r>
          </a:p>
        </p:txBody>
      </p:sp>
      <p:sp>
        <p:nvSpPr>
          <p:cNvPr id="6" name="ConsumeKafka">
            <a:extLst xmlns:a="http://schemas.openxmlformats.org/drawingml/2006/main">
              <a:ext uri="{FF2B5EF4-FFF2-40B4-BE49-F238E27FC236}">
                <a16:creationId xmlns:a16="http://schemas.microsoft.com/office/drawing/2014/main" id="{BF0A8FC4-5362-43EF-8B17-0C82536D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7" name="ConsumeKafka izenburua">
            <a:extLst xmlns:a="http://schemas.openxmlformats.org/drawingml/2006/main">
              <a:ext uri="{FF2B5EF4-FFF2-40B4-BE49-F238E27FC236}">
                <a16:creationId xmlns:a16="http://schemas.microsoft.com/office/drawing/2014/main" id="{31A1B92E-4794-4500-BB3D-62168EF5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ConsumeKafka</a:t>
            </a:r>
          </a:p>
        </p:txBody>
      </p:sp>
      <p:sp>
        <p:nvSpPr>
          <p:cNvPr id="8" name="ConsumeKafka azalpena">
            <a:extLst xmlns:a="http://schemas.openxmlformats.org/drawingml/2006/main">
              <a:ext uri="{FF2B5EF4-FFF2-40B4-BE49-F238E27FC236}">
                <a16:creationId xmlns:a16="http://schemas.microsoft.com/office/drawing/2014/main" id="{8844B425-9C8B-4009-B583-C0064284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266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Kafka kontsumitu</a:t>
            </a:r>
          </a:p>
        </p:txBody>
      </p:sp>
      <p:sp>
        <p:nvSpPr>
          <p:cNvPr id="9" name="ConvertRecord">
            <a:extLst xmlns:a="http://schemas.openxmlformats.org/drawingml/2006/main">
              <a:ext uri="{FF2B5EF4-FFF2-40B4-BE49-F238E27FC236}">
                <a16:creationId xmlns:a16="http://schemas.microsoft.com/office/drawing/2014/main" id="{1D4290CA-978B-4CF3-A61A-3D8C0BD9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0" name="ConvertRecord izenburua">
            <a:extLst xmlns:a="http://schemas.openxmlformats.org/drawingml/2006/main">
              <a:ext uri="{FF2B5EF4-FFF2-40B4-BE49-F238E27FC236}">
                <a16:creationId xmlns:a16="http://schemas.microsoft.com/office/drawing/2014/main" id="{CC32E6D7-45DA-43F0-87E7-C824476B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ConvertRecord</a:t>
            </a:r>
          </a:p>
        </p:txBody>
      </p:sp>
      <p:sp>
        <p:nvSpPr>
          <p:cNvPr id="11" name="ConvertRecord azalpena">
            <a:extLst xmlns:a="http://schemas.openxmlformats.org/drawingml/2006/main">
              <a:ext uri="{FF2B5EF4-FFF2-40B4-BE49-F238E27FC236}">
                <a16:creationId xmlns:a16="http://schemas.microsoft.com/office/drawing/2014/main" id="{9C8AD3ED-A2F0-41CA-A5DA-C16964AE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81325"/>
            <a:ext cx="266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CSVReader / JSON</a:t>
            </a:r>
          </a:p>
        </p:txBody>
      </p:sp>
      <p:sp>
        <p:nvSpPr>
          <p:cNvPr id="12" name="ValidateRecord">
            <a:extLst xmlns:a="http://schemas.openxmlformats.org/drawingml/2006/main">
              <a:ext uri="{FF2B5EF4-FFF2-40B4-BE49-F238E27FC236}">
                <a16:creationId xmlns:a16="http://schemas.microsoft.com/office/drawing/2014/main" id="{2C994C3C-9C72-41EA-BD25-9E6E36EC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13" name="ValidateRecord izenburua">
            <a:extLst xmlns:a="http://schemas.openxmlformats.org/drawingml/2006/main">
              <a:ext uri="{FF2B5EF4-FFF2-40B4-BE49-F238E27FC236}">
                <a16:creationId xmlns:a16="http://schemas.microsoft.com/office/drawing/2014/main" id="{BDEF767B-56DB-4189-A08C-52A62898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28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ValidateRecord</a:t>
            </a:r>
          </a:p>
        </p:txBody>
      </p:sp>
      <p:sp>
        <p:nvSpPr>
          <p:cNvPr id="14" name="ValidateRecord azalpena">
            <a:extLst xmlns:a="http://schemas.openxmlformats.org/drawingml/2006/main">
              <a:ext uri="{FF2B5EF4-FFF2-40B4-BE49-F238E27FC236}">
                <a16:creationId xmlns:a16="http://schemas.microsoft.com/office/drawing/2014/main" id="{926B7FC1-411C-4800-9677-C235F909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266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Eskema baliozkotu</a:t>
            </a:r>
          </a:p>
        </p:txBody>
      </p:sp>
      <p:sp>
        <p:nvSpPr>
          <p:cNvPr id="17" name="Berrogeialdia">
            <a:extLst xmlns:a="http://schemas.openxmlformats.org/drawingml/2006/main">
              <a:ext uri="{FF2B5EF4-FFF2-40B4-BE49-F238E27FC236}">
                <a16:creationId xmlns:a16="http://schemas.microsoft.com/office/drawing/2014/main" id="{86B3AD33-D0AE-48E3-97FC-CC0E7285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D"/>
          </a:solidFill>
          <a:ln xmlns:a="http://schemas.openxmlformats.org/drawingml/2006/main" w="13335">
            <a:solidFill>
              <a:srgbClr val="9D6619"/>
            </a:solidFill>
          </a:ln>
        </p:spPr>
      </p:sp>
      <p:sp>
        <p:nvSpPr>
          <p:cNvPr id="18" name="Berrogeialdia izenburua">
            <a:extLst xmlns:a="http://schemas.openxmlformats.org/drawingml/2006/main">
              <a:ext uri="{FF2B5EF4-FFF2-40B4-BE49-F238E27FC236}">
                <a16:creationId xmlns:a16="http://schemas.microsoft.com/office/drawing/2014/main" id="{562BA22C-FA4F-4AC9-A8BD-BAF44D0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7B4C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7B4C0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4C09"/>
                </a:solidFill>
                <a:latin typeface="Arial"/>
                <a:ea typeface="Arial"/>
                <a:cs typeface="Arial"/>
              </a:rPr>
              <a:t>Berrogeialdia</a:t>
            </a:r>
          </a:p>
        </p:txBody>
      </p:sp>
      <p:sp>
        <p:nvSpPr>
          <p:cNvPr id="19" name="Berrogeialdia azalpena">
            <a:extLst xmlns:a="http://schemas.openxmlformats.org/drawingml/2006/main">
              <a:ext uri="{FF2B5EF4-FFF2-40B4-BE49-F238E27FC236}">
                <a16:creationId xmlns:a16="http://schemas.microsoft.com/office/drawing/2014/main" id="{714AF9DB-54B8-44E4-8C83-360213A7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Baliogabeak edo HTTP 422</a:t>
            </a:r>
          </a:p>
        </p:txBody>
      </p:sp>
      <p:sp>
        <p:nvSpPr>
          <p:cNvPr id="20" name="Indexazioa">
            <a:extLst xmlns:a="http://schemas.openxmlformats.org/drawingml/2006/main">
              <a:ext uri="{FF2B5EF4-FFF2-40B4-BE49-F238E27FC236}">
                <a16:creationId xmlns:a16="http://schemas.microsoft.com/office/drawing/2014/main" id="{2EAC7736-F684-4C4E-ABDC-2AE8BC83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148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4"/>
          </a:solidFill>
          <a:ln xmlns:a="http://schemas.openxmlformats.org/drawingml/2006/main" w="13335">
            <a:solidFill>
              <a:srgbClr val="536F80"/>
            </a:solidFill>
          </a:ln>
        </p:spPr>
      </p:sp>
      <p:sp>
        <p:nvSpPr>
          <p:cNvPr id="21" name="Indexazioa izenburua">
            <a:extLst xmlns:a="http://schemas.openxmlformats.org/drawingml/2006/main">
              <a:ext uri="{FF2B5EF4-FFF2-40B4-BE49-F238E27FC236}">
                <a16:creationId xmlns:a16="http://schemas.microsoft.com/office/drawing/2014/main" id="{91DC5F96-4419-4838-A728-DFF35B7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29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C48"/>
                </a:solidFill>
                <a:latin typeface="Arial"/>
                <a:ea typeface="Arial"/>
                <a:cs typeface="Arial"/>
              </a:rPr>
              <a:t>Elasticsearch</a:t>
            </a:r>
          </a:p>
        </p:txBody>
      </p:sp>
      <p:sp>
        <p:nvSpPr>
          <p:cNvPr id="22" name="Indexazioa azalpena">
            <a:extLst xmlns:a="http://schemas.openxmlformats.org/drawingml/2006/main">
              <a:ext uri="{FF2B5EF4-FFF2-40B4-BE49-F238E27FC236}">
                <a16:creationId xmlns:a16="http://schemas.microsoft.com/office/drawing/2014/main" id="{29E8A710-5D10-4C98-AB68-160A76E3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816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Baliozko erregistroak</a:t>
            </a:r>
          </a:p>
        </p:txBody>
      </p:sp>
      <p:sp>
        <p:nvSpPr>
          <p:cNvPr id="23" name="InvokeHTTP">
            <a:extLst xmlns:a="http://schemas.openxmlformats.org/drawingml/2006/main">
              <a:ext uri="{FF2B5EF4-FFF2-40B4-BE49-F238E27FC236}">
                <a16:creationId xmlns:a16="http://schemas.microsoft.com/office/drawing/2014/main" id="{A797822B-BAF5-42AC-8757-F42073D8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14875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F"/>
          </a:solidFill>
          <a:ln xmlns:a="http://schemas.openxmlformats.org/drawingml/2006/main" w="13335">
            <a:solidFill>
              <a:srgbClr val="006B65"/>
            </a:solidFill>
          </a:ln>
        </p:spPr>
      </p:sp>
      <p:sp>
        <p:nvSpPr>
          <p:cNvPr id="24" name="InvokeHTTP izenburua">
            <a:extLst xmlns:a="http://schemas.openxmlformats.org/drawingml/2006/main">
              <a:ext uri="{FF2B5EF4-FFF2-40B4-BE49-F238E27FC236}">
                <a16:creationId xmlns:a16="http://schemas.microsoft.com/office/drawing/2014/main" id="{316AF09D-64FD-486D-BE13-CD6CDDEA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291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72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InvokeHTTP</a:t>
            </a:r>
          </a:p>
        </p:txBody>
      </p:sp>
      <p:sp>
        <p:nvSpPr>
          <p:cNvPr id="25" name="InvokeHTTP azalpena">
            <a:extLst xmlns:a="http://schemas.openxmlformats.org/drawingml/2006/main">
              <a:ext uri="{FF2B5EF4-FFF2-40B4-BE49-F238E27FC236}">
                <a16:creationId xmlns:a16="http://schemas.microsoft.com/office/drawing/2014/main" id="{504B4F43-6FAD-49CD-9865-E039141C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816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POST /predict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3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26" name="Baliogabeen bidea bide-puntua 0">
            <a:extLst xmlns:a="http://schemas.openxmlformats.org/drawingml/2006/main">
              <a:ext uri="{FF2B5EF4-FFF2-40B4-BE49-F238E27FC236}">
                <a16:creationId xmlns:a16="http://schemas.microsoft.com/office/drawing/2014/main" id="{DAC6030B-5168-41F5-94DA-EF141760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4005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Baliogabeen bidea bide-puntua 1">
            <a:extLst xmlns:a="http://schemas.openxmlformats.org/drawingml/2006/main">
              <a:ext uri="{FF2B5EF4-FFF2-40B4-BE49-F238E27FC236}">
                <a16:creationId xmlns:a16="http://schemas.microsoft.com/office/drawing/2014/main" id="{7335804B-8E15-4123-8872-ABCF2828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88" y="40052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Indexatzeko bidea bide-puntua 0">
            <a:extLst xmlns:a="http://schemas.openxmlformats.org/drawingml/2006/main">
              <a:ext uri="{FF2B5EF4-FFF2-40B4-BE49-F238E27FC236}">
                <a16:creationId xmlns:a16="http://schemas.microsoft.com/office/drawing/2014/main" id="{5E720C64-EBAD-4468-8357-51394E44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2688" y="4367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Indexatzeko bidea bide-puntua 1">
            <a:extLst xmlns:a="http://schemas.openxmlformats.org/drawingml/2006/main">
              <a:ext uri="{FF2B5EF4-FFF2-40B4-BE49-F238E27FC236}">
                <a16:creationId xmlns:a16="http://schemas.microsoft.com/office/drawing/2014/main" id="{9342BDEF-82D3-45DB-9365-5817C0D6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4367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Baliogabeen etiketa">
            <a:extLst xmlns:a="http://schemas.openxmlformats.org/drawingml/2006/main">
              <a:ext uri="{FF2B5EF4-FFF2-40B4-BE49-F238E27FC236}">
                <a16:creationId xmlns:a16="http://schemas.microsoft.com/office/drawing/2014/main" id="{B8F852E0-4ACD-4D10-8BBD-C2C27A43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43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B4C0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7B4C0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4C09"/>
                </a:solidFill>
                <a:latin typeface="Arial"/>
                <a:ea typeface="Arial"/>
                <a:cs typeface="Arial"/>
              </a:rPr>
              <a:t>Baliogabeak</a:t>
            </a:r>
          </a:p>
        </p:txBody>
      </p:sp>
      <p:sp>
        <p:nvSpPr>
          <p:cNvPr id="38" name="Baliozkoen etiketa">
            <a:extLst xmlns:a="http://schemas.openxmlformats.org/drawingml/2006/main">
              <a:ext uri="{FF2B5EF4-FFF2-40B4-BE49-F238E27FC236}">
                <a16:creationId xmlns:a16="http://schemas.microsoft.com/office/drawing/2014/main" id="{79B99EB0-6DE1-481E-9C07-5965A7C6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243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6B65"/>
                </a:solidFill>
                <a:latin typeface="Arial"/>
                <a:ea typeface="Arial"/>
                <a:cs typeface="Arial"/>
              </a:rPr>
              <a:t>Baliozkoak</a:t>
            </a:r>
          </a:p>
        </p:txBody>
      </p:sp>
      <p:sp>
        <p:nvSpPr>
          <p:cNvPr id="39" name="HTTP erroreen politika">
            <a:extLst xmlns:a="http://schemas.openxmlformats.org/drawingml/2006/main">
              <a:ext uri="{FF2B5EF4-FFF2-40B4-BE49-F238E27FC236}">
                <a16:creationId xmlns:a16="http://schemas.microsoft.com/office/drawing/2014/main" id="{77741EE0-9DDB-4A36-A97D-CE5E7F9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HTTP 422: berrogeialdia. HTTP 5xx: saiakera mugatuak.</a:t>
            </a:r>
          </a:p>
        </p:txBody>
      </p:sp>
      <p:sp>
        <p:nvSpPr>
          <p:cNvPr id="40" name="Laborategiaren muga">
            <a:extLst xmlns:a="http://schemas.openxmlformats.org/drawingml/2006/main">
              <a:ext uri="{FF2B5EF4-FFF2-40B4-BE49-F238E27FC236}">
                <a16:creationId xmlns:a16="http://schemas.microsoft.com/office/drawing/2014/main" id="{04607AFD-DB52-49BB-9EE1-F6FC1594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Laborategi-ingurunea. Ez dago CNC errealekin loturarik.</a:t>
            </a:r>
          </a:p>
        </p:txBody>
      </p:sp>
    </p:spTree>
    <p:extLst>
      <p:ext uri="{BB962C8B-B14F-4D97-AF65-F5344CB8AC3E}">
        <p14:creationId xmlns:p14="http://schemas.microsoft.com/office/powerpoint/2010/main" val="713431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iburua">
            <a:extLst xmlns:a="http://schemas.openxmlformats.org/drawingml/2006/main">
              <a:ext uri="{FF2B5EF4-FFF2-40B4-BE49-F238E27FC236}">
                <a16:creationId xmlns:a16="http://schemas.microsoft.com/office/drawing/2014/main" id="{76B2D2F9-31BB-41FC-AB42-FDA38DA3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17531546-4013-4B3E-854B-CB6269C0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Historikoa eta datuen prestaketa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331F9901-24EC-4D19-B702-919276D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Parquet, DuckDB, Python, NumPy eta pandas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74A7A1C6-9FED-4432-B760-CB39996A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D5BE457D-B6AF-4484-9325-D3788305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07 / 13</a:t>
            </a:r>
          </a:p>
        </p:txBody>
      </p:sp>
      <p:sp>
        <p:nvSpPr>
          <p:cNvPr id="6" name="Historikoa izenburua">
            <a:extLst xmlns:a="http://schemas.openxmlformats.org/drawingml/2006/main">
              <a:ext uri="{FF2B5EF4-FFF2-40B4-BE49-F238E27FC236}">
                <a16:creationId xmlns:a16="http://schemas.microsoft.com/office/drawing/2014/main" id="{DEA4A03C-0FC7-4E04-9756-01E05168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3209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Historikoa</a:t>
            </a:r>
          </a:p>
        </p:txBody>
      </p:sp>
      <p:sp>
        <p:nvSpPr>
          <p:cNvPr id="7" name="Historikoa edukia">
            <a:extLst xmlns:a="http://schemas.openxmlformats.org/drawingml/2006/main">
              <a:ext uri="{FF2B5EF4-FFF2-40B4-BE49-F238E27FC236}">
                <a16:creationId xmlns:a16="http://schemas.microsoft.com/office/drawing/2014/main" id="{AC80A815-1B03-43C8-8ACA-E42707DC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3209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Parquet: telemetria eta iragarpenak bereizita.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DuckDB: SQL kontsultak, mantentze-datuen lotura eta datu multzoen prestaketa.</a:t>
            </a:r>
          </a:p>
        </p:txBody>
      </p:sp>
      <p:sp>
        <p:nvSpPr>
          <p:cNvPr id="8" name="Ezaugarriak izenburua">
            <a:extLst xmlns:a="http://schemas.openxmlformats.org/drawingml/2006/main">
              <a:ext uri="{FF2B5EF4-FFF2-40B4-BE49-F238E27FC236}">
                <a16:creationId xmlns:a16="http://schemas.microsoft.com/office/drawing/2014/main" id="{7CCC59B7-ED55-4E6D-A455-74200652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62225"/>
            <a:ext cx="3209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Ezaugarriak</a:t>
            </a:r>
          </a:p>
        </p:txBody>
      </p:sp>
      <p:sp>
        <p:nvSpPr>
          <p:cNvPr id="9" name="Ezaugarriak edukia">
            <a:extLst xmlns:a="http://schemas.openxmlformats.org/drawingml/2006/main">
              <a:ext uri="{FF2B5EF4-FFF2-40B4-BE49-F238E27FC236}">
                <a16:creationId xmlns:a16="http://schemas.microsoft.com/office/drawing/2014/main" id="{8643FEE3-0586-4077-9758-E41CC9E1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67075"/>
            <a:ext cx="3209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Uneko neurketak eta azken 5 minutuen batezbestekoa, desbideratzea eta joera.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Hutsuneak train zatiko medianekin bete.</a:t>
            </a:r>
          </a:p>
        </p:txBody>
      </p:sp>
      <p:sp>
        <p:nvSpPr>
          <p:cNvPr id="10" name="Etiketak izenburua">
            <a:extLst xmlns:a="http://schemas.openxmlformats.org/drawingml/2006/main">
              <a:ext uri="{FF2B5EF4-FFF2-40B4-BE49-F238E27FC236}">
                <a16:creationId xmlns:a16="http://schemas.microsoft.com/office/drawing/2014/main" id="{7E98FAFF-8F95-4C7E-8BBC-6F68F498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Etiketak</a:t>
            </a:r>
          </a:p>
        </p:txBody>
      </p:sp>
      <p:sp>
        <p:nvSpPr>
          <p:cNvPr id="11" name="Etiketak edukia">
            <a:extLst xmlns:a="http://schemas.openxmlformats.org/drawingml/2006/main">
              <a:ext uri="{FF2B5EF4-FFF2-40B4-BE49-F238E27FC236}">
                <a16:creationId xmlns:a16="http://schemas.microsoft.com/office/drawing/2014/main" id="{F687EE94-CD59-4697-A7EC-38C80123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67075"/>
            <a:ext cx="320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y=1, t eta t+24 h artean datatutako matxura badago.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Jarraipen osoa eta zatiketen arteko datu-ihesik eza zaindu.</a:t>
            </a:r>
          </a:p>
        </p:txBody>
      </p:sp>
      <p:sp>
        <p:nvSpPr>
          <p:cNvPr id="12" name="Prestaketaren hipotesiak">
            <a:extLst xmlns:a="http://schemas.openxmlformats.org/drawingml/2006/main">
              <a:ext uri="{FF2B5EF4-FFF2-40B4-BE49-F238E27FC236}">
                <a16:creationId xmlns:a16="http://schemas.microsoft.com/office/drawing/2014/main" id="{7ABC8989-EA02-4DFC-B697-83F8B63E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5 minutu eta 24 ordu hasierako hipotesiak dira. 90 eguneko atxikipena proposamena da.</a:t>
            </a:r>
          </a:p>
        </p:txBody>
      </p:sp>
    </p:spTree>
    <p:extLst>
      <p:ext uri="{BB962C8B-B14F-4D97-AF65-F5344CB8AC3E}">
        <p14:creationId xmlns:p14="http://schemas.microsoft.com/office/powerpoint/2010/main" val="1956594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iburua">
            <a:extLst xmlns:a="http://schemas.openxmlformats.org/drawingml/2006/main">
              <a:ext uri="{FF2B5EF4-FFF2-40B4-BE49-F238E27FC236}">
                <a16:creationId xmlns:a16="http://schemas.microsoft.com/office/drawing/2014/main" id="{77346092-A168-4BA4-92F2-750C9A71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74A6AF9A-6C0A-40FF-A2CB-E2A624F3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Ereduak eta abisu bereiziak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F0DEB30D-97BB-4E01-9DB7-FE7EE6A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AA ahula: zeregin espezifiko baterako ikaskuntza automatikoa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45718695-40DB-45F9-8007-94201349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4C94292B-7CB0-49B4-A197-85C95ED8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08 / 13</a:t>
            </a:r>
          </a:p>
        </p:txBody>
      </p:sp>
      <p:sp>
        <p:nvSpPr>
          <p:cNvPr id="6" name="RF izenburua">
            <a:extLst xmlns:a="http://schemas.openxmlformats.org/drawingml/2006/main">
              <a:ext uri="{FF2B5EF4-FFF2-40B4-BE49-F238E27FC236}">
                <a16:creationId xmlns:a16="http://schemas.microsoft.com/office/drawing/2014/main" id="{8D00F541-243E-41E6-A09C-0CE1A22F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5105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7" name="RF mota">
            <a:extLst xmlns:a="http://schemas.openxmlformats.org/drawingml/2006/main">
              <a:ext uri="{FF2B5EF4-FFF2-40B4-BE49-F238E27FC236}">
                <a16:creationId xmlns:a16="http://schemas.microsoft.com/office/drawing/2014/main" id="{8ED5160E-909F-4D64-A858-56FD2B96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Gainbegiratutako ML tabularra</a:t>
            </a:r>
          </a:p>
        </p:txBody>
      </p:sp>
      <p:sp>
        <p:nvSpPr>
          <p:cNvPr id="8" name="RF parametroak">
            <a:extLst xmlns:a="http://schemas.openxmlformats.org/drawingml/2006/main">
              <a:ext uri="{FF2B5EF4-FFF2-40B4-BE49-F238E27FC236}">
                <a16:creationId xmlns:a16="http://schemas.microsoft.com/office/drawing/2014/main" id="{C94F8595-2FC5-437A-BD27-4C16BB2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105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200 zuhaitz; max_depth=12; min_samples_leaf=5; class_weight=balanced; random_state=42.</a:t>
            </a:r>
          </a:p>
        </p:txBody>
      </p:sp>
      <p:sp>
        <p:nvSpPr>
          <p:cNvPr id="9" name="RF abisua">
            <a:extLst xmlns:a="http://schemas.openxmlformats.org/drawingml/2006/main">
              <a:ext uri="{FF2B5EF4-FFF2-40B4-BE49-F238E27FC236}">
                <a16:creationId xmlns:a16="http://schemas.microsoft.com/office/drawing/2014/main" id="{720CAE37-0BDD-4A80-9B25-D35CEAA5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105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Matxura-arriskuaren abisua</a:t>
            </a:r>
          </a:p>
        </p:txBody>
      </p:sp>
      <p:sp>
        <p:nvSpPr>
          <p:cNvPr id="10" name="IF izenburua">
            <a:extLst xmlns:a="http://schemas.openxmlformats.org/drawingml/2006/main">
              <a:ext uri="{FF2B5EF4-FFF2-40B4-BE49-F238E27FC236}">
                <a16:creationId xmlns:a16="http://schemas.microsoft.com/office/drawing/2014/main" id="{9184BBF4-4E4D-416C-9472-4F532A87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5105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Isolation Forest</a:t>
            </a:r>
          </a:p>
        </p:txBody>
      </p:sp>
      <p:sp>
        <p:nvSpPr>
          <p:cNvPr id="11" name="IF mota">
            <a:extLst xmlns:a="http://schemas.openxmlformats.org/drawingml/2006/main">
              <a:ext uri="{FF2B5EF4-FFF2-40B4-BE49-F238E27FC236}">
                <a16:creationId xmlns:a16="http://schemas.microsoft.com/office/drawing/2014/main" id="{2B2CAF1F-2E5A-42CA-9263-78A97888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14675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65E00"/>
                </a:solidFill>
                <a:latin typeface="Arial"/>
                <a:ea typeface="Arial"/>
                <a:cs typeface="Arial"/>
              </a:rPr>
              <a:t>Gainbegiratu gabeko ML</a:t>
            </a:r>
          </a:p>
        </p:txBody>
      </p:sp>
      <p:sp>
        <p:nvSpPr>
          <p:cNvPr id="12" name="IF parametroak">
            <a:extLst xmlns:a="http://schemas.openxmlformats.org/drawingml/2006/main">
              <a:ext uri="{FF2B5EF4-FFF2-40B4-BE49-F238E27FC236}">
                <a16:creationId xmlns:a16="http://schemas.microsoft.com/office/drawing/2014/main" id="{8847695A-EE3F-458F-8E30-11ECA9A7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51054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200 zuhaitz; max_samples=256; random_state=42. Anomalia-score-a eta atalasea baliozkotu.</a:t>
            </a:r>
          </a:p>
        </p:txBody>
      </p:sp>
      <p:sp>
        <p:nvSpPr>
          <p:cNvPr id="13" name="IF abisua">
            <a:extLst xmlns:a="http://schemas.openxmlformats.org/drawingml/2006/main">
              <a:ext uri="{FF2B5EF4-FFF2-40B4-BE49-F238E27FC236}">
                <a16:creationId xmlns:a16="http://schemas.microsoft.com/office/drawing/2014/main" id="{1769E31D-CFEC-421D-8FD0-1F48502D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95850"/>
            <a:ext cx="5105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65E00"/>
                </a:solidFill>
                <a:latin typeface="Arial"/>
                <a:ea typeface="Arial"/>
                <a:cs typeface="Arial"/>
              </a:rPr>
              <a:t>Egoera edo datua berrikusteko abisua</a:t>
            </a:r>
          </a:p>
        </p:txBody>
      </p:sp>
      <p:sp>
        <p:nvSpPr>
          <p:cNvPr id="14" name="Abisuen erabakia">
            <a:extLst xmlns:a="http://schemas.openxmlformats.org/drawingml/2006/main">
              <a:ext uri="{FF2B5EF4-FFF2-40B4-BE49-F238E27FC236}">
                <a16:creationId xmlns:a16="http://schemas.microsoft.com/office/drawing/2014/main" id="{89331AFB-147C-4960-9445-AAEB7B3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AND araurik gabe. Teknikariak berrikusi eta abisu iraunkorrak multzokatu. CNCa ez da automatikoki geldituko.</a:t>
            </a:r>
          </a:p>
        </p:txBody>
      </p:sp>
    </p:spTree>
    <p:extLst>
      <p:ext uri="{BB962C8B-B14F-4D97-AF65-F5344CB8AC3E}">
        <p14:creationId xmlns:p14="http://schemas.microsoft.com/office/powerpoint/2010/main" val="1390747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iburua">
            <a:extLst xmlns:a="http://schemas.openxmlformats.org/drawingml/2006/main">
              <a:ext uri="{FF2B5EF4-FFF2-40B4-BE49-F238E27FC236}">
                <a16:creationId xmlns:a16="http://schemas.microsoft.com/office/drawing/2014/main" id="{13EB2378-4B95-4CF4-A8A7-DBE2A738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F6EB1580-01B9-42EA-A4FB-8C14D882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Egin beharreko baliozkotzea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0C43AE55-1AEF-414B-8B68-B10B212F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Zatiketa kronologikoa eta test zatiko ebaluazio bakarra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CF51D6D8-D502-4A7A-BB6E-05B0BEC6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F25B7347-A453-4C43-882E-30DE20EB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09 / 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6BBBA-1436-4574-8C33-1827E860C70A}"/>
              </a:ext>
            </a:extLst>
          </p:cNvPr>
          <p:cNvGraphicFramePr/>
          <p:nvPr/>
        </p:nvGraphicFramePr>
        <p:xfrm>
          <a:off xmlns:a="http://schemas.openxmlformats.org/drawingml/2006/main" x="685800" y="2466975"/>
          <a:ext xmlns:a="http://schemas.openxmlformats.org/drawingml/2006/main" cx="10820400" cy="1066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0"/>
                <a:gridCol w="1623060"/>
                <a:gridCol w="1623060"/>
              </a:tblGrid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%70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Entrenamendua</a:t>
                      </a:r>
                    </a:p>
                  </a:txBody>
                  <a:tcPr marL="47625" marR="47625" marT="76200" marB="762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6B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%15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Baliozkotzea</a:t>
                      </a:r>
                    </a:p>
                  </a:txBody>
                  <a:tcPr marL="47625" marR="47625" marT="76200" marB="7620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A65E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%15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47625" marR="47625" marT="76200" marB="76200" anchor="ctr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2C3A"/>
                    </a:solidFill>
                  </a:tcPr>
                </a:tc>
              </a:tr>
            </a:tbl>
          </a:graphicData>
        </a:graphic>
      </p:graphicFrame>
      <p:sp>
        <p:nvSpPr>
          <p:cNvPr id="7" name="Datu-ihesik eza izenburua">
            <a:extLst xmlns:a="http://schemas.openxmlformats.org/drawingml/2006/main">
              <a:ext uri="{FF2B5EF4-FFF2-40B4-BE49-F238E27FC236}">
                <a16:creationId xmlns:a16="http://schemas.microsoft.com/office/drawing/2014/main" id="{A40E54A4-0129-40B2-86CD-B871FDE4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209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Datu-ihesik eza</a:t>
            </a:r>
          </a:p>
        </p:txBody>
      </p:sp>
      <p:sp>
        <p:nvSpPr>
          <p:cNvPr id="8" name="Datu-ihesik eza edukia">
            <a:extLst xmlns:a="http://schemas.openxmlformats.org/drawingml/2006/main">
              <a:ext uri="{FF2B5EF4-FFF2-40B4-BE49-F238E27FC236}">
                <a16:creationId xmlns:a16="http://schemas.microsoft.com/office/drawing/2014/main" id="{DCFD0DDF-DA7D-4C92-92EF-46806F70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2099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Leihoak eta aurreikuspen-epea zatiketen artean bereizi. Prestaketa train zatian ikasi.</a:t>
            </a:r>
          </a:p>
        </p:txBody>
      </p:sp>
      <p:sp>
        <p:nvSpPr>
          <p:cNvPr id="9" name="Atalasea izenburua">
            <a:extLst xmlns:a="http://schemas.openxmlformats.org/drawingml/2006/main">
              <a:ext uri="{FF2B5EF4-FFF2-40B4-BE49-F238E27FC236}">
                <a16:creationId xmlns:a16="http://schemas.microsoft.com/office/drawing/2014/main" id="{F1C43BF2-AEA9-4139-973C-201F7676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62400"/>
            <a:ext cx="3209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Atalasea</a:t>
            </a:r>
          </a:p>
        </p:txBody>
      </p:sp>
      <p:sp>
        <p:nvSpPr>
          <p:cNvPr id="10" name="Atalasea edukia">
            <a:extLst xmlns:a="http://schemas.openxmlformats.org/drawingml/2006/main">
              <a:ext uri="{FF2B5EF4-FFF2-40B4-BE49-F238E27FC236}">
                <a16:creationId xmlns:a16="http://schemas.microsoft.com/office/drawing/2014/main" id="{E93F0798-FBEC-4673-B293-A961316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67250"/>
            <a:ext cx="32099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F1 maximizatu validation zatian, hasierako irizpide akademiko gisa. Ez egokitu test datuekin.</a:t>
            </a:r>
          </a:p>
        </p:txBody>
      </p:sp>
      <p:sp>
        <p:nvSpPr>
          <p:cNvPr id="11" name="Metrikak izenburua">
            <a:extLst xmlns:a="http://schemas.openxmlformats.org/drawingml/2006/main">
              <a:ext uri="{FF2B5EF4-FFF2-40B4-BE49-F238E27FC236}">
                <a16:creationId xmlns:a16="http://schemas.microsoft.com/office/drawing/2014/main" id="{E941A842-FBC7-4515-ACA9-82D784DB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Metrikak</a:t>
            </a:r>
          </a:p>
        </p:txBody>
      </p:sp>
      <p:sp>
        <p:nvSpPr>
          <p:cNvPr id="12" name="Metrikak edukia">
            <a:extLst xmlns:a="http://schemas.openxmlformats.org/drawingml/2006/main">
              <a:ext uri="{FF2B5EF4-FFF2-40B4-BE49-F238E27FC236}">
                <a16:creationId xmlns:a16="http://schemas.microsoft.com/office/drawing/2014/main" id="{028A726B-C964-476E-BF91-84F9572D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67250"/>
            <a:ext cx="32004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F1, recall, precision eta nahasmen-matrizea. Alerta faltsuak makina/egun bakoitzeko.</a:t>
            </a:r>
          </a:p>
        </p:txBody>
      </p:sp>
    </p:spTree>
    <p:extLst>
      <p:ext uri="{BB962C8B-B14F-4D97-AF65-F5344CB8AC3E}">
        <p14:creationId xmlns:p14="http://schemas.microsoft.com/office/powerpoint/2010/main" val="790179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9C9A4C0D-D68B-424C-966E-6551759D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83138689-85E2-4B3B-9C0C-08B98BCF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FastAPI, Elasticsearch eta Kibana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16965621-4D5A-4487-BD64-22F74FF8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Inferentzia-zerbitzu bat eta panel operatibo bakarra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4D62B1CE-6F2D-49AF-AD23-B4422C8A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0CD28C40-D2E8-420A-A526-B36682E8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  <p:sp>
        <p:nvSpPr>
          <p:cNvPr id="6" name="FastAPI izenburua">
            <a:extLst xmlns:a="http://schemas.openxmlformats.org/drawingml/2006/main">
              <a:ext uri="{FF2B5EF4-FFF2-40B4-BE49-F238E27FC236}">
                <a16:creationId xmlns:a16="http://schemas.microsoft.com/office/drawing/2014/main" id="{EF697B36-5AD6-40C0-A603-931C2F35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209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FastAPI edukia">
            <a:extLst xmlns:a="http://schemas.openxmlformats.org/drawingml/2006/main">
              <a:ext uri="{FF2B5EF4-FFF2-40B4-BE49-F238E27FC236}">
                <a16:creationId xmlns:a16="http://schemas.microsoft.com/office/drawing/2014/main" id="{1707ED74-EC11-4BB3-B2B7-F68957A9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209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Eredua abioan behin kargatu.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/health eta /predict.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950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NiFik InvokeHTTP bidez deitu.</a:t>
            </a:r>
          </a:p>
        </p:txBody>
      </p:sp>
      <p:sp>
        <p:nvSpPr>
          <p:cNvPr id="8" name="Elasticsearch izenburua">
            <a:extLst xmlns:a="http://schemas.openxmlformats.org/drawingml/2006/main">
              <a:ext uri="{FF2B5EF4-FFF2-40B4-BE49-F238E27FC236}">
                <a16:creationId xmlns:a16="http://schemas.microsoft.com/office/drawing/2014/main" id="{193C620E-F86F-40CA-8AEF-2B8A51D2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19375"/>
            <a:ext cx="3209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Elasticsearch</a:t>
            </a:r>
          </a:p>
        </p:txBody>
      </p:sp>
      <p:sp>
        <p:nvSpPr>
          <p:cNvPr id="9" name="Elasticsearch edukia">
            <a:extLst xmlns:a="http://schemas.openxmlformats.org/drawingml/2006/main">
              <a:ext uri="{FF2B5EF4-FFF2-40B4-BE49-F238E27FC236}">
                <a16:creationId xmlns:a16="http://schemas.microsoft.com/office/drawing/2014/main" id="{622C4717-33D9-451E-A1CF-44DCAE04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24225"/>
            <a:ext cx="3209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Iragarpenak indexatu.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event_id dokumentu-ID gisa: saiakera errepikatuak idempotenteak.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30 egun: hasierako proposamena.</a:t>
            </a:r>
          </a:p>
        </p:txBody>
      </p:sp>
      <p:sp>
        <p:nvSpPr>
          <p:cNvPr id="10" name="Kibana izenburua">
            <a:extLst xmlns:a="http://schemas.openxmlformats.org/drawingml/2006/main">
              <a:ext uri="{FF2B5EF4-FFF2-40B4-BE49-F238E27FC236}">
                <a16:creationId xmlns:a16="http://schemas.microsoft.com/office/drawing/2014/main" id="{38E0BD98-7654-4C42-953B-FA65E4D7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19375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Kibana</a:t>
            </a:r>
          </a:p>
        </p:txBody>
      </p:sp>
      <p:sp>
        <p:nvSpPr>
          <p:cNvPr id="11" name="Kibana edukia">
            <a:extLst xmlns:a="http://schemas.openxmlformats.org/drawingml/2006/main">
              <a:ext uri="{FF2B5EF4-FFF2-40B4-BE49-F238E27FC236}">
                <a16:creationId xmlns:a16="http://schemas.microsoft.com/office/drawing/2014/main" id="{F4B263F7-2553-45D7-99B6-1420CD53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24225"/>
            <a:ext cx="32004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Arrisku-zerrenda eta anomaliak bereizita.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Bilakaera denboran, azken datuaren antzinatasuna eta bazterketak.</a:t>
            </a:r>
          </a:p>
        </p:txBody>
      </p:sp>
    </p:spTree>
    <p:extLst>
      <p:ext uri="{BB962C8B-B14F-4D97-AF65-F5344CB8AC3E}">
        <p14:creationId xmlns:p14="http://schemas.microsoft.com/office/powerpoint/2010/main" val="14162821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iburua">
            <a:extLst xmlns:a="http://schemas.openxmlformats.org/drawingml/2006/main">
              <a:ext uri="{FF2B5EF4-FFF2-40B4-BE49-F238E27FC236}">
                <a16:creationId xmlns:a16="http://schemas.microsoft.com/office/drawing/2014/main" id="{AB2746E3-070B-42A3-85B0-30D4D41E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4EF14178-C40C-4C2B-9C47-4A9AB1A6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Dimentsionamendua eta segurtasuna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CE28C622-C107-4F23-9A98-C3331F2C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Simulazioa: 50 makina, 1 Hz eta 200 byte/gertaera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DFA21F59-6F86-4CE6-BB17-FB5B0019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370EB47B-09EF-422D-9D5A-2E8E7770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  <p:sp>
        <p:nvSpPr>
          <p:cNvPr id="6" name="Gertaera/egun balioa">
            <a:extLst xmlns:a="http://schemas.openxmlformats.org/drawingml/2006/main">
              <a:ext uri="{FF2B5EF4-FFF2-40B4-BE49-F238E27FC236}">
                <a16:creationId xmlns:a16="http://schemas.microsoft.com/office/drawing/2014/main" id="{D363C803-B205-4B3C-9BE6-DE257039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2099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80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4,32 M</a:t>
            </a:r>
          </a:p>
        </p:txBody>
      </p:sp>
      <p:sp>
        <p:nvSpPr>
          <p:cNvPr id="7" name="Gertaera/egun">
            <a:extLst xmlns:a="http://schemas.openxmlformats.org/drawingml/2006/main">
              <a:ext uri="{FF2B5EF4-FFF2-40B4-BE49-F238E27FC236}">
                <a16:creationId xmlns:a16="http://schemas.microsoft.com/office/drawing/2014/main" id="{4BF6642C-9BB6-4B1C-9F9A-1A66374E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2099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Gertaera/egun</a:t>
            </a:r>
          </a:p>
        </p:txBody>
      </p:sp>
      <p:sp>
        <p:nvSpPr>
          <p:cNvPr id="8" name="Bolumena/egun balioa">
            <a:extLst xmlns:a="http://schemas.openxmlformats.org/drawingml/2006/main">
              <a:ext uri="{FF2B5EF4-FFF2-40B4-BE49-F238E27FC236}">
                <a16:creationId xmlns:a16="http://schemas.microsoft.com/office/drawing/2014/main" id="{29523740-09D9-4753-9711-9D25222C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32099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80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864 MB</a:t>
            </a:r>
          </a:p>
        </p:txBody>
      </p:sp>
      <p:sp>
        <p:nvSpPr>
          <p:cNvPr id="9" name="Bolumena/egun">
            <a:extLst xmlns:a="http://schemas.openxmlformats.org/drawingml/2006/main">
              <a:ext uri="{FF2B5EF4-FFF2-40B4-BE49-F238E27FC236}">
                <a16:creationId xmlns:a16="http://schemas.microsoft.com/office/drawing/2014/main" id="{555407C8-FDBB-4C62-B616-4636564C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81400"/>
            <a:ext cx="32099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Bolumena/egun</a:t>
            </a:r>
          </a:p>
        </p:txBody>
      </p:sp>
      <p:sp>
        <p:nvSpPr>
          <p:cNvPr id="10" name="90 egun, konpresiorik gabe balioa">
            <a:extLst xmlns:a="http://schemas.openxmlformats.org/drawingml/2006/main">
              <a:ext uri="{FF2B5EF4-FFF2-40B4-BE49-F238E27FC236}">
                <a16:creationId xmlns:a16="http://schemas.microsoft.com/office/drawing/2014/main" id="{9986335A-DF62-46CF-99D9-3ECD743E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32099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125" b="1">
                <a:solidFill>
                  <a:srgbClr val="A65E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A65E00"/>
                </a:solidFill>
                <a:latin typeface="Arial"/>
                <a:ea typeface="Arial"/>
                <a:cs typeface="Arial"/>
              </a:rPr>
              <a:t>77,76 GB</a:t>
            </a:r>
          </a:p>
        </p:txBody>
      </p:sp>
      <p:sp>
        <p:nvSpPr>
          <p:cNvPr id="11" name="90 egun, konpresiorik gabe">
            <a:extLst xmlns:a="http://schemas.openxmlformats.org/drawingml/2006/main">
              <a:ext uri="{FF2B5EF4-FFF2-40B4-BE49-F238E27FC236}">
                <a16:creationId xmlns:a16="http://schemas.microsoft.com/office/drawing/2014/main" id="{5591C336-A47D-4124-B119-960BAB99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32099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90 egun, konpresiorik gabe</a:t>
            </a:r>
          </a:p>
        </p:txBody>
      </p:sp>
      <p:sp>
        <p:nvSpPr>
          <p:cNvPr id="12" name="Laborategiaren segurtasuna">
            <a:extLst xmlns:a="http://schemas.openxmlformats.org/drawingml/2006/main">
              <a:ext uri="{FF2B5EF4-FFF2-40B4-BE49-F238E27FC236}">
                <a16:creationId xmlns:a16="http://schemas.microsoft.com/office/drawing/2014/main" id="{39D23C36-5C0D-4B15-96D4-EBCC65A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Docker Compose lokala, OT konexiorik gabe. Sarbide mugatua, kalitate-kontrolak eta beharrezkoak ez diren operadore-identifikatzailerik ez.</a:t>
            </a:r>
          </a:p>
        </p:txBody>
      </p:sp>
      <p:sp>
        <p:nvSpPr>
          <p:cNvPr id="13" name="Dimentsionamenduaren muga">
            <a:extLst xmlns:a="http://schemas.openxmlformats.org/drawingml/2006/main">
              <a:ext uri="{FF2B5EF4-FFF2-40B4-BE49-F238E27FC236}">
                <a16:creationId xmlns:a16="http://schemas.microsoft.com/office/drawing/2014/main" id="{0B4356DD-CDCC-45B8-B9CD-20A6DE6A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Karga, latentzia, RAMa eta diskoa neurtu. Simulazioak ez du benetako aurrezkirik edo industria-errendimendurik frogatzen.</a:t>
            </a:r>
          </a:p>
        </p:txBody>
      </p:sp>
    </p:spTree>
    <p:extLst>
      <p:ext uri="{BB962C8B-B14F-4D97-AF65-F5344CB8AC3E}">
        <p14:creationId xmlns:p14="http://schemas.microsoft.com/office/powerpoint/2010/main" val="1579646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iburua">
            <a:extLst xmlns:a="http://schemas.openxmlformats.org/drawingml/2006/main">
              <a:ext uri="{FF2B5EF4-FFF2-40B4-BE49-F238E27FC236}">
                <a16:creationId xmlns:a16="http://schemas.microsoft.com/office/drawing/2014/main" id="{675320E0-6166-4FAE-8F27-14862685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AEBF8D1-6955-42B8-97C7-55C11E42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Abiapuntua eta eraikuntza-plana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A437986A-0D61-4276-9689-C01D2D5F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Dokumentatutako abiapuntua: kodea eta proba isolatuak. Fluxu osoa frogatu gabe.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4EC57582-D767-4E5B-818C-B53F7E7E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5E6BCBFB-AD22-4D3E-8D17-77C0C818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  <p:sp>
        <p:nvSpPr>
          <p:cNvPr id="6" name="Abiapuntuaren xehetasuna">
            <a:extLst xmlns:a="http://schemas.openxmlformats.org/drawingml/2006/main">
              <a:ext uri="{FF2B5EF4-FFF2-40B4-BE49-F238E27FC236}">
                <a16:creationId xmlns:a16="http://schemas.microsoft.com/office/drawing/2014/main" id="{25CF3A90-832F-49EA-8D8C-73FD2F5D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Mamdani + Isolation Forest prototipoa erreferentzia historikoa da. Random Forest izango da nukleo berria.</a:t>
            </a:r>
          </a:p>
        </p:txBody>
      </p:sp>
      <p:sp>
        <p:nvSpPr>
          <p:cNvPr id="7" name="1. Datuak eta eredua">
            <a:extLst xmlns:a="http://schemas.openxmlformats.org/drawingml/2006/main">
              <a:ext uri="{FF2B5EF4-FFF2-40B4-BE49-F238E27FC236}">
                <a16:creationId xmlns:a16="http://schemas.microsoft.com/office/drawing/2014/main" id="{B81C8141-85FF-4D58-A93E-386CD048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28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1. Datuak eta eredua</a:t>
            </a:r>
          </a:p>
        </p:txBody>
      </p:sp>
      <p:sp>
        <p:nvSpPr>
          <p:cNvPr id="8" name="1. Datuak eta eredua edukia">
            <a:extLst xmlns:a="http://schemas.openxmlformats.org/drawingml/2006/main">
              <a:ext uri="{FF2B5EF4-FFF2-40B4-BE49-F238E27FC236}">
                <a16:creationId xmlns:a16="http://schemas.microsoft.com/office/drawing/2014/main" id="{08E8B36E-31B8-4827-A6F1-B0C27DA4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710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Kontratuak, historikoa, etiketak, zatiketak eta ereduen ebaluazioa.</a:t>
            </a:r>
          </a:p>
        </p:txBody>
      </p:sp>
      <p:sp>
        <p:nvSpPr>
          <p:cNvPr id="9" name="2. Integrazioa">
            <a:extLst xmlns:a="http://schemas.openxmlformats.org/drawingml/2006/main">
              <a:ext uri="{FF2B5EF4-FFF2-40B4-BE49-F238E27FC236}">
                <a16:creationId xmlns:a16="http://schemas.microsoft.com/office/drawing/2014/main" id="{AA266F4E-F26B-41E6-81A0-35558B16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28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2. Integrazioa</a:t>
            </a:r>
          </a:p>
        </p:txBody>
      </p:sp>
      <p:sp>
        <p:nvSpPr>
          <p:cNvPr id="10" name="2. Integrazioa edukia">
            <a:extLst xmlns:a="http://schemas.openxmlformats.org/drawingml/2006/main">
              <a:ext uri="{FF2B5EF4-FFF2-40B4-BE49-F238E27FC236}">
                <a16:creationId xmlns:a16="http://schemas.microsoft.com/office/drawing/2014/main" id="{CE81E80B-31DA-4E2C-93A4-49E6E514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57700"/>
            <a:ext cx="710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Kafka, NiFi, FastAPI eta Elastic/Kibana. Bikoizketak eta berrabiaraztea probatu.</a:t>
            </a:r>
          </a:p>
        </p:txBody>
      </p:sp>
      <p:sp>
        <p:nvSpPr>
          <p:cNvPr id="11" name="3. Defentsa">
            <a:extLst xmlns:a="http://schemas.openxmlformats.org/drawingml/2006/main">
              <a:ext uri="{FF2B5EF4-FFF2-40B4-BE49-F238E27FC236}">
                <a16:creationId xmlns:a16="http://schemas.microsoft.com/office/drawing/2014/main" id="{39F3A0F9-8E14-4D56-98B8-87540938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328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3. Defentsa</a:t>
            </a:r>
          </a:p>
        </p:txBody>
      </p:sp>
      <p:sp>
        <p:nvSpPr>
          <p:cNvPr id="12" name="3. Defentsa edukia">
            <a:extLst xmlns:a="http://schemas.openxmlformats.org/drawingml/2006/main">
              <a:ext uri="{FF2B5EF4-FFF2-40B4-BE49-F238E27FC236}">
                <a16:creationId xmlns:a16="http://schemas.microsoft.com/office/drawing/2014/main" id="{AA6E970A-370B-4F69-96D9-6352B501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76850"/>
            <a:ext cx="710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Metrikak, kostua eta mugak. ANEXO4: proposamena. ANEXO1: rolak eta jarraipena.</a:t>
            </a:r>
          </a:p>
        </p:txBody>
      </p:sp>
    </p:spTree>
    <p:extLst>
      <p:ext uri="{BB962C8B-B14F-4D97-AF65-F5344CB8AC3E}">
        <p14:creationId xmlns:p14="http://schemas.microsoft.com/office/powerpoint/2010/main" val="14364927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2C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iburua">
            <a:extLst xmlns:a="http://schemas.openxmlformats.org/drawingml/2006/main">
              <a:ext uri="{FF2B5EF4-FFF2-40B4-BE49-F238E27FC236}">
                <a16:creationId xmlns:a16="http://schemas.microsoft.com/office/drawing/2014/main" id="{3F95458D-BE84-45C5-AF99-C1ED4441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0DF71DAE-EE22-4374-821F-5DE8444B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Defendatuko dugun proposamena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B8052F6D-F0EC-42A9-9C65-EFDE21F7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FD0D7"/>
                </a:solidFill>
                <a:latin typeface="Arial"/>
                <a:ea typeface="Arial"/>
                <a:cs typeface="Arial"/>
              </a:rPr>
              <a:t>Arkitektura bat, eredu nagusi bat eta panel bat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2F34D2EF-4C59-44B5-BCBA-4BA19728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B6CDD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EADCC522-D09B-4993-B20C-FCB6B196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6" name="Amaierako helburua">
            <a:extLst xmlns:a="http://schemas.openxmlformats.org/drawingml/2006/main">
              <a:ext uri="{FF2B5EF4-FFF2-40B4-BE49-F238E27FC236}">
                <a16:creationId xmlns:a16="http://schemas.microsoft.com/office/drawing/2014/main" id="{E0746C98-7288-4ED0-A50E-E5B9E32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Makina, une, kalitate eta bertsioarekin trazatu daitezkeen abisuak.</a:t>
            </a:r>
          </a:p>
        </p:txBody>
      </p:sp>
      <p:sp>
        <p:nvSpPr>
          <p:cNvPr id="7" name="Amaierako konpromisoa">
            <a:extLst xmlns:a="http://schemas.openxmlformats.org/drawingml/2006/main">
              <a:ext uri="{FF2B5EF4-FFF2-40B4-BE49-F238E27FC236}">
                <a16:creationId xmlns:a16="http://schemas.microsoft.com/office/drawing/2014/main" id="{9F370E3E-90E3-42C9-96B3-6AE3B2BB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325" b="1">
                <a:solidFill>
                  <a:srgbClr val="75D8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5D8C8"/>
                </a:solidFill>
                <a:latin typeface="Arial"/>
                <a:ea typeface="Arial"/>
                <a:cs typeface="Arial"/>
              </a:rPr>
              <a:t>Historiko erreproduzigarria eta baliozkotze zein integrazio frogak.</a:t>
            </a:r>
          </a:p>
        </p:txBody>
      </p:sp>
      <p:sp>
        <p:nvSpPr>
          <p:cNvPr id="8" name="Amaierako muga">
            <a:extLst xmlns:a="http://schemas.openxmlformats.org/drawingml/2006/main">
              <a:ext uri="{FF2B5EF4-FFF2-40B4-BE49-F238E27FC236}">
                <a16:creationId xmlns:a16="http://schemas.microsoft.com/office/drawing/2014/main" id="{6049286D-9D9B-4950-A9D9-FBA8198C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025" b="0">
                <a:solidFill>
                  <a:srgbClr val="BFD0D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FD0D7"/>
                </a:solidFill>
                <a:latin typeface="Arial"/>
                <a:ea typeface="Arial"/>
                <a:cs typeface="Arial"/>
              </a:rPr>
              <a:t>24 orduko aurreikuspena frogatzeko, datu longitudinalak eta baliozkotze berezia behar dira.</a:t>
            </a:r>
          </a:p>
        </p:txBody>
      </p:sp>
    </p:spTree>
    <p:extLst>
      <p:ext uri="{BB962C8B-B14F-4D97-AF65-F5344CB8AC3E}">
        <p14:creationId xmlns:p14="http://schemas.microsoft.com/office/powerpoint/2010/main" val="1053034090"/>
      </p:ext>
    </p:extLst>
  </p:cSld>
</p:sld>
</file>

<file path=ppt/slides/slide1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B632D719-FA54-4DBE-A12A-4E4269D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0683BFC5-3E4B-4F1B-AA53-E013AA5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Beste aukera batzuk, behar izanez gero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9F4D845F-9238-4724-A2AF-006712DF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Ez dira lehen bertsioan sartuko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6B8D1BFE-817A-4390-A833-10F860ED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D350718B-BD66-4D7D-80CB-1A8BD60F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ERANSKINA</a:t>
            </a:r>
          </a:p>
        </p:txBody>
      </p:sp>
      <p:sp>
        <p:nvSpPr>
          <p:cNvPr id="6" name="Eranskineko atal 0">
            <a:extLst xmlns:a="http://schemas.openxmlformats.org/drawingml/2006/main">
              <a:ext uri="{FF2B5EF4-FFF2-40B4-BE49-F238E27FC236}">
                <a16:creationId xmlns:a16="http://schemas.microsoft.com/office/drawing/2014/main" id="{F9DC1F8C-F560-4FB1-858A-B51139A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Datuak eta panela</a:t>
            </a:r>
          </a:p>
        </p:txBody>
      </p:sp>
      <p:sp>
        <p:nvSpPr>
          <p:cNvPr id="7" name="Eranskineko testu 0">
            <a:extLst xmlns:a="http://schemas.openxmlformats.org/drawingml/2006/main">
              <a:ext uri="{FF2B5EF4-FFF2-40B4-BE49-F238E27FC236}">
                <a16:creationId xmlns:a16="http://schemas.microsoft.com/office/drawing/2014/main" id="{B64FB749-A5E4-4447-83BE-1AD5D552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InfluxDB/TimescaleDB eta Grafana, denbora-serieen pisua nagusitzen bada; MongoDB, dokumentu heterogeneoak funtsezkoak badira. Horrek Kibana erabakia berrikustea eskatuko luke.</a:t>
            </a:r>
          </a:p>
        </p:txBody>
      </p:sp>
      <p:sp>
        <p:nvSpPr>
          <p:cNvPr id="8" name="Eranskineko atal 1">
            <a:extLst xmlns:a="http://schemas.openxmlformats.org/drawingml/2006/main">
              <a:ext uri="{FF2B5EF4-FFF2-40B4-BE49-F238E27FC236}">
                <a16:creationId xmlns:a16="http://schemas.microsoft.com/office/drawing/2014/main" id="{3C234928-1B7B-4E58-AEED-B513A8E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Eredua eta eskalagarritasuna</a:t>
            </a:r>
          </a:p>
        </p:txBody>
      </p:sp>
      <p:sp>
        <p:nvSpPr>
          <p:cNvPr id="9" name="Eranskineko testu 1">
            <a:extLst xmlns:a="http://schemas.openxmlformats.org/drawingml/2006/main">
              <a:ext uri="{FF2B5EF4-FFF2-40B4-BE49-F238E27FC236}">
                <a16:creationId xmlns:a16="http://schemas.microsoft.com/office/drawing/2014/main" id="{8B0AF67A-AC5D-4A16-B138-9DB66286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Boosting, Random Forest-ekiko hobekuntza erreproduzigarria badakar; Spark, makina bakarrak baliabide edo denbora eskakizunak betetzen ez baditu. Ez gehitu frogarik gabe.</a:t>
            </a:r>
          </a:p>
        </p:txBody>
      </p:sp>
      <p:sp>
        <p:nvSpPr>
          <p:cNvPr id="10" name="Eranskineko atal 2">
            <a:extLst xmlns:a="http://schemas.openxmlformats.org/drawingml/2006/main">
              <a:ext uri="{FF2B5EF4-FFF2-40B4-BE49-F238E27FC236}">
                <a16:creationId xmlns:a16="http://schemas.microsoft.com/office/drawing/2014/main" id="{5BAD2D7C-53D2-441C-BAD6-0566A8B8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Industria-konexioa</a:t>
            </a:r>
          </a:p>
        </p:txBody>
      </p:sp>
      <p:sp>
        <p:nvSpPr>
          <p:cNvPr id="11" name="Eranskineko testu 2">
            <a:extLst xmlns:a="http://schemas.openxmlformats.org/drawingml/2006/main">
              <a:ext uri="{FF2B5EF4-FFF2-40B4-BE49-F238E27FC236}">
                <a16:creationId xmlns:a16="http://schemas.microsoft.com/office/drawing/2014/main" id="{5BB05DF3-2DB9-41C8-9B21-4F8A6E1B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OPC UA/MQTT, makina edo gateway bateragarrietarako. Ikastaroaren tokiko edukitik kanpoko luzapenak dira eta baimendutako probak eskatzen dituzte. Laborategiak fitxategiekin jarraitzen du.</a:t>
            </a:r>
          </a:p>
        </p:txBody>
      </p:sp>
    </p:spTree>
    <p:extLst>
      <p:ext uri="{BB962C8B-B14F-4D97-AF65-F5344CB8AC3E}">
        <p14:creationId xmlns:p14="http://schemas.microsoft.com/office/powerpoint/2010/main" val="976571298"/>
      </p:ext>
    </p:extLst>
  </p:cSld>
</p:sld>
</file>

<file path=ppt/slides/slide1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iburua">
            <a:extLst xmlns:a="http://schemas.openxmlformats.org/drawingml/2006/main">
              <a:ext uri="{FF2B5EF4-FFF2-40B4-BE49-F238E27FC236}">
                <a16:creationId xmlns:a16="http://schemas.microsoft.com/office/drawing/2014/main" id="{1CC99E73-5098-453F-B6E5-B2C8A8C7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F5D0E01-C79D-43DB-9F5D-1F87D7AB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nahitaezko irizpideak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507387C7-0EEF-484E-8F37-3627CFA0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Irizpideen eta diapositiben lotura: 1/3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44F41342-F023-4597-8FAF-F462D2ED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Eranskin honetako irizpide guztiak nahitaezkoak dira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F573946D-5931-4E5C-8F0F-FF4CE556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ERANSKINA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8E8A0-244F-45E8-8C80-953339704978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5150"/>
                <a:gridCol w="7715250"/>
              </a:tblGrid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AA · IE1 a,c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AAren printzipioak eta teknikak. 8. diapositiba. Dagokion exekuzio-froga oraindik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AA · IE2 b,g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Ereduen sailkapena eta egokitasuna. 8. diapositiba. Dagokion exekuzio-froga oraindik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AA · IE6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Arriskuak eta pribatutasuna. 11. diapositiba. Dagokion exekuzio-froga oraindik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IE1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AA ahula/indartsua eta AA–ML lotura. 8. diapositiba. Exekuzio-froga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IE2 b,c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ML motak, erabilerak, teknikak eta tresnak. 8. diapositiba. Exekuzio-froga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IE3 c,f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Entrenamendua eta datu berriei buruzko iragarpenak. 8. diapositiba. Exekuzio-froga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339658"/>
      </p:ext>
    </p:extLst>
  </p:cSld>
</p:sld>
</file>

<file path=ppt/slides/slide16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iburua">
            <a:extLst xmlns:a="http://schemas.openxmlformats.org/drawingml/2006/main">
              <a:ext uri="{FF2B5EF4-FFF2-40B4-BE49-F238E27FC236}">
                <a16:creationId xmlns:a16="http://schemas.microsoft.com/office/drawing/2014/main" id="{AE02512B-221E-45BC-AED3-DA797605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094940E9-AEF1-461F-89D4-0F529D9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nahitaezko irizpideak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0C7EBAE8-2268-458E-80A9-791C9F4E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Irizpideen eta diapositiben lotura: 2/3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84FBA273-A3C1-42E7-BDB2-DFA92580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Eranskin honetako irizpide guztiak nahitaezkoak dira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9FD1CACB-EAAD-4006-9F6B-2BCC21C5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ERANSKINA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576FB-5E43-40D4-B5A7-FD4C8B8241B8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5150"/>
                <a:gridCol w="7715250"/>
              </a:tblGrid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IE4 b,c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Gainbegiratu gabeko ikaskuntza ezaugarritzea eta aplikatzea. 8.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ML · IE6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Egokitasuna eta ebaluazio praktikoa. 9.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Programazioa · IE1 b,e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Programazio-lengoaia eta programaren egitura. 7.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Programazioa · IE2 c,d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Aplikazioa definitu eta inplementatzea. 10.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IE1 b,c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IE1/b → 7. diapositiba; IE1/c → 5. diapositiba. Exekuzioa oraindik frogatu gabe.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IE2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Grafikoak sailkatzea eta helburuekin lotzea. 10.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03433"/>
      </p:ext>
    </p:extLst>
  </p:cSld>
</p:sld>
</file>

<file path=ppt/slides/slide17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iburua">
            <a:extLst xmlns:a="http://schemas.openxmlformats.org/drawingml/2006/main">
              <a:ext uri="{FF2B5EF4-FFF2-40B4-BE49-F238E27FC236}">
                <a16:creationId xmlns:a16="http://schemas.microsoft.com/office/drawing/2014/main" id="{9D5707ED-C3E2-49D3-B554-24084492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9EDE8626-40DC-4CF8-8ABF-3BDE49AE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nahitaezko irizpideak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3E9AD29A-53F1-4871-BAA2-380CA158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Irizpideen eta diapositiben lotura: 3/3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17C281A9-6482-40C8-87DD-5DE30B91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Eranskin honetako irizpide guztiak nahitaezkoak dira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71854905-9BEA-429D-BCC7-9061548F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ERANSKINA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21950-6961-416C-BC77-C890A8D95F86}"/>
              </a:ext>
            </a:extLst>
          </p:cNvPr>
          <p:cNvGraphicFramePr/>
          <p:nvPr/>
        </p:nvGraphicFramePr>
        <p:xfrm>
          <a:off xmlns:a="http://schemas.openxmlformats.org/drawingml/2006/main" x="685800" y="2381250"/>
          <a:ext xmlns:a="http://schemas.openxmlformats.org/drawingml/2006/main" cx="108204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05150"/>
                <a:gridCol w="7715250"/>
              </a:tblGrid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IE3 a,d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Datuen erauzketa, biltegiratzea eta segurtasuna. 7.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T w="6668">
                      <a:solidFill>
                        <a:srgbClr val="D9E1E3"/>
                      </a:solidFill>
                      <a:prstDash val="solid"/>
                    </a:lnT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sistemak · IE4 e,f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Prozesamendu automatikoa eta bistaratzea. 10.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aplikatua · IE1 b,d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IE1/b → 6. diapositiba; IE1/d → 7. diapositiba. Integrazioa egiteko dago.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aplikatua · IE3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Kalitatea eta osotasun-arriskuak datuak banatzean. 11. diapositiba. Frogak falta dira.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6B65"/>
                          </a:solidFill>
                          <a:latin typeface="Arial"/>
                          <a:ea typeface="Arial"/>
                          <a:cs typeface="Arial"/>
                        </a:rPr>
                        <a:t>Big Data aplikatua · IE5 a,b</a:t>
                      </a:r>
                    </a:p>
                  </a:txBody>
                  <a:tcPr marL="114300" marR="114300" marT="19050" marB="19050" anchor="ctr">
                    <a:lnL w="6668">
                      <a:solidFill>
                        <a:srgbClr val="D9E1E3"/>
                      </a:solidFill>
                      <a:prstDash val="solid"/>
                    </a:lnL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63C48"/>
                          </a:solidFill>
                          <a:latin typeface="Arial"/>
                          <a:ea typeface="Arial"/>
                          <a:cs typeface="Arial"/>
                        </a:rPr>
                        <a:t>IE5/a → 5. diapositiba; IE5/b → 7. diapositiba. Baliozkotzea falta da.</a:t>
                      </a:r>
                    </a:p>
                  </a:txBody>
                  <a:tcPr marL="114300" marR="114300" marT="19050" marB="19050" anchor="ctr">
                    <a:lnR w="6668">
                      <a:solidFill>
                        <a:srgbClr val="D9E1E3"/>
                      </a:solidFill>
                      <a:prstDash val="solid"/>
                    </a:lnR>
                    <a:lnB w="6668">
                      <a:solidFill>
                        <a:srgbClr val="D9E1E3"/>
                      </a:solidFill>
                      <a:prstDash val="solid"/>
                    </a:lnB>
                    <a:solidFill>
                      <a:srgbClr val="F7F8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318720"/>
      </p:ext>
    </p:extLst>
  </p:cSld>
</p:sld>
</file>

<file path=ppt/slides/slide18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iburua">
            <a:extLst xmlns:a="http://schemas.openxmlformats.org/drawingml/2006/main">
              <a:ext uri="{FF2B5EF4-FFF2-40B4-BE49-F238E27FC236}">
                <a16:creationId xmlns:a16="http://schemas.microsoft.com/office/drawing/2014/main" id="{74F7F6A7-0520-4C92-880C-B5A45A4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CNC GUARD / PROPOSAMEN TEKNOLOGIKOA</a:t>
            </a:r>
          </a:p>
        </p:txBody>
      </p:sp>
      <p:sp>
        <p:nvSpPr>
          <p:cNvPr id="2" name="Izenburua">
            <a:extLst xmlns:a="http://schemas.openxmlformats.org/drawingml/2006/main">
              <a:ext uri="{FF2B5EF4-FFF2-40B4-BE49-F238E27FC236}">
                <a16:creationId xmlns:a16="http://schemas.microsoft.com/office/drawing/2014/main" id="{A63CFC74-0D52-4D6A-85FD-1DFFF856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75" b="1">
                <a:solidFill>
                  <a:srgbClr val="142C3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C3A"/>
                </a:solidFill>
                <a:latin typeface="Arial"/>
                <a:ea typeface="Arial"/>
                <a:cs typeface="Arial"/>
              </a:rPr>
              <a:t>Eranskina: iturriak eta mugak</a:t>
            </a:r>
          </a:p>
        </p:txBody>
      </p:sp>
      <p:sp>
        <p:nvSpPr>
          <p:cNvPr id="3" name="Azpititulua">
            <a:extLst xmlns:a="http://schemas.openxmlformats.org/drawingml/2006/main">
              <a:ext uri="{FF2B5EF4-FFF2-40B4-BE49-F238E27FC236}">
                <a16:creationId xmlns:a16="http://schemas.microsoft.com/office/drawing/2014/main" id="{CF704C64-C8E5-4B0E-BA85-1A1C0602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53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B76"/>
                </a:solidFill>
                <a:latin typeface="Arial"/>
                <a:ea typeface="Arial"/>
                <a:cs typeface="Arial"/>
              </a:rPr>
              <a:t>Proposamenaren trazabilitatea</a:t>
            </a:r>
          </a:p>
        </p:txBody>
      </p:sp>
      <p:sp>
        <p:nvSpPr>
          <p:cNvPr id="4" name="Irizpideen erreferentzia">
            <a:extLst xmlns:a="http://schemas.openxmlformats.org/drawingml/2006/main">
              <a:ext uri="{FF2B5EF4-FFF2-40B4-BE49-F238E27FC236}">
                <a16:creationId xmlns:a16="http://schemas.microsoft.com/office/drawing/2014/main" id="{DC971D0F-F4F2-4A88-B9F9-5D82F7D1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753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013" b="0">
                <a:solidFill>
                  <a:srgbClr val="5D727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D727C"/>
                </a:solidFill>
                <a:latin typeface="Arial"/>
                <a:ea typeface="Arial"/>
                <a:cs typeface="Arial"/>
              </a:rPr>
              <a:t>DISEINUA ETA IRISMENA</a:t>
            </a:r>
          </a:p>
        </p:txBody>
      </p:sp>
      <p:sp>
        <p:nvSpPr>
          <p:cNvPr id="5" name="Diapositiba zenbakia">
            <a:extLst xmlns:a="http://schemas.openxmlformats.org/drawingml/2006/main">
              <a:ext uri="{FF2B5EF4-FFF2-40B4-BE49-F238E27FC236}">
                <a16:creationId xmlns:a16="http://schemas.microsoft.com/office/drawing/2014/main" id="{3FE19430-B378-4732-A78D-33BEE13A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19850"/>
            <a:ext cx="819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6000"/>
              </a:lnSpc>
              <a:buNone/>
              <a:defRPr sz="1050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ERANSKINA</a:t>
            </a:r>
          </a:p>
        </p:txBody>
      </p:sp>
      <p:sp>
        <p:nvSpPr>
          <p:cNvPr id="6" name="Eranskineko atal 0">
            <a:extLst xmlns:a="http://schemas.openxmlformats.org/drawingml/2006/main">
              <a:ext uri="{FF2B5EF4-FFF2-40B4-BE49-F238E27FC236}">
                <a16:creationId xmlns:a16="http://schemas.microsoft.com/office/drawing/2014/main" id="{A49DDBBE-56AB-4BBB-8FDC-69EE527A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Enuntziatua</a:t>
            </a:r>
          </a:p>
        </p:txBody>
      </p:sp>
      <p:sp>
        <p:nvSpPr>
          <p:cNvPr id="7" name="Eranskineko testu 0">
            <a:extLst xmlns:a="http://schemas.openxmlformats.org/drawingml/2006/main">
              <a:ext uri="{FF2B5EF4-FFF2-40B4-BE49-F238E27FC236}">
                <a16:creationId xmlns:a16="http://schemas.microsoft.com/office/drawing/2014/main" id="{FBDC2713-BB12-4004-B463-DBB3839F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1Erronka_ikaslearen_txostena.docx.pdf: 2.–7. orrialdeak, testuingurua eta irizpideak; 8.–13. orrialdeak, taldea, ebaluazioa eta plangintza.</a:t>
            </a:r>
          </a:p>
        </p:txBody>
      </p:sp>
      <p:sp>
        <p:nvSpPr>
          <p:cNvPr id="8" name="Eranskineko atal 1">
            <a:extLst xmlns:a="http://schemas.openxmlformats.org/drawingml/2006/main">
              <a:ext uri="{FF2B5EF4-FFF2-40B4-BE49-F238E27FC236}">
                <a16:creationId xmlns:a16="http://schemas.microsoft.com/office/drawing/2014/main" id="{703EF68C-9489-421A-962D-80A2CC6E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Ikastaroko materialak</a:t>
            </a:r>
          </a:p>
        </p:txBody>
      </p:sp>
      <p:sp>
        <p:nvSpPr>
          <p:cNvPr id="9" name="Eranskineko testu 1">
            <a:extLst xmlns:a="http://schemas.openxmlformats.org/drawingml/2006/main">
              <a:ext uri="{FF2B5EF4-FFF2-40B4-BE49-F238E27FC236}">
                <a16:creationId xmlns:a16="http://schemas.microsoft.com/office/drawing/2014/main" id="{C0858B30-4A2F-4AC4-BFF5-5F5DB32F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719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AA: kontzeptuak/logika lausoa/etika. ML: sarrera, ereduak eta baliozkotzea. Programazioa: datuak, APIa eta Streamlit. Big Data: ingeniaritza/Elastic. NiFi eta Kafka: praktikak.</a:t>
            </a:r>
          </a:p>
        </p:txBody>
      </p:sp>
      <p:sp>
        <p:nvSpPr>
          <p:cNvPr id="10" name="Eranskineko atal 2">
            <a:extLst xmlns:a="http://schemas.openxmlformats.org/drawingml/2006/main">
              <a:ext uri="{FF2B5EF4-FFF2-40B4-BE49-F238E27FC236}">
                <a16:creationId xmlns:a16="http://schemas.microsoft.com/office/drawing/2014/main" id="{3E47BCB6-3828-425D-9172-B63F2931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1">
                <a:solidFill>
                  <a:srgbClr val="006B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B65"/>
                </a:solidFill>
                <a:latin typeface="Arial"/>
                <a:ea typeface="Arial"/>
                <a:cs typeface="Arial"/>
              </a:rPr>
              <a:t>Iturrien bereizketa</a:t>
            </a:r>
          </a:p>
        </p:txBody>
      </p:sp>
      <p:sp>
        <p:nvSpPr>
          <p:cNvPr id="11" name="Eranskineko testu 2">
            <a:extLst xmlns:a="http://schemas.openxmlformats.org/drawingml/2006/main">
              <a:ext uri="{FF2B5EF4-FFF2-40B4-BE49-F238E27FC236}">
                <a16:creationId xmlns:a16="http://schemas.microsoft.com/office/drawing/2014/main" id="{47433E2A-109B-4E1B-8C90-758BA9E0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79438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75" b="0">
                <a:solidFill>
                  <a:srgbClr val="263C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48"/>
                </a:solidFill>
                <a:latin typeface="Arial"/>
                <a:ea typeface="Arial"/>
                <a:cs typeface="Arial"/>
              </a:rPr>
              <a:t>Diapositibetako oharrek tokiko fitxategiak eta kanpoko iturri nagusiak aipatzen dituzte. Prototipoaren READMEak egungo egoera azaltzen du; ez da irakasmaterialaren autoritate nagusia.</a:t>
            </a:r>
          </a:p>
        </p:txBody>
      </p:sp>
    </p:spTree>
    <p:extLst>
      <p:ext uri="{BB962C8B-B14F-4D97-AF65-F5344CB8AC3E}">
        <p14:creationId xmlns:p14="http://schemas.microsoft.com/office/powerpoint/2010/main" val="1996631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2026-10-13T18:42:00.1000000Z</dcterms:created>
  <dcterms:modified xsi:type="dcterms:W3CDTF">2026-10-13T18:42:00.1000000Z</dcterms:modified>
</coreProperties>
</file>